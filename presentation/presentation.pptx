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In this project we took two benchmarks from the pyperformance suite, pyflate and nbody, and asked the same questions about each one: where does the time actually go, why does it go there, how much can we win back in software, and what would dedicated hardware for the hot loop look like. Both parts of the talk follow the same six steps: what the benchmark does, profiling with perf, the bottlenecks we found, the optimization, the measured results, and finally a hardware accelerator proposal. We start with pyflate, where software alone gives a huge win, and then nbody, where the software story is much harder, which is exactly why the hardware proposal matters more there.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A: pyflate. The name suggests gzip, but as we'll see, the file it actually decompresses is bzip2, so everything in this part is about the bzip2 decode path. The one thing to keep in mind for the next few slides is that the whole decompressor is written in plain Python, down to reading one bit at a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pyflate is a pure-Python decompressor. The benchmark decompresses a real bzip2 file, a tarball of the CPython source, and checks the result against a known MD5, so we know any optimization still produces byte-identical output. The important point is that there's no compression library involved at all. Every stage you see at the bottom is Python code: a bit reader that pulls one byte at a time from the file, Huffman decoding, move-to-front, the inverse Burrows-Wheeler transform and a final run-length decode. I've marked in red the stages that run once per symbol or per output byte. Those run millions of times, so they're our suspects before we even open the profiler. One run takes about 3.17 seconds. Let's see what perf says.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we measured the whole benchmark with perf stat, which just counts hardware events. The full pyperf run, with all its repetitions, executes about 1.4 trillion instructions. The IPC of 2.17 tells us the core is busy and not waiting on memory most of the time: the problem is that there's simply a huge amount of work. The cache-miss rate of 7 percent is the highest of our two benchmarks, and that's a hint we'll come back to, because it points to lots of small objects being allocated all over memory. At the bottom are the exact commands. One practical detail: for the sampling profile we used the cpu-clock software event instead of cycles. In our VM the virtual PMU never delivers the sampling interrupt, so a cycles-based perf record silently collects zero samples. perf stat reads the counters directly, so it works fine.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flame graph, cropped to the bottom levels where the wide frames are. How to read it: the x-axis is the share of CPU samples, not time order, and the stack grows upward from the root at the bottom. The biggest single frame is the interpreter's main loop, _PyEval_EvalFrameDefault, at about 23 percent. That's the cost of running Python bytecode at all. What's more interesting is the rest: the right-hand panel lists the widest leaf frames, and most of them are memory functions: the debug allocator's address checks, memset, list_dealloc and list_ass_slice. There are also call_function and dictionary lookups, which are the cost of calling small Python functions and reading object attributes. The graph looks like a wide forest of thin towers, which means many small, separate costs rather than one obvious hot function.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rank the hotspots properly, we used perf report with no-children, which gives self time: the time spent in a function's own code, not in what it calls. I've grouped the top entries into three categories. Navy is the interpreter itself. Red is memory management: allocating, clearing, copying and freeing objects. Added up, the memory entries are more than 15 percent of the whole run. Amber is algorithmic overhead: call_function and lookdict are the price of calling a tiny Python function and looking up attributes like x.bits and x.code, over and over. Note that the allocator numbers are inflated a bit because we profile the debug build of Python, python3-dbg, which adds checks to every allocation. But the question is still: which lines of code produce all these allocations and calls? That's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three pieces of code behind those numbers, straight from the benchmark source. At the top is find_next_symbol, which decodes one Huffman symbol. It loops over the entire symbol table and, for each entry, compares the next bits of the stream to that entry's code. That's a linear search, and it runs for every single symbol in the file. Each iteration touches attributes like x.bits and x.reverse_symbol, which is the lookdict and call_function overhead we saw. Bottom left is the run-length decode: every output byte creates a new one-byte bytes object with a slice. Bottom right is move_to_front. That one line builds three new list slices and concatenates them into a fourth list, on every symbol, instead of moving one element in place.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 have two root causes. The first is algorithmic. Real bzip2 decoders use lookup tables, so one symbol costs a constant amount of work. This one does a linear search, so the cost per symbol grows with the size of the table. The second is memory churn. Python lists and bytes are heap objects, so every slice and every concatenation allocates, copies and later frees memory. Doing that once per symbol and once per output byte is what fills the profile with allocator functions. It also explains the 7 percent cache-miss rate: we keep touching freshly allocated, scattered memory instead of a small, hot working set. The key insight is the bar at the bottom. Neither problem is part of bzip2 itself. They exist only because the decoder is written in Python, object by object.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both bottlenecks come from implementing bzip2 in Python, the most effective fix is not to do that. Python's standard library already has a bz2 module, which is a thin wrapper around libbz2, the same C library everyone uses. It performs exactly the same decompression, but with table-driven Huffman decoding and in-place buffers, so it removes both bottlenecks at once. We considered fixing the two problems separately, with a dictionary-based Huffman lookup and an in-place move-to-front, and that would be a nice exercise. But the library swap is what you would actually do in real code. To prove it's still correct, the optimized version runs exactly the same MD5 check, and it passes, so the output is byte-for-byte identical.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change side by side. On the left is the original benchmark loop: for each iteration it wraps the open file in a bit reader, reads the 16-bit magic number to decide between gzip and bzip2, and calls bzip2_main, which is the entry into the six hundred lines of Python decoder. On the right is the optimized version: read the compressed file into memory once, and each iteration makes a single call to bz2.decompress. The timing harness around it is identical, and after the loop both versions compute the same MD5 and raise an error if it doesn't match. One fair question is whether reading the file up front is cheating. It isn't really: the original also reads the whole file on every loop, just one byte at a time, so the I/O cost is tiny in both cases.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 one run went from 3.17 seconds to 13 milliseconds, about 244 times faster. The assignment target was 7 percent, so this is far past it. The counters explain why: the same job now needs 34 times fewer instructions and 20 times fewer cycles, and the cache-miss rate dropped from 7 percent to under 2, because we stopped creating millions of tiny objects. The line you might ask about is IPC, which went down, and branch misses, which went up. That sounds like a regression, but it isn't. Most of the new run is spent in libbz2's tight bit-manipulation code, whose branches depend on the data and are genuinely hard to predict. The old interpreter loop looked great to the branch predictor because it repeated the same pattern, but it was doing 34 times more work. So total instructions is the metric that matters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flame graphs confirm the change visually. On the left is the original: lots of narrow, differently coloured towers across the whole width, each one a small Python-level cost like list_dealloc or list_ass_slice. On the right is the optimized run: almost everything collapses into two wide, flat plateaus, BZ2_decompress and BZ2_bzDecompress, together about 59 percent. That's one compiled C function doing sustained work instead of thousands of short Python calls. The interpreter loop is still there, but it's down to 3 percent, which is just the thin wrapper around the call. One caution when comparing these: the sample counts are very different because the second run is so much shorter, so compare the shape and percentages, not the raw widths in samples.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hardware proposal we targeted the algorithmic bottleneck, the Huffman symbol search, because that's the part that maps naturally onto hardware. We call it the Huffman Fast-Decode Unit, written in SystemVerilog. On the left, software still parses each block header, but instead of building Python objects it builds lookup tables and sends them to the accelerator by DMA, together with the bitstream. Inside the unit, a 20-bit shift register holds the next bits of the stream. The top 8 bits index a 256-entry level-1 table, which directly returns the symbol and its code length in a single cycle for most symbols. Longer codes fall through to a small level-2 table. There are six banks because bzip2 switches between up to six Huffman tables every 50 symbols, so the selector just changes the bank index with no reload stall.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it buy us? In performance, symbol decoding goes from a linear scan to about one cycle per symbol, independent of the table size. In the profile, the call and lookup overhead of the scan alone was 6 to 7 percent, and the scan's own comparisons come on top of that. Area is modest: six small SRAM tables add up to a few kilobytes. Power is low because each symbol costs one table read and one compare, without any of a CPU's instruction fetch and decode overhead. The main design decision was keeping all six table banks loaded at once. It costs a bit more SRAM, but a design with one reloadable bank would stall on every table switch, which happens every 50 symbols. Honestly, once Huffman decoding is fast, the software stages become the new bottleneck. That is the natural next step, and the same approach is used in real hardware decompression engines like Intel QAT. That's pyflate. Now let's move to nbody.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B: nbody. Here the situation is the opposite of pyflate. The algorithm is already the right one and there's no library we can swap in, so the question becomes how much we can win inside Python itself, and what that tells us about where hardware helps.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nbody simulates the Sun and the four gas giants attracting each other. It uses nothing but Python lists and floats. Each benchmark loop computes the system's energy, advances the simulation 20,000 timesteps, and computes the energy again. With five bodies there are ten pairs, so one loop does 200,000 pairwise force updates. At the bottom is one timestep. For every pair, compute the distance vector, its squared length, a force factor using a power of minus 1.5, and then update both bodies' velocities. Then move every body by its velocity. The math per pair is about two dozen floating-point operations, which a CPU can do in nanoseconds. Yet one loop takes 483 milliseconds. So the question for this part is: where does all that time go if not into the math?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measurement method as for pyflate. The counters look almost perfect. IPC is 2.42, even higher than pyflate, and the cache-miss rate is under 3 percent, which makes sense: the whole simulation state is five bodies, a few hundred bytes, and it sits in the L1 cache. Branch prediction is also good. So this is not a memory problem and not a branch problem. The CPU is running at full speed. It just has far too many instructions to execute for such a small amount of math. That tells us the cost is in the instructions around the arithmetic, and to find them we need the sampling profile.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nbody's flame graph, again cropped to the base. Unlike pyflate it's very simple at the bottom: almost everything sits under the interpreter loop, and above what you see here the stacks go up about 129 levels of nested interpreter frames. The right-hand panel shows the widest frames. The interpreter loop dominates. After it comes binary_op1, which is CPython's generic dispatcher for arithmetic operators. Then come the float functions: creating a float object, multiplying, freeing, adding. List item assignment and the pow function are there too. One detail in case you compare with the next slide: the flame graph gives the interpreter loop about 42 percent, while perf report's self-time ranking gives 29 percent. The two views count that frame differently, but the order of the hotspots is the same.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self-time ranking we can group the costs. Navy is the interpreter: the main loop, plus binary_op1, the generic function every plus and times goes through to find out what types it's dealing with. Red is what we call float boxing. In CPython a float is not a register value, it's a heap object, so every arithmetic result allocates a new object and the old one gets freed. PyFloat_FromDouble, float_mul, float_add, float_sub and float_dealloc together are about 9.3 percent. Amber is list writes: every velocity update like v1[0] minus-equals goes through list item assignment, plus validate_list, which is a check that exists only in the debug build. That's 4.17 percent. Let's map these to the code.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of advance(), exactly as in the benchmark. The outer loop runs 20,000 times, and the inner loop over ten pairs is where all the time goes. Line 85 is the force factor. It uses the power operator with minus 1.5, which becomes a call into the C math library's pow function. That's the __ieee754_pow_fma frame. Lines 82 to 93 are about two dozen floating-point operations per pair. In C each one would be a single instruction on a register. In CPython, each result is a new heap-allocated float object, the operator is dispatched through binary_op1, and the old value is freed. Lines 88 to 93 also write back into lists, which is the list_ass_item cost. None of this is a bad algorithm. It's the direct, correct way to write the physics.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root cause here is different from pyflate. In pyflate we had a bad algorithm and object churn that came from reimplementing a library. In nbody the algorithm is already optimal, a fixed amount of work per pair per step. The problem is the execution model. Every float is boxed as a heap object, every operator goes through a generic dispatch that checks types first, and every line is several bytecodes interpreted one by one. Together that's about 46 percent of the self-time in the interpreter, boxing and list writes. The important consequence is that this cost is structural. We can't remove it by writing better Python. We can only try to pay it fewer times, and that's exactly what our optimization attempts tried to do.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tried four things, each aimed at a hotspot, and measured each one with a full pyperf run. First, numpy, the obvious answer for numeric Python. It was 75 percent slower, because with only five bodies the arrays are tiny, and numpy's per-call overhead is much larger than the arithmetic it saves. Second, replacing the power operator with sqrt, to remove the pow call. Slightly slower, because looking up and calling sqrt costs about as much as the pow it replaced. Third, iterating with integer indices instead of unpacking tuples. 20 percent slower, because it adds more subscript operations than it removes. The fourth one worked: manually unrolling the loop, 9.1 percent faster, above the 7 percent target. The lesson from the failures is that in CPython you win by executing fewer bytecodes, not by using a cleverer formula.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unrolling means concretely. On the left, the original: every timestep it loops over the pairs list, and every iteration destructures two nested tuples to get the positions, velocities and masses. That's highlighted at lines 79 and 80. The body loop at line 94 does the same again. On the right, the unrolled version. The five bodies are unpacked once before the loop even starts. Each timestep unpacks the five positions once, then the ten pairs are written out by hand, so there's no loop and no tuple unpacking per pair. You see pair zero-one here, and the other nine follow the same pattern. The five position updates at the end are also written out. We deliberately left the power operator alone, so we're measuring only the effect of removing loop and unpacking bytecodes.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 483 milliseconds down to 439, 9.1 percent faster, which passes the 7 percent target. The counters tell a consistent story. We execute 6.8 percent fewer instructions and 7.7 percent fewer cycles, and IPC is unchanged. So we didn't make anything run more efficiently. We just removed work, the loop and unpacking bytecodes. The cache-miss rate went up slightly, because the unrolled function is a lot more bytecode and code objects, but the reduction in instructions clearly outweighs it. Compare that with pyflate's 244 times. The difference is the whole point of this part. When the cost is the execution model itself, software can only shave the edges.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flame graphs make the same point visually. Before and after look almost the same: the interpreter loop at the base with binary_op1 and the float functions next to it. The interpreter loop's share went down from about 42 to 36 percent, because we removed loop and unpacking bytecodes. Float creation and binary_op1 actually take a slightly larger share now. That's not because they got slower. They're the part we couldn't remove, so they're a bigger fraction of a smaller total. Total samples dropped from about 45 thousand to 42 thousand, in line with the 9 percent. So unrolling changed how much work we do, not what kind of work. Every float operation is still boxed and dispatched, and that's what the hardware proposal attacks.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Gravity Force Pipeline is a SystemVerilog block that runs the entire advance call in hardware, all 20,000 timesteps. On the left, software loads the state once: positions, velocities and masses of five bodies, 35 doubles in total, plus dt and the iteration count. Then it pulses start. On the right, the state sits in a register file. Ten force lanes, one per pair, compute the distance, r squared, the reciprocal square root cubed and the velocity deltas, all in parallel. This is our unrolling idea taken to its end: instead of writing the ten pairs out in Python, they're ten pieces of wired hardware. A fixed adder tree accumulates the deltas per body, since each body is in exactly four pairs. The integrate stage updates positions, and the sequencer loops back without the CPU, which only reads the result when done asserts.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 this worth it when software only got 9 percent? Because hardware removes the cost itself rather than paying it fewer times. A subtraction is a subtractor, not a heap allocation plus a type dispatch. Each timestep's critical path is the force-lane pipeline, about 12 cycles, dominated by the reciprocal square root unit. I want to be clear that this is an architectural estimate. We wrote and syntax-checked the RTL but didn't synthesize or time it. The main trade-off is area. Ten parallel lanes means ten sets of floating-point units, and the number of pairs grows with the square of the number of bodies. That's fine for five bodies, but a bigger simulation would share fewer lanes over time. Power per cycle is higher, but the active time is far shorter. And to wrap up: pyflate's lesson was to fix the algorithm, and nbody's is that when the execution model is the bottleneck, that's where hardware pays off.</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Everything we showed is in the GitHub repository on the slide: the profiling data, both flame graphs for every variant, the original and optimized benchmark code, the full reports, and the SystemVerilog for both accelerators. The benchmarks come from pyperformance, and the flame graphs were made with Brendan Gregg's FlameGraph scripts. We're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ChrisShakkour/HW-SW-project-00460882" TargetMode="External"/><Relationship Id="rId3" Type="http://schemas.openxmlformats.org/officeDocument/2006/relationships/hyperlink" Target="https://github.com/python/pyperformance" TargetMode="External"/><Relationship Id="rId4" Type="http://schemas.openxmlformats.org/officeDocument/2006/relationships/hyperlink" Target="https://github.com/brendangregg/FlameGraph" TargetMode="External"/><Relationship Id="rId5"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92608"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292608" y="0"/>
            <a:ext cx="5486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LE"/>
          <p:cNvSpPr txBox="1"/>
          <p:nvPr/>
        </p:nvSpPr>
        <p:spPr>
          <a:xfrm>
            <a:off x="1097280" y="2103120"/>
            <a:ext cx="9875520" cy="1188720"/>
          </a:xfrm>
          <a:prstGeom prst="rect">
            <a:avLst/>
          </a:prstGeom>
          <a:noFill/>
        </p:spPr>
        <p:txBody>
          <a:bodyPr wrap="square" lIns="45720" rIns="45720" anchor="b"/>
          <a:lstStyle/>
          <a:p>
            <a:r>
              <a:rPr sz="3000" b="0" i="0">
                <a:solidFill>
                  <a:srgbClr val="1F3A5F"/>
                </a:solidFill>
                <a:latin typeface="Segoe UI Semibold"/>
                <a:ea typeface="Segoe UI Semibold"/>
                <a:cs typeface="Segoe UI Semibold"/>
              </a:rPr>
              <a:t>Profiling &amp; Accelerating Python Benchmarks</a:t>
            </a:r>
          </a:p>
        </p:txBody>
      </p:sp>
      <p:sp>
        <p:nvSpPr>
          <p:cNvPr id="5" name="Rectangle 4"/>
          <p:cNvSpPr/>
          <p:nvPr/>
        </p:nvSpPr>
        <p:spPr>
          <a:xfrm>
            <a:off x="1143000" y="340156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ODY"/>
          <p:cNvSpPr txBox="1"/>
          <p:nvPr/>
        </p:nvSpPr>
        <p:spPr>
          <a:xfrm>
            <a:off x="1097280" y="3611880"/>
            <a:ext cx="9601200" cy="822960"/>
          </a:xfrm>
          <a:prstGeom prst="rect">
            <a:avLst/>
          </a:prstGeom>
          <a:noFill/>
        </p:spPr>
        <p:txBody>
          <a:bodyPr wrap="square" lIns="45720" rIns="45720" anchor="t"/>
          <a:lstStyle/>
          <a:p>
            <a:pPr algn="l">
              <a:lnSpc>
                <a:spcPct val="105000"/>
              </a:lnSpc>
            </a:pPr>
            <a:r>
              <a:rPr sz="1800" b="0" i="0">
                <a:solidFill>
                  <a:srgbClr val="222222"/>
                </a:solidFill>
                <a:latin typeface="Segoe UI"/>
                <a:ea typeface="Segoe UI"/>
                <a:cs typeface="Segoe UI"/>
              </a:rPr>
              <a:t>pyflate and nbody: from perf profiles to software fixes to hardware accelerator proposals</a:t>
            </a:r>
          </a:p>
        </p:txBody>
      </p:sp>
      <p:sp>
        <p:nvSpPr>
          <p:cNvPr id="7" name="BODY"/>
          <p:cNvSpPr txBox="1"/>
          <p:nvPr/>
        </p:nvSpPr>
        <p:spPr>
          <a:xfrm>
            <a:off x="1097280" y="4846320"/>
            <a:ext cx="7315200" cy="822960"/>
          </a:xfrm>
          <a:prstGeom prst="rect">
            <a:avLst/>
          </a:prstGeom>
          <a:noFill/>
        </p:spPr>
        <p:txBody>
          <a:bodyPr wrap="square" lIns="45720" rIns="45720" anchor="t"/>
          <a:lstStyle/>
          <a:p>
            <a:pPr algn="l">
              <a:lnSpc>
                <a:spcPct val="105000"/>
              </a:lnSpc>
            </a:pPr>
            <a:r>
              <a:rPr sz="1800" b="0" i="0">
                <a:solidFill>
                  <a:srgbClr val="6B7280"/>
                </a:solidFill>
                <a:latin typeface="Segoe UI"/>
                <a:ea typeface="Segoe UI"/>
                <a:cs typeface="Segoe UI"/>
              </a:rPr>
              <a:t>Chris Shakkour · Razan Jiryis</a:t>
            </a:r>
          </a:p>
          <a:p>
            <a:pPr algn="l">
              <a:lnSpc>
                <a:spcPct val="105000"/>
              </a:lnSpc>
            </a:pPr>
            <a:r>
              <a:rPr sz="1800" b="0" i="0">
                <a:solidFill>
                  <a:srgbClr val="6B7280"/>
                </a:solidFill>
                <a:latin typeface="Segoe UI"/>
                <a:ea typeface="Segoe UI"/>
                <a:cs typeface="Segoe UI"/>
              </a:rPr>
              <a:t>Course 00460882 · 06.10.2026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A · pyflate</a:t>
            </a:r>
          </a:p>
        </p:txBody>
      </p:sp>
      <p:sp>
        <p:nvSpPr>
          <p:cNvPr id="3"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2</a:t>
            </a:r>
          </a:p>
        </p:txBody>
      </p:sp>
      <p:sp>
        <p:nvSpPr>
          <p:cNvPr id="4" name="Rectangle 3"/>
          <p:cNvSpPr/>
          <p:nvPr/>
        </p:nvSpPr>
        <p:spPr>
          <a:xfrm>
            <a:off x="0" y="2148840"/>
            <a:ext cx="12191695" cy="23774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2148840"/>
            <a:ext cx="292608" cy="23774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ODY"/>
          <p:cNvSpPr txBox="1"/>
          <p:nvPr/>
        </p:nvSpPr>
        <p:spPr>
          <a:xfrm>
            <a:off x="1097280" y="2423160"/>
            <a:ext cx="5486400" cy="411480"/>
          </a:xfrm>
          <a:prstGeom prst="rect">
            <a:avLst/>
          </a:prstGeom>
          <a:noFill/>
        </p:spPr>
        <p:txBody>
          <a:bodyPr wrap="square" lIns="45720" rIns="45720" anchor="t"/>
          <a:lstStyle/>
          <a:p>
            <a:pPr algn="l">
              <a:lnSpc>
                <a:spcPct val="105000"/>
              </a:lnSpc>
            </a:pPr>
            <a:r>
              <a:rPr sz="1800" b="1" i="0">
                <a:solidFill>
                  <a:srgbClr val="0F766E"/>
                </a:solidFill>
                <a:latin typeface="Segoe UI"/>
                <a:ea typeface="Segoe UI"/>
                <a:cs typeface="Segoe UI"/>
              </a:rPr>
              <a:t>PART A</a:t>
            </a:r>
          </a:p>
        </p:txBody>
      </p:sp>
      <p:sp>
        <p:nvSpPr>
          <p:cNvPr id="7" name="TITLE"/>
          <p:cNvSpPr txBox="1"/>
          <p:nvPr/>
        </p:nvSpPr>
        <p:spPr>
          <a:xfrm>
            <a:off x="1097280" y="2834640"/>
            <a:ext cx="10058400" cy="731520"/>
          </a:xfrm>
          <a:prstGeom prst="rect">
            <a:avLst/>
          </a:prstGeom>
          <a:noFill/>
        </p:spPr>
        <p:txBody>
          <a:bodyPr wrap="square" lIns="45720" rIns="45720"/>
          <a:lstStyle/>
          <a:p>
            <a:r>
              <a:rPr sz="3000" b="0" i="0">
                <a:solidFill>
                  <a:srgbClr val="1F3A5F"/>
                </a:solidFill>
                <a:latin typeface="Segoe UI Semibold"/>
                <a:ea typeface="Segoe UI Semibold"/>
                <a:cs typeface="Segoe UI Semibold"/>
              </a:rPr>
              <a:t>pyflate</a:t>
            </a:r>
          </a:p>
        </p:txBody>
      </p:sp>
      <p:sp>
        <p:nvSpPr>
          <p:cNvPr id="8" name="BODY"/>
          <p:cNvSpPr txBox="1"/>
          <p:nvPr/>
        </p:nvSpPr>
        <p:spPr>
          <a:xfrm>
            <a:off x="1097280" y="3611880"/>
            <a:ext cx="10058400" cy="731520"/>
          </a:xfrm>
          <a:prstGeom prst="rect">
            <a:avLst/>
          </a:prstGeom>
          <a:noFill/>
        </p:spPr>
        <p:txBody>
          <a:bodyPr wrap="square" lIns="45720" rIns="45720" anchor="t"/>
          <a:lstStyle/>
          <a:p>
            <a:pPr algn="l">
              <a:lnSpc>
                <a:spcPct val="105000"/>
              </a:lnSpc>
            </a:pPr>
            <a:r>
              <a:rPr sz="1800" b="0" i="0">
                <a:solidFill>
                  <a:srgbClr val="222222"/>
                </a:solidFill>
                <a:latin typeface="Segoe UI"/>
                <a:ea typeface="Segoe UI"/>
                <a:cs typeface="Segoe UI"/>
              </a:rPr>
              <a:t>A pure-Python bzip2 decompressor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What pyflate does</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A · pyflate</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3</a:t>
            </a:r>
          </a:p>
        </p:txBody>
      </p:sp>
      <p:sp>
        <p:nvSpPr>
          <p:cNvPr id="7" name="BODY"/>
          <p:cNvSpPr txBox="1"/>
          <p:nvPr/>
        </p:nvSpPr>
        <p:spPr>
          <a:xfrm>
            <a:off x="548640" y="1325880"/>
            <a:ext cx="7406640" cy="2743200"/>
          </a:xfrm>
          <a:prstGeom prst="rect">
            <a:avLst/>
          </a:prstGeom>
          <a:noFill/>
        </p:spPr>
        <p:txBody>
          <a:bodyPr wrap="square" lIns="45720" rIns="45720"/>
          <a:lstStyle/>
          <a:p>
            <a:pPr marL="256032" indent="-237744">
              <a:lnSpc>
                <a:spcPct val="108000"/>
              </a:lnSpc>
              <a:spcAft>
                <a:spcPts val="1000"/>
              </a:spcAft>
              <a:buClr>
                <a:srgbClr val="0F766E"/>
              </a:buClr>
              <a:buFont typeface="Arial"/>
              <a:buChar char="•"/>
            </a:pPr>
            <a:r>
              <a:rPr sz="1800" b="0" i="0">
                <a:solidFill>
                  <a:srgbClr val="222222"/>
                </a:solidFill>
                <a:latin typeface="Segoe UI"/>
                <a:ea typeface="Segoe UI"/>
                <a:cs typeface="Segoe UI"/>
              </a:rPr>
              <a:t>pyperformance benchmark: a stand-alone, pure-Python bzip2 / gzip decoder (Paul Sladen, 2006)</a:t>
            </a:r>
          </a:p>
          <a:p>
            <a:pPr marL="256032" indent="-237744">
              <a:lnSpc>
                <a:spcPct val="108000"/>
              </a:lnSpc>
              <a:spcAft>
                <a:spcPts val="1000"/>
              </a:spcAft>
              <a:buClr>
                <a:srgbClr val="0F766E"/>
              </a:buClr>
              <a:buFont typeface="Arial"/>
              <a:buChar char="•"/>
            </a:pPr>
            <a:r>
              <a:rPr sz="1800" b="0" i="0">
                <a:solidFill>
                  <a:srgbClr val="222222"/>
                </a:solidFill>
                <a:latin typeface="Segoe UI"/>
                <a:ea typeface="Segoe UI"/>
                <a:cs typeface="Segoe UI"/>
              </a:rPr>
              <a:t>Input: </a:t>
            </a:r>
            <a:r>
              <a:rPr sz="1800" b="1" i="0">
                <a:solidFill>
                  <a:srgbClr val="222222"/>
                </a:solidFill>
                <a:latin typeface="Segoe UI"/>
                <a:ea typeface="Segoe UI"/>
                <a:cs typeface="Segoe UI"/>
              </a:rPr>
              <a:t>interpreter.tar.bz2</a:t>
            </a:r>
            <a:r>
              <a:rPr sz="1800" b="0" i="0">
                <a:solidFill>
                  <a:srgbClr val="222222"/>
                </a:solidFill>
                <a:latin typeface="Segoe UI"/>
                <a:ea typeface="Segoe UI"/>
                <a:cs typeface="Segoe UI"/>
              </a:rPr>
              <a:t>, a snapshot of the CPython source tree</a:t>
            </a:r>
          </a:p>
          <a:p>
            <a:pPr marL="256032" indent="-237744">
              <a:lnSpc>
                <a:spcPct val="108000"/>
              </a:lnSpc>
              <a:spcAft>
                <a:spcPts val="1000"/>
              </a:spcAft>
              <a:buClr>
                <a:srgbClr val="0F766E"/>
              </a:buClr>
              <a:buFont typeface="Arial"/>
              <a:buChar char="•"/>
            </a:pPr>
            <a:r>
              <a:rPr sz="1800" b="0" i="0">
                <a:solidFill>
                  <a:srgbClr val="222222"/>
                </a:solidFill>
                <a:latin typeface="Segoe UI"/>
                <a:ea typeface="Segoe UI"/>
                <a:cs typeface="Segoe UI"/>
              </a:rPr>
              <a:t>Output is verified with an </a:t>
            </a:r>
            <a:r>
              <a:rPr sz="1800" b="1" i="0">
                <a:solidFill>
                  <a:srgbClr val="222222"/>
                </a:solidFill>
                <a:latin typeface="Segoe UI"/>
                <a:ea typeface="Segoe UI"/>
                <a:cs typeface="Segoe UI"/>
              </a:rPr>
              <a:t>MD5 checksum</a:t>
            </a:r>
            <a:r>
              <a:rPr sz="1800" b="0" i="0">
                <a:solidFill>
                  <a:srgbClr val="222222"/>
                </a:solidFill>
                <a:latin typeface="Segoe UI"/>
                <a:ea typeface="Segoe UI"/>
                <a:cs typeface="Segoe UI"/>
              </a:rPr>
              <a:t> on every run</a:t>
            </a:r>
          </a:p>
          <a:p>
            <a:pPr marL="256032" indent="-237744">
              <a:lnSpc>
                <a:spcPct val="108000"/>
              </a:lnSpc>
              <a:spcAft>
                <a:spcPts val="1000"/>
              </a:spcAft>
              <a:buClr>
                <a:srgbClr val="0F766E"/>
              </a:buClr>
              <a:buFont typeface="Arial"/>
              <a:buChar char="•"/>
            </a:pPr>
            <a:r>
              <a:rPr sz="1800" b="0" i="0">
                <a:solidFill>
                  <a:srgbClr val="222222"/>
                </a:solidFill>
                <a:latin typeface="Segoe UI"/>
                <a:ea typeface="Segoe UI"/>
                <a:cs typeface="Segoe UI"/>
              </a:rPr>
              <a:t>No compression library at all: every bit is decoded by Python code</a:t>
            </a:r>
          </a:p>
        </p:txBody>
      </p:sp>
      <p:sp>
        <p:nvSpPr>
          <p:cNvPr id="8" name="Rounded Rectangle 7"/>
          <p:cNvSpPr/>
          <p:nvPr/>
        </p:nvSpPr>
        <p:spPr>
          <a:xfrm>
            <a:off x="8458200" y="1371600"/>
            <a:ext cx="3182112" cy="2103120"/>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ODY"/>
          <p:cNvSpPr txBox="1"/>
          <p:nvPr/>
        </p:nvSpPr>
        <p:spPr>
          <a:xfrm>
            <a:off x="8641080" y="1508760"/>
            <a:ext cx="2834640" cy="365760"/>
          </a:xfrm>
          <a:prstGeom prst="rect">
            <a:avLst/>
          </a:prstGeom>
          <a:noFill/>
        </p:spPr>
        <p:txBody>
          <a:bodyPr wrap="square" lIns="45720" rIns="45720" anchor="t"/>
          <a:lstStyle/>
          <a:p>
            <a:pPr algn="ctr">
              <a:lnSpc>
                <a:spcPct val="105000"/>
              </a:lnSpc>
            </a:pPr>
            <a:r>
              <a:rPr sz="1800" b="0" i="0">
                <a:solidFill>
                  <a:srgbClr val="6B7280"/>
                </a:solidFill>
                <a:latin typeface="Segoe UI"/>
                <a:ea typeface="Segoe UI"/>
                <a:cs typeface="Segoe UI"/>
              </a:rPr>
              <a:t>Baseline</a:t>
            </a:r>
          </a:p>
        </p:txBody>
      </p:sp>
      <p:sp>
        <p:nvSpPr>
          <p:cNvPr id="10" name="STAT"/>
          <p:cNvSpPr txBox="1"/>
          <p:nvPr/>
        </p:nvSpPr>
        <p:spPr>
          <a:xfrm>
            <a:off x="8641080" y="1874519"/>
            <a:ext cx="2834640" cy="822960"/>
          </a:xfrm>
          <a:prstGeom prst="rect">
            <a:avLst/>
          </a:prstGeom>
          <a:noFill/>
        </p:spPr>
        <p:txBody>
          <a:bodyPr wrap="square" lIns="45720" rIns="45720"/>
          <a:lstStyle/>
          <a:p>
            <a:pPr algn="ctr"/>
            <a:r>
              <a:rPr sz="4000" b="0" i="0">
                <a:solidFill>
                  <a:srgbClr val="1F3A5F"/>
                </a:solidFill>
                <a:latin typeface="Segoe UI Semibold"/>
                <a:ea typeface="Segoe UI Semibold"/>
                <a:cs typeface="Segoe UI Semibold"/>
              </a:rPr>
              <a:t>3.17 s</a:t>
            </a:r>
          </a:p>
        </p:txBody>
      </p:sp>
      <p:sp>
        <p:nvSpPr>
          <p:cNvPr id="11" name="BODY"/>
          <p:cNvSpPr txBox="1"/>
          <p:nvPr/>
        </p:nvSpPr>
        <p:spPr>
          <a:xfrm>
            <a:off x="8641080" y="2743200"/>
            <a:ext cx="2834640" cy="411480"/>
          </a:xfrm>
          <a:prstGeom prst="rect">
            <a:avLst/>
          </a:prstGeom>
          <a:noFill/>
        </p:spPr>
        <p:txBody>
          <a:bodyPr wrap="square" lIns="45720" rIns="45720" anchor="t"/>
          <a:lstStyle/>
          <a:p>
            <a:pPr algn="ctr">
              <a:lnSpc>
                <a:spcPct val="105000"/>
              </a:lnSpc>
            </a:pPr>
            <a:r>
              <a:rPr sz="1800" b="0" i="0">
                <a:solidFill>
                  <a:srgbClr val="6B7280"/>
                </a:solidFill>
                <a:latin typeface="Segoe UI"/>
                <a:ea typeface="Segoe UI"/>
                <a:cs typeface="Segoe UI"/>
              </a:rPr>
              <a:t>± 0.02 s per run (pyperf)</a:t>
            </a:r>
          </a:p>
        </p:txBody>
      </p:sp>
      <p:sp>
        <p:nvSpPr>
          <p:cNvPr id="12" name="BODY"/>
          <p:cNvSpPr txBox="1"/>
          <p:nvPr/>
        </p:nvSpPr>
        <p:spPr>
          <a:xfrm>
            <a:off x="548640" y="4069080"/>
            <a:ext cx="9144000" cy="411480"/>
          </a:xfrm>
          <a:prstGeom prst="rect">
            <a:avLst/>
          </a:prstGeom>
          <a:noFill/>
        </p:spPr>
        <p:txBody>
          <a:bodyPr wrap="square" lIns="45720" rIns="45720" anchor="t"/>
          <a:lstStyle/>
          <a:p>
            <a:pPr algn="l">
              <a:lnSpc>
                <a:spcPct val="105000"/>
              </a:lnSpc>
            </a:pPr>
            <a:r>
              <a:rPr sz="1800" b="1" i="0">
                <a:solidFill>
                  <a:srgbClr val="222222"/>
                </a:solidFill>
                <a:latin typeface="Segoe UI"/>
                <a:ea typeface="Segoe UI"/>
                <a:cs typeface="Segoe UI"/>
              </a:rPr>
              <a:t>Decode pipeline, once per bzip2 block</a:t>
            </a:r>
            <a:r>
              <a:rPr sz="1800" b="0" i="0">
                <a:solidFill>
                  <a:srgbClr val="222222"/>
                </a:solidFill>
                <a:latin typeface="Segoe UI"/>
                <a:ea typeface="Segoe UI"/>
                <a:cs typeface="Segoe UI"/>
              </a:rPr>
              <a:t> (bzip2_main)</a:t>
            </a:r>
          </a:p>
        </p:txBody>
      </p:sp>
      <p:sp>
        <p:nvSpPr>
          <p:cNvPr id="13" name="Rounded Rectangle 12"/>
          <p:cNvSpPr/>
          <p:nvPr/>
        </p:nvSpPr>
        <p:spPr>
          <a:xfrm>
            <a:off x="548640" y="4572000"/>
            <a:ext cx="1627632" cy="1143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ODY"/>
          <p:cNvSpPr txBox="1"/>
          <p:nvPr/>
        </p:nvSpPr>
        <p:spPr>
          <a:xfrm>
            <a:off x="594360" y="4645152"/>
            <a:ext cx="1536192" cy="996696"/>
          </a:xfrm>
          <a:prstGeom prst="rect">
            <a:avLst/>
          </a:prstGeom>
          <a:noFill/>
        </p:spPr>
        <p:txBody>
          <a:bodyPr wrap="square" lIns="45720" rIns="45720" anchor="ctr"/>
          <a:lstStyle/>
          <a:p>
            <a:pPr algn="ctr">
              <a:lnSpc>
                <a:spcPct val="105000"/>
              </a:lnSpc>
            </a:pPr>
            <a:r>
              <a:rPr sz="1800" b="1" i="0">
                <a:solidFill>
                  <a:srgbClr val="222222"/>
                </a:solidFill>
                <a:latin typeface="Segoe UI"/>
                <a:ea typeface="Segoe UI"/>
                <a:cs typeface="Segoe UI"/>
              </a:rPr>
              <a:t>Bit reader</a:t>
            </a:r>
          </a:p>
          <a:p>
            <a:pPr algn="ctr">
              <a:lnSpc>
                <a:spcPct val="105000"/>
              </a:lnSpc>
            </a:pPr>
            <a:r>
              <a:rPr sz="1800" b="0" i="0">
                <a:solidFill>
                  <a:srgbClr val="222222"/>
                </a:solidFill>
                <a:latin typeface="Segoe UI"/>
                <a:ea typeface="Segoe UI"/>
                <a:cs typeface="Segoe UI"/>
              </a:rPr>
              <a:t>byte by byte</a:t>
            </a:r>
          </a:p>
        </p:txBody>
      </p:sp>
      <p:cxnSp>
        <p:nvCxnSpPr>
          <p:cNvPr id="15" name="Connector 14"/>
          <p:cNvCxnSpPr/>
          <p:nvPr/>
        </p:nvCxnSpPr>
        <p:spPr>
          <a:xfrm>
            <a:off x="2203703" y="5143500"/>
            <a:ext cx="205741" cy="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436876" y="4572000"/>
            <a:ext cx="1627632" cy="1143000"/>
          </a:xfrm>
          <a:prstGeom prst="roundRect">
            <a:avLst>
              <a:gd name="adj" fmla="val 8000"/>
            </a:avLst>
          </a:prstGeom>
          <a:solidFill>
            <a:srgbClr val="FDE7E4"/>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ODY"/>
          <p:cNvSpPr txBox="1"/>
          <p:nvPr/>
        </p:nvSpPr>
        <p:spPr>
          <a:xfrm>
            <a:off x="2482596" y="4645152"/>
            <a:ext cx="1536192" cy="996696"/>
          </a:xfrm>
          <a:prstGeom prst="rect">
            <a:avLst/>
          </a:prstGeom>
          <a:noFill/>
        </p:spPr>
        <p:txBody>
          <a:bodyPr wrap="square" lIns="45720" rIns="45720" anchor="ctr"/>
          <a:lstStyle/>
          <a:p>
            <a:pPr algn="ctr">
              <a:lnSpc>
                <a:spcPct val="105000"/>
              </a:lnSpc>
            </a:pPr>
            <a:r>
              <a:rPr sz="1800" b="1" i="0">
                <a:solidFill>
                  <a:srgbClr val="222222"/>
                </a:solidFill>
                <a:latin typeface="Segoe UI"/>
                <a:ea typeface="Segoe UI"/>
                <a:cs typeface="Segoe UI"/>
              </a:rPr>
              <a:t>Huffman decode</a:t>
            </a:r>
          </a:p>
          <a:p>
            <a:pPr algn="ctr">
              <a:lnSpc>
                <a:spcPct val="105000"/>
              </a:lnSpc>
            </a:pPr>
            <a:r>
              <a:rPr sz="1800" b="0" i="0">
                <a:solidFill>
                  <a:srgbClr val="222222"/>
                </a:solidFill>
                <a:latin typeface="Segoe UI"/>
                <a:ea typeface="Segoe UI"/>
                <a:cs typeface="Segoe UI"/>
              </a:rPr>
              <a:t>per symbol</a:t>
            </a:r>
          </a:p>
        </p:txBody>
      </p:sp>
      <p:cxnSp>
        <p:nvCxnSpPr>
          <p:cNvPr id="18" name="Connector 17"/>
          <p:cNvCxnSpPr/>
          <p:nvPr/>
        </p:nvCxnSpPr>
        <p:spPr>
          <a:xfrm>
            <a:off x="4091940" y="5143500"/>
            <a:ext cx="205740" cy="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25112" y="4572000"/>
            <a:ext cx="1627632" cy="1143000"/>
          </a:xfrm>
          <a:prstGeom prst="roundRect">
            <a:avLst>
              <a:gd name="adj" fmla="val 8000"/>
            </a:avLst>
          </a:prstGeom>
          <a:solidFill>
            <a:srgbClr val="FDE7E4"/>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BODY"/>
          <p:cNvSpPr txBox="1"/>
          <p:nvPr/>
        </p:nvSpPr>
        <p:spPr>
          <a:xfrm>
            <a:off x="4370831" y="4645152"/>
            <a:ext cx="1536192" cy="996696"/>
          </a:xfrm>
          <a:prstGeom prst="rect">
            <a:avLst/>
          </a:prstGeom>
          <a:noFill/>
        </p:spPr>
        <p:txBody>
          <a:bodyPr wrap="square" lIns="45720" rIns="45720" anchor="ctr"/>
          <a:lstStyle/>
          <a:p>
            <a:pPr algn="ctr">
              <a:lnSpc>
                <a:spcPct val="105000"/>
              </a:lnSpc>
            </a:pPr>
            <a:r>
              <a:rPr sz="1800" b="1" i="0">
                <a:solidFill>
                  <a:srgbClr val="222222"/>
                </a:solidFill>
                <a:latin typeface="Segoe UI"/>
                <a:ea typeface="Segoe UI"/>
                <a:cs typeface="Segoe UI"/>
              </a:rPr>
              <a:t>Move-to-front</a:t>
            </a:r>
          </a:p>
          <a:p>
            <a:pPr algn="ctr">
              <a:lnSpc>
                <a:spcPct val="105000"/>
              </a:lnSpc>
            </a:pPr>
            <a:r>
              <a:rPr sz="1800" b="0" i="0">
                <a:solidFill>
                  <a:srgbClr val="222222"/>
                </a:solidFill>
                <a:latin typeface="Segoe UI"/>
                <a:ea typeface="Segoe UI"/>
                <a:cs typeface="Segoe UI"/>
              </a:rPr>
              <a:t>per symbol</a:t>
            </a:r>
          </a:p>
        </p:txBody>
      </p:sp>
      <p:cxnSp>
        <p:nvCxnSpPr>
          <p:cNvPr id="21" name="Connector 20"/>
          <p:cNvCxnSpPr/>
          <p:nvPr/>
        </p:nvCxnSpPr>
        <p:spPr>
          <a:xfrm>
            <a:off x="5980176" y="5143500"/>
            <a:ext cx="205740" cy="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13348" y="4572000"/>
            <a:ext cx="1627632" cy="1143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BODY"/>
          <p:cNvSpPr txBox="1"/>
          <p:nvPr/>
        </p:nvSpPr>
        <p:spPr>
          <a:xfrm>
            <a:off x="6259068" y="4645152"/>
            <a:ext cx="1536192" cy="996696"/>
          </a:xfrm>
          <a:prstGeom prst="rect">
            <a:avLst/>
          </a:prstGeom>
          <a:noFill/>
        </p:spPr>
        <p:txBody>
          <a:bodyPr wrap="square" lIns="45720" rIns="45720" anchor="ctr"/>
          <a:lstStyle/>
          <a:p>
            <a:pPr algn="ctr">
              <a:lnSpc>
                <a:spcPct val="105000"/>
              </a:lnSpc>
            </a:pPr>
            <a:r>
              <a:rPr sz="1800" b="1" i="0">
                <a:solidFill>
                  <a:srgbClr val="222222"/>
                </a:solidFill>
                <a:latin typeface="Segoe UI"/>
                <a:ea typeface="Segoe UI"/>
                <a:cs typeface="Segoe UI"/>
              </a:rPr>
              <a:t>Inverse BWT</a:t>
            </a:r>
          </a:p>
          <a:p>
            <a:pPr algn="ctr">
              <a:lnSpc>
                <a:spcPct val="105000"/>
              </a:lnSpc>
            </a:pPr>
            <a:r>
              <a:rPr sz="1800" b="0" i="0">
                <a:solidFill>
                  <a:srgbClr val="222222"/>
                </a:solidFill>
                <a:latin typeface="Segoe UI"/>
                <a:ea typeface="Segoe UI"/>
                <a:cs typeface="Segoe UI"/>
              </a:rPr>
              <a:t>per block</a:t>
            </a:r>
          </a:p>
        </p:txBody>
      </p:sp>
      <p:cxnSp>
        <p:nvCxnSpPr>
          <p:cNvPr id="24" name="Connector 23"/>
          <p:cNvCxnSpPr/>
          <p:nvPr/>
        </p:nvCxnSpPr>
        <p:spPr>
          <a:xfrm>
            <a:off x="7868411" y="5143500"/>
            <a:ext cx="205741" cy="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101583" y="4572000"/>
            <a:ext cx="1627632" cy="1143000"/>
          </a:xfrm>
          <a:prstGeom prst="roundRect">
            <a:avLst>
              <a:gd name="adj" fmla="val 8000"/>
            </a:avLst>
          </a:prstGeom>
          <a:solidFill>
            <a:srgbClr val="FDE7E4"/>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BODY"/>
          <p:cNvSpPr txBox="1"/>
          <p:nvPr/>
        </p:nvSpPr>
        <p:spPr>
          <a:xfrm>
            <a:off x="8147304" y="4645152"/>
            <a:ext cx="1536192" cy="996696"/>
          </a:xfrm>
          <a:prstGeom prst="rect">
            <a:avLst/>
          </a:prstGeom>
          <a:noFill/>
        </p:spPr>
        <p:txBody>
          <a:bodyPr wrap="square" lIns="45720" rIns="45720" anchor="ctr"/>
          <a:lstStyle/>
          <a:p>
            <a:pPr algn="ctr">
              <a:lnSpc>
                <a:spcPct val="105000"/>
              </a:lnSpc>
            </a:pPr>
            <a:r>
              <a:rPr sz="1800" b="1" i="0">
                <a:solidFill>
                  <a:srgbClr val="222222"/>
                </a:solidFill>
                <a:latin typeface="Segoe UI"/>
                <a:ea typeface="Segoe UI"/>
                <a:cs typeface="Segoe UI"/>
              </a:rPr>
              <a:t>RLE decode</a:t>
            </a:r>
          </a:p>
          <a:p>
            <a:pPr algn="ctr">
              <a:lnSpc>
                <a:spcPct val="105000"/>
              </a:lnSpc>
            </a:pPr>
            <a:r>
              <a:rPr sz="1800" b="0" i="0">
                <a:solidFill>
                  <a:srgbClr val="222222"/>
                </a:solidFill>
                <a:latin typeface="Segoe UI"/>
                <a:ea typeface="Segoe UI"/>
                <a:cs typeface="Segoe UI"/>
              </a:rPr>
              <a:t>per output byte</a:t>
            </a:r>
          </a:p>
        </p:txBody>
      </p:sp>
      <p:cxnSp>
        <p:nvCxnSpPr>
          <p:cNvPr id="27" name="Connector 26"/>
          <p:cNvCxnSpPr/>
          <p:nvPr/>
        </p:nvCxnSpPr>
        <p:spPr>
          <a:xfrm>
            <a:off x="9756647" y="5143500"/>
            <a:ext cx="205741" cy="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989819" y="4572000"/>
            <a:ext cx="1627632" cy="1143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BODY"/>
          <p:cNvSpPr txBox="1"/>
          <p:nvPr/>
        </p:nvSpPr>
        <p:spPr>
          <a:xfrm>
            <a:off x="10035540" y="4645152"/>
            <a:ext cx="1536192" cy="996696"/>
          </a:xfrm>
          <a:prstGeom prst="rect">
            <a:avLst/>
          </a:prstGeom>
          <a:noFill/>
        </p:spPr>
        <p:txBody>
          <a:bodyPr wrap="square" lIns="45720" rIns="45720" anchor="ctr"/>
          <a:lstStyle/>
          <a:p>
            <a:pPr algn="ctr">
              <a:lnSpc>
                <a:spcPct val="105000"/>
              </a:lnSpc>
            </a:pPr>
            <a:r>
              <a:rPr sz="1800" b="1" i="0">
                <a:solidFill>
                  <a:srgbClr val="222222"/>
                </a:solidFill>
                <a:latin typeface="Segoe UI"/>
                <a:ea typeface="Segoe UI"/>
                <a:cs typeface="Segoe UI"/>
              </a:rPr>
              <a:t>MD5 check</a:t>
            </a:r>
          </a:p>
          <a:p>
            <a:pPr algn="ctr">
              <a:lnSpc>
                <a:spcPct val="105000"/>
              </a:lnSpc>
            </a:pPr>
            <a:r>
              <a:rPr sz="1800" b="0" i="0">
                <a:solidFill>
                  <a:srgbClr val="222222"/>
                </a:solidFill>
                <a:latin typeface="Segoe UI"/>
                <a:ea typeface="Segoe UI"/>
                <a:cs typeface="Segoe UI"/>
              </a:rPr>
              <a:t>once per run</a:t>
            </a:r>
          </a:p>
        </p:txBody>
      </p:sp>
      <p:sp>
        <p:nvSpPr>
          <p:cNvPr id="30" name="BODY"/>
          <p:cNvSpPr txBox="1"/>
          <p:nvPr/>
        </p:nvSpPr>
        <p:spPr>
          <a:xfrm>
            <a:off x="548640" y="5806440"/>
            <a:ext cx="11094415" cy="411480"/>
          </a:xfrm>
          <a:prstGeom prst="rect">
            <a:avLst/>
          </a:prstGeom>
          <a:noFill/>
        </p:spPr>
        <p:txBody>
          <a:bodyPr wrap="square" lIns="45720" rIns="45720" anchor="t"/>
          <a:lstStyle/>
          <a:p>
            <a:pPr algn="l">
              <a:lnSpc>
                <a:spcPct val="105000"/>
              </a:lnSpc>
            </a:pPr>
            <a:r>
              <a:rPr sz="1800" b="0" i="0">
                <a:solidFill>
                  <a:srgbClr val="6B7280"/>
                </a:solidFill>
                <a:latin typeface="Segoe UI"/>
                <a:ea typeface="Segoe UI"/>
                <a:cs typeface="Segoe UI"/>
              </a:rPr>
              <a:t>Red = stages that run once per symbol or per byte, which the profile later points 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Profiling: hardware counters (perf stat)</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A · pyflate</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4</a:t>
            </a:r>
          </a:p>
        </p:txBody>
      </p:sp>
      <p:graphicFrame>
        <p:nvGraphicFramePr>
          <p:cNvPr id="7" name="BODY_TABLE"/>
          <p:cNvGraphicFramePr>
            <a:graphicFrameLocks noGrp="1"/>
          </p:cNvGraphicFramePr>
          <p:nvPr/>
        </p:nvGraphicFramePr>
        <p:xfrm>
          <a:off x="548640" y="1325880"/>
          <a:ext cx="11091672" cy="2743200"/>
        </p:xfrm>
        <a:graphic>
          <a:graphicData uri="http://schemas.openxmlformats.org/drawingml/2006/table">
            <a:tbl>
              <a:tblPr firstRow="0" bandRow="0">
                <a:tableStyleId>{2D5ABB26-0587-4C30-8999-92F81FD0307C}</a:tableStyleId>
              </a:tblPr>
              <a:tblGrid>
                <a:gridCol w="2377440"/>
                <a:gridCol w="3017520"/>
                <a:gridCol w="5696712"/>
              </a:tblGrid>
              <a:tr h="457200">
                <a:tc>
                  <a:txBody>
                    <a:bodyPr wrap="square"/>
                    <a:lstStyle/>
                    <a:p>
                      <a:pPr algn="l"/>
                      <a:r>
                        <a:rPr sz="1800" b="1" i="0">
                          <a:solidFill>
                            <a:srgbClr val="FFFFFF"/>
                          </a:solidFill>
                          <a:latin typeface="Segoe UI"/>
                          <a:ea typeface="Segoe UI"/>
                          <a:cs typeface="Segoe UI"/>
                        </a:rPr>
                        <a:t>Counter</a:t>
                      </a:r>
                    </a:p>
                  </a:txBody>
                  <a:tcPr marL="91440" marR="91440" marT="27432" marB="27432" anchor="ctr">
                    <a:solidFill>
                      <a:srgbClr val="1F3A5F"/>
                    </a:solidFill>
                  </a:tcPr>
                </a:tc>
                <a:tc>
                  <a:txBody>
                    <a:bodyPr wrap="square"/>
                    <a:lstStyle/>
                    <a:p>
                      <a:pPr algn="r"/>
                      <a:r>
                        <a:rPr sz="1800" b="1" i="0">
                          <a:solidFill>
                            <a:srgbClr val="FFFFFF"/>
                          </a:solidFill>
                          <a:latin typeface="Segoe UI"/>
                          <a:ea typeface="Segoe UI"/>
                          <a:cs typeface="Segoe UI"/>
                        </a:rPr>
                        <a:t>Value</a:t>
                      </a:r>
                    </a:p>
                  </a:txBody>
                  <a:tcPr marL="91440" marR="91440" marT="27432" marB="27432" anchor="ctr">
                    <a:solidFill>
                      <a:srgbClr val="1F3A5F"/>
                    </a:solidFill>
                  </a:tcPr>
                </a:tc>
                <a:tc>
                  <a:txBody>
                    <a:bodyPr wrap="square"/>
                    <a:lstStyle/>
                    <a:p>
                      <a:pPr algn="l"/>
                      <a:r>
                        <a:rPr sz="1800" b="1" i="0">
                          <a:solidFill>
                            <a:srgbClr val="FFFFFF"/>
                          </a:solidFill>
                          <a:latin typeface="Segoe UI"/>
                          <a:ea typeface="Segoe UI"/>
                          <a:cs typeface="Segoe UI"/>
                        </a:rPr>
                        <a:t>What it tells us</a:t>
                      </a:r>
                    </a:p>
                  </a:txBody>
                  <a:tcPr marL="91440" marR="91440" marT="27432" marB="27432" anchor="ctr">
                    <a:solidFill>
                      <a:srgbClr val="1F3A5F"/>
                    </a:solidFill>
                  </a:tcPr>
                </a:tc>
              </a:tr>
              <a:tr h="457200">
                <a:tc>
                  <a:txBody>
                    <a:bodyPr wrap="square"/>
                    <a:lstStyle/>
                    <a:p>
                      <a:pPr algn="l"/>
                      <a:r>
                        <a:rPr sz="1800" b="0" i="0">
                          <a:solidFill>
                            <a:srgbClr val="222222"/>
                          </a:solidFill>
                          <a:latin typeface="Segoe UI"/>
                          <a:ea typeface="Segoe UI"/>
                          <a:cs typeface="Segoe UI"/>
                        </a:rPr>
                        <a:t>Instructions</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1,433,334,987,236</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~1.4 trillion over the whole pyperf run</a:t>
                      </a:r>
                    </a:p>
                  </a:txBody>
                  <a:tcPr marL="91440" marR="91440" marT="27432" marB="27432" anchor="ctr">
                    <a:solidFill>
                      <a:srgbClr val="FFFFFF"/>
                    </a:solidFill>
                  </a:tcPr>
                </a:tc>
              </a:tr>
              <a:tr h="457200">
                <a:tc>
                  <a:txBody>
                    <a:bodyPr wrap="square"/>
                    <a:lstStyle/>
                    <a:p>
                      <a:pPr algn="l"/>
                      <a:r>
                        <a:rPr sz="1800" b="0" i="0">
                          <a:solidFill>
                            <a:srgbClr val="222222"/>
                          </a:solidFill>
                          <a:latin typeface="Segoe UI"/>
                          <a:ea typeface="Segoe UI"/>
                          <a:cs typeface="Segoe UI"/>
                        </a:rPr>
                        <a:t>Cycles</a:t>
                      </a:r>
                    </a:p>
                  </a:txBody>
                  <a:tcPr marL="91440" marR="91440" marT="27432" marB="27432" anchor="ctr">
                    <a:solidFill>
                      <a:srgbClr val="F3F4F6"/>
                    </a:solidFill>
                  </a:tcPr>
                </a:tc>
                <a:tc>
                  <a:txBody>
                    <a:bodyPr wrap="square"/>
                    <a:lstStyle/>
                    <a:p>
                      <a:pPr algn="r"/>
                      <a:r>
                        <a:rPr sz="1800" b="0" i="0">
                          <a:solidFill>
                            <a:srgbClr val="222222"/>
                          </a:solidFill>
                          <a:latin typeface="Segoe UI"/>
                          <a:ea typeface="Segoe UI"/>
                          <a:cs typeface="Segoe UI"/>
                        </a:rPr>
                        <a:t>659,081,747,854</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the CPU is busy the whole time</a:t>
                      </a:r>
                    </a:p>
                  </a:txBody>
                  <a:tcPr marL="91440" marR="91440" marT="27432" marB="27432" anchor="ctr">
                    <a:solidFill>
                      <a:srgbClr val="F3F4F6"/>
                    </a:solidFill>
                  </a:tcPr>
                </a:tc>
              </a:tr>
              <a:tr h="457200">
                <a:tc>
                  <a:txBody>
                    <a:bodyPr wrap="square"/>
                    <a:lstStyle/>
                    <a:p>
                      <a:pPr algn="l"/>
                      <a:r>
                        <a:rPr sz="1800" b="0" i="0">
                          <a:solidFill>
                            <a:srgbClr val="222222"/>
                          </a:solidFill>
                          <a:latin typeface="Segoe UI"/>
                          <a:ea typeface="Segoe UI"/>
                          <a:cs typeface="Segoe UI"/>
                        </a:rPr>
                        <a:t>IPC</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2.17 insn / cycle</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high: the core is rarely stalled</a:t>
                      </a:r>
                    </a:p>
                  </a:txBody>
                  <a:tcPr marL="91440" marR="91440" marT="27432" marB="27432" anchor="ctr">
                    <a:solidFill>
                      <a:srgbClr val="FFFFFF"/>
                    </a:solidFill>
                  </a:tcPr>
                </a:tc>
              </a:tr>
              <a:tr h="457200">
                <a:tc>
                  <a:txBody>
                    <a:bodyPr wrap="square"/>
                    <a:lstStyle/>
                    <a:p>
                      <a:pPr algn="l"/>
                      <a:r>
                        <a:rPr sz="1800" b="0" i="0">
                          <a:solidFill>
                            <a:srgbClr val="222222"/>
                          </a:solidFill>
                          <a:latin typeface="Segoe UI"/>
                          <a:ea typeface="Segoe UI"/>
                          <a:cs typeface="Segoe UI"/>
                        </a:rPr>
                        <a:t>Cache-miss rate</a:t>
                      </a:r>
                    </a:p>
                  </a:txBody>
                  <a:tcPr marL="91440" marR="91440" marT="27432" marB="27432" anchor="ctr">
                    <a:solidFill>
                      <a:srgbClr val="F3F4F6"/>
                    </a:solidFill>
                  </a:tcPr>
                </a:tc>
                <a:tc>
                  <a:txBody>
                    <a:bodyPr wrap="square"/>
                    <a:lstStyle/>
                    <a:p>
                      <a:pPr algn="r"/>
                      <a:r>
                        <a:rPr sz="1800" b="1" i="0">
                          <a:solidFill>
                            <a:srgbClr val="B42318"/>
                          </a:solidFill>
                          <a:latin typeface="Segoe UI"/>
                          <a:ea typeface="Segoe UI"/>
                          <a:cs typeface="Segoe UI"/>
                        </a:rPr>
                        <a:t>7.0 %</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highest of our two benchmarks</a:t>
                      </a:r>
                    </a:p>
                  </a:txBody>
                  <a:tcPr marL="91440" marR="91440" marT="27432" marB="27432" anchor="ctr">
                    <a:solidFill>
                      <a:srgbClr val="F3F4F6"/>
                    </a:solidFill>
                  </a:tcPr>
                </a:tc>
              </a:tr>
              <a:tr h="457200">
                <a:tc>
                  <a:txBody>
                    <a:bodyPr wrap="square"/>
                    <a:lstStyle/>
                    <a:p>
                      <a:pPr algn="l"/>
                      <a:r>
                        <a:rPr sz="1800" b="0" i="0">
                          <a:solidFill>
                            <a:srgbClr val="222222"/>
                          </a:solidFill>
                          <a:latin typeface="Segoe UI"/>
                          <a:ea typeface="Segoe UI"/>
                          <a:cs typeface="Segoe UI"/>
                        </a:rPr>
                        <a:t>Branch-miss rate</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0.43 %</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the interpreter loop predicts well</a:t>
                      </a:r>
                    </a:p>
                  </a:txBody>
                  <a:tcPr marL="91440" marR="91440" marT="27432" marB="27432" anchor="ctr">
                    <a:solidFill>
                      <a:srgbClr val="FFFFFF"/>
                    </a:solidFill>
                  </a:tcPr>
                </a:tc>
              </a:tr>
            </a:tbl>
          </a:graphicData>
        </a:graphic>
      </p:graphicFrame>
      <p:sp>
        <p:nvSpPr>
          <p:cNvPr id="8" name="Rounded Rectangle 7"/>
          <p:cNvSpPr/>
          <p:nvPr/>
        </p:nvSpPr>
        <p:spPr>
          <a:xfrm>
            <a:off x="548640" y="4206240"/>
            <a:ext cx="6675120" cy="1783080"/>
          </a:xfrm>
          <a:prstGeom prst="roundRect">
            <a:avLst>
              <a:gd name="adj" fmla="val 2500"/>
            </a:avLst>
          </a:prstGeom>
          <a:solidFill>
            <a:srgbClr val="F6F8FA"/>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57784" y="4535424"/>
            <a:ext cx="6656832" cy="9144"/>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ODEHEAD"/>
          <p:cNvSpPr txBox="1"/>
          <p:nvPr/>
        </p:nvSpPr>
        <p:spPr>
          <a:xfrm>
            <a:off x="658368" y="4242816"/>
            <a:ext cx="6455664" cy="274320"/>
          </a:xfrm>
          <a:prstGeom prst="rect">
            <a:avLst/>
          </a:prstGeom>
          <a:noFill/>
        </p:spPr>
        <p:txBody>
          <a:bodyPr wrap="none" lIns="45720" rIns="45720" anchor="ctr"/>
          <a:lstStyle/>
          <a:p>
            <a:r>
              <a:rPr sz="1100" b="0" i="0">
                <a:solidFill>
                  <a:srgbClr val="6B7280"/>
                </a:solidFill>
                <a:latin typeface="Consolas"/>
                <a:ea typeface="Consolas"/>
                <a:cs typeface="Consolas"/>
              </a:rPr>
              <a:t>commands (run inside the VM)</a:t>
            </a:r>
          </a:p>
        </p:txBody>
      </p:sp>
      <p:sp>
        <p:nvSpPr>
          <p:cNvPr id="11" name="CODE"/>
          <p:cNvSpPr txBox="1"/>
          <p:nvPr/>
        </p:nvSpPr>
        <p:spPr>
          <a:xfrm>
            <a:off x="694944" y="4626864"/>
            <a:ext cx="6455664" cy="975360"/>
          </a:xfrm>
          <a:prstGeom prst="rect">
            <a:avLst/>
          </a:prstGeom>
          <a:noFill/>
        </p:spPr>
        <p:txBody>
          <a:bodyPr wrap="none" lIns="0" rIns="0" tIns="0" bIns="0"/>
          <a:lstStyle/>
          <a:p>
            <a:pPr>
              <a:lnSpc>
                <a:spcPts val="1524"/>
              </a:lnSpc>
              <a:spcBef>
                <a:spcPts val="0"/>
              </a:spcBef>
              <a:spcAft>
                <a:spcPts val="0"/>
              </a:spcAft>
            </a:pPr>
            <a:r>
              <a:rPr sz="1200" b="0" i="0">
                <a:solidFill>
                  <a:srgbClr val="24292F"/>
                </a:solidFill>
                <a:latin typeface="Consolas"/>
                <a:ea typeface="Consolas"/>
                <a:cs typeface="Consolas"/>
              </a:rPr>
              <a:t>perf</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stat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-e</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cycles,instructions,cache-references,cache-misses,</a:t>
            </a:r>
            <a:r>
              <a:rPr sz="1200" b="0" i="0">
                <a:solidFill>
                  <a:srgbClr val="0A3069"/>
                </a:solidFill>
                <a:latin typeface="Consolas"/>
                <a:ea typeface="Consolas"/>
                <a:cs typeface="Consolas"/>
              </a:rPr>
              <a:t>\</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24292F"/>
                </a:solidFill>
                <a:latin typeface="Consolas"/>
                <a:ea typeface="Consolas"/>
                <a:cs typeface="Consolas"/>
              </a:rPr>
              <a:t>branch-instructions,branch-misses,bus-cycles,ref-cycles</a:t>
            </a:r>
            <a:r>
              <a:rPr sz="1200" b="0" i="0">
                <a:solidFill>
                  <a:srgbClr val="24292F"/>
                </a:solidFill>
                <a:latin typeface="Consolas"/>
                <a:ea typeface="Consolas"/>
                <a:cs typeface="Consolas"/>
              </a:rPr>
              <a:t> </a:t>
            </a:r>
            <a:r>
              <a:rPr sz="1200" b="0" i="0">
                <a:solidFill>
                  <a:srgbClr val="0A3069"/>
                </a:solidFill>
                <a:latin typeface="Consolas"/>
                <a:ea typeface="Consolas"/>
                <a:cs typeface="Consolas"/>
              </a:rPr>
              <a:t>\</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python3-dbg</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run_benchmark.py</a:t>
            </a:r>
          </a:p>
          <a:p>
            <a:pPr>
              <a:lnSpc>
                <a:spcPts val="1524"/>
              </a:lnSpc>
              <a:spcBef>
                <a:spcPts val="0"/>
              </a:spcBef>
              <a:spcAft>
                <a:spcPts val="0"/>
              </a:spcAft>
            </a:pPr>
            <a:r>
              <a:rPr sz="1200" b="0" i="0">
                <a:solidFill>
                  <a:srgbClr val="24292F"/>
                </a:solidFill>
                <a:latin typeface="Consolas"/>
                <a:ea typeface="Consolas"/>
                <a:cs typeface="Consolas"/>
              </a:rPr>
              <a:t>perf</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record</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-F</a:t>
            </a:r>
            <a:r>
              <a:rPr sz="1200" b="0" i="0">
                <a:solidFill>
                  <a:srgbClr val="24292F"/>
                </a:solidFill>
                <a:latin typeface="Consolas"/>
                <a:ea typeface="Consolas"/>
                <a:cs typeface="Consolas"/>
              </a:rPr>
              <a:t> </a:t>
            </a:r>
            <a:r>
              <a:rPr sz="1200" b="0" i="0">
                <a:solidFill>
                  <a:srgbClr val="0550AE"/>
                </a:solidFill>
                <a:latin typeface="Consolas"/>
                <a:ea typeface="Consolas"/>
                <a:cs typeface="Consolas"/>
              </a:rPr>
              <a:t>999</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-g</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-e</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cpu-clock</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python3-dbg</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run_benchmark.py</a:t>
            </a:r>
          </a:p>
        </p:txBody>
      </p:sp>
      <p:sp>
        <p:nvSpPr>
          <p:cNvPr id="12" name="Rounded Rectangle 11"/>
          <p:cNvSpPr/>
          <p:nvPr/>
        </p:nvSpPr>
        <p:spPr>
          <a:xfrm>
            <a:off x="7452360" y="4206240"/>
            <a:ext cx="4187952" cy="178308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452360" y="4315968"/>
            <a:ext cx="54864" cy="156362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ODY"/>
          <p:cNvSpPr txBox="1"/>
          <p:nvPr/>
        </p:nvSpPr>
        <p:spPr>
          <a:xfrm>
            <a:off x="7680960" y="4334255"/>
            <a:ext cx="3822191" cy="411480"/>
          </a:xfrm>
          <a:prstGeom prst="rect">
            <a:avLst/>
          </a:prstGeom>
          <a:noFill/>
        </p:spPr>
        <p:txBody>
          <a:bodyPr wrap="square" lIns="45720" rIns="45720" anchor="t"/>
          <a:lstStyle/>
          <a:p>
            <a:pPr algn="l">
              <a:lnSpc>
                <a:spcPct val="105000"/>
              </a:lnSpc>
            </a:pPr>
            <a:r>
              <a:rPr sz="1800" b="1" i="0">
                <a:solidFill>
                  <a:srgbClr val="0F766E"/>
                </a:solidFill>
                <a:latin typeface="Segoe UI"/>
                <a:ea typeface="Segoe UI"/>
                <a:cs typeface="Segoe UI"/>
              </a:rPr>
              <a:t>Why cpu-clock?</a:t>
            </a:r>
          </a:p>
        </p:txBody>
      </p:sp>
      <p:sp>
        <p:nvSpPr>
          <p:cNvPr id="15" name="BODY"/>
          <p:cNvSpPr txBox="1"/>
          <p:nvPr/>
        </p:nvSpPr>
        <p:spPr>
          <a:xfrm>
            <a:off x="7635240" y="4773168"/>
            <a:ext cx="3867912" cy="1124712"/>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The VM's virtual PMU never raises sampling interrupts, so perf record on cycles gets 0 samples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Profiling: flame graph of the original run</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A · pyflate</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5</a:t>
            </a:r>
          </a:p>
        </p:txBody>
      </p:sp>
      <p:pic>
        <p:nvPicPr>
          <p:cNvPr id="7" name="Picture 6" descr="fg_pyflate_original.png"/>
          <p:cNvPicPr>
            <a:picLocks noChangeAspect="1"/>
          </p:cNvPicPr>
          <p:nvPr/>
        </p:nvPicPr>
        <p:blipFill>
          <a:blip r:embed="rId2"/>
          <a:stretch>
            <a:fillRect/>
          </a:stretch>
        </p:blipFill>
        <p:spPr>
          <a:xfrm>
            <a:off x="548640" y="1645920"/>
            <a:ext cx="6492240" cy="2743200"/>
          </a:xfrm>
          <a:prstGeom prst="rect">
            <a:avLst/>
          </a:prstGeom>
          <a:ln w="12700">
            <a:solidFill>
              <a:srgbClr val="D9DDE3"/>
            </a:solidFill>
          </a:ln>
        </p:spPr>
      </p:pic>
      <p:sp>
        <p:nvSpPr>
          <p:cNvPr id="8" name="BODY"/>
          <p:cNvSpPr txBox="1"/>
          <p:nvPr/>
        </p:nvSpPr>
        <p:spPr>
          <a:xfrm>
            <a:off x="548640" y="4526280"/>
            <a:ext cx="6492240" cy="822960"/>
          </a:xfrm>
          <a:prstGeom prst="rect">
            <a:avLst/>
          </a:prstGeom>
          <a:noFill/>
        </p:spPr>
        <p:txBody>
          <a:bodyPr wrap="square" lIns="45720" rIns="45720" anchor="t"/>
          <a:lstStyle/>
          <a:p>
            <a:pPr algn="l">
              <a:lnSpc>
                <a:spcPct val="105000"/>
              </a:lnSpc>
            </a:pPr>
            <a:r>
              <a:rPr sz="1800" b="0" i="0">
                <a:solidFill>
                  <a:srgbClr val="6B7280"/>
                </a:solidFill>
                <a:latin typeface="Segoe UI"/>
                <a:ea typeface="Segoe UI"/>
                <a:cs typeface="Segoe UI"/>
              </a:rPr>
              <a:t>Bottom 6 stack levels of original/flamegraph_original.svg. Width = share of CPU samples; the call stack grows upward from the root.</a:t>
            </a:r>
          </a:p>
        </p:txBody>
      </p:sp>
      <p:sp>
        <p:nvSpPr>
          <p:cNvPr id="9" name="Rounded Rectangle 8"/>
          <p:cNvSpPr/>
          <p:nvPr/>
        </p:nvSpPr>
        <p:spPr>
          <a:xfrm>
            <a:off x="7223760" y="1371600"/>
            <a:ext cx="4416552" cy="466344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ODY"/>
          <p:cNvSpPr txBox="1"/>
          <p:nvPr/>
        </p:nvSpPr>
        <p:spPr>
          <a:xfrm>
            <a:off x="7406640" y="1490472"/>
            <a:ext cx="4114800" cy="411480"/>
          </a:xfrm>
          <a:prstGeom prst="rect">
            <a:avLst/>
          </a:prstGeom>
          <a:noFill/>
        </p:spPr>
        <p:txBody>
          <a:bodyPr wrap="square" lIns="45720" rIns="45720" anchor="t"/>
          <a:lstStyle/>
          <a:p>
            <a:pPr algn="l">
              <a:lnSpc>
                <a:spcPct val="105000"/>
              </a:lnSpc>
            </a:pPr>
            <a:r>
              <a:rPr sz="1800" b="1" i="0">
                <a:solidFill>
                  <a:srgbClr val="222222"/>
                </a:solidFill>
                <a:latin typeface="Segoe UI"/>
                <a:ea typeface="Segoe UI"/>
                <a:cs typeface="Segoe UI"/>
              </a:rPr>
              <a:t>Widest self-time frames</a:t>
            </a:r>
          </a:p>
        </p:txBody>
      </p:sp>
      <p:graphicFrame>
        <p:nvGraphicFramePr>
          <p:cNvPr id="11" name="BODY_TABLE"/>
          <p:cNvGraphicFramePr>
            <a:graphicFrameLocks noGrp="1"/>
          </p:cNvGraphicFramePr>
          <p:nvPr/>
        </p:nvGraphicFramePr>
        <p:xfrm>
          <a:off x="7315200" y="2011680"/>
          <a:ext cx="4233672" cy="3657600"/>
        </p:xfrm>
        <a:graphic>
          <a:graphicData uri="http://schemas.openxmlformats.org/drawingml/2006/table">
            <a:tbl>
              <a:tblPr firstRow="0" bandRow="0">
                <a:tableStyleId>{2D5ABB26-0587-4C30-8999-92F81FD0307C}</a:tableStyleId>
              </a:tblPr>
              <a:tblGrid>
                <a:gridCol w="868680"/>
                <a:gridCol w="3364992"/>
              </a:tblGrid>
              <a:tr h="457200">
                <a:tc>
                  <a:txBody>
                    <a:bodyPr wrap="square"/>
                    <a:lstStyle/>
                    <a:p>
                      <a:pPr algn="r"/>
                      <a:r>
                        <a:rPr sz="1800" b="0" i="0">
                          <a:solidFill>
                            <a:srgbClr val="1F3A5F"/>
                          </a:solidFill>
                          <a:latin typeface="Segoe UI"/>
                          <a:ea typeface="Segoe UI"/>
                          <a:cs typeface="Segoe UI"/>
                        </a:rPr>
                        <a:t>23.5 %</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_PyEval_EvalFrameDefault</a:t>
                      </a:r>
                    </a:p>
                  </a:txBody>
                  <a:tcPr marL="91440" marR="91440" marT="27432" marB="27432" anchor="ctr">
                    <a:solidFill>
                      <a:srgbClr val="F3F4F6"/>
                    </a:solidFill>
                  </a:tcPr>
                </a:tc>
              </a:tr>
              <a:tr h="457200">
                <a:tc>
                  <a:txBody>
                    <a:bodyPr wrap="square"/>
                    <a:lstStyle/>
                    <a:p>
                      <a:pPr algn="r"/>
                      <a:r>
                        <a:rPr sz="1800" b="0" i="0">
                          <a:solidFill>
                            <a:srgbClr val="B42318"/>
                          </a:solidFill>
                          <a:latin typeface="Segoe UI"/>
                          <a:ea typeface="Segoe UI"/>
                          <a:cs typeface="Segoe UI"/>
                        </a:rPr>
                        <a:t>4.1 %</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_PyMem_DebugCheckAddress</a:t>
                      </a:r>
                    </a:p>
                  </a:txBody>
                  <a:tcPr marL="91440" marR="91440" marT="27432" marB="27432" anchor="ctr">
                    <a:solidFill>
                      <a:srgbClr val="FFFFFF"/>
                    </a:solidFill>
                  </a:tcPr>
                </a:tc>
              </a:tr>
              <a:tr h="457200">
                <a:tc>
                  <a:txBody>
                    <a:bodyPr wrap="square"/>
                    <a:lstStyle/>
                    <a:p>
                      <a:pPr algn="r"/>
                      <a:r>
                        <a:rPr sz="1800" b="0" i="0">
                          <a:solidFill>
                            <a:srgbClr val="B42318"/>
                          </a:solidFill>
                          <a:latin typeface="Segoe UI"/>
                          <a:ea typeface="Segoe UI"/>
                          <a:cs typeface="Segoe UI"/>
                        </a:rPr>
                        <a:t>3.0 %</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__memset_avx2_unaligned</a:t>
                      </a:r>
                    </a:p>
                  </a:txBody>
                  <a:tcPr marL="91440" marR="91440" marT="27432" marB="27432" anchor="ctr">
                    <a:solidFill>
                      <a:srgbClr val="F3F4F6"/>
                    </a:solidFill>
                  </a:tcPr>
                </a:tc>
              </a:tr>
              <a:tr h="457200">
                <a:tc>
                  <a:txBody>
                    <a:bodyPr wrap="square"/>
                    <a:lstStyle/>
                    <a:p>
                      <a:pPr algn="r"/>
                      <a:r>
                        <a:rPr sz="1800" b="0" i="0">
                          <a:solidFill>
                            <a:srgbClr val="B42318"/>
                          </a:solidFill>
                          <a:latin typeface="Segoe UI"/>
                          <a:ea typeface="Segoe UI"/>
                          <a:cs typeface="Segoe UI"/>
                        </a:rPr>
                        <a:t>2.9 %</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read_size_t</a:t>
                      </a:r>
                    </a:p>
                  </a:txBody>
                  <a:tcPr marL="91440" marR="91440" marT="27432" marB="27432" anchor="ctr">
                    <a:solidFill>
                      <a:srgbClr val="FFFFFF"/>
                    </a:solidFill>
                  </a:tcPr>
                </a:tc>
              </a:tr>
              <a:tr h="457200">
                <a:tc>
                  <a:txBody>
                    <a:bodyPr wrap="square"/>
                    <a:lstStyle/>
                    <a:p>
                      <a:pPr algn="r"/>
                      <a:r>
                        <a:rPr sz="1800" b="0" i="0">
                          <a:solidFill>
                            <a:srgbClr val="B42318"/>
                          </a:solidFill>
                          <a:latin typeface="Segoe UI"/>
                          <a:ea typeface="Segoe UI"/>
                          <a:cs typeface="Segoe UI"/>
                        </a:rPr>
                        <a:t>2.5 %</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list_dealloc</a:t>
                      </a:r>
                    </a:p>
                  </a:txBody>
                  <a:tcPr marL="91440" marR="91440" marT="27432" marB="27432" anchor="ctr">
                    <a:solidFill>
                      <a:srgbClr val="F3F4F6"/>
                    </a:solidFill>
                  </a:tcPr>
                </a:tc>
              </a:tr>
              <a:tr h="457200">
                <a:tc>
                  <a:txBody>
                    <a:bodyPr wrap="square"/>
                    <a:lstStyle/>
                    <a:p>
                      <a:pPr algn="r"/>
                      <a:r>
                        <a:rPr sz="1800" b="0" i="0">
                          <a:solidFill>
                            <a:srgbClr val="B45A09"/>
                          </a:solidFill>
                          <a:latin typeface="Segoe UI"/>
                          <a:ea typeface="Segoe UI"/>
                          <a:cs typeface="Segoe UI"/>
                        </a:rPr>
                        <a:t>2.3 %</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call_function</a:t>
                      </a:r>
                    </a:p>
                  </a:txBody>
                  <a:tcPr marL="91440" marR="91440" marT="27432" marB="27432" anchor="ctr">
                    <a:solidFill>
                      <a:srgbClr val="FFFFFF"/>
                    </a:solidFill>
                  </a:tcPr>
                </a:tc>
              </a:tr>
              <a:tr h="457200">
                <a:tc>
                  <a:txBody>
                    <a:bodyPr wrap="square"/>
                    <a:lstStyle/>
                    <a:p>
                      <a:pPr algn="r"/>
                      <a:r>
                        <a:rPr sz="1800" b="0" i="0">
                          <a:solidFill>
                            <a:srgbClr val="B42318"/>
                          </a:solidFill>
                          <a:latin typeface="Segoe UI"/>
                          <a:ea typeface="Segoe UI"/>
                          <a:cs typeface="Segoe UI"/>
                        </a:rPr>
                        <a:t>2.1 %</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list_ass_slice</a:t>
                      </a:r>
                    </a:p>
                  </a:txBody>
                  <a:tcPr marL="91440" marR="91440" marT="27432" marB="27432" anchor="ctr">
                    <a:solidFill>
                      <a:srgbClr val="F3F4F6"/>
                    </a:solidFill>
                  </a:tcPr>
                </a:tc>
              </a:tr>
              <a:tr h="457200">
                <a:tc>
                  <a:txBody>
                    <a:bodyPr wrap="square"/>
                    <a:lstStyle/>
                    <a:p>
                      <a:pPr algn="r"/>
                      <a:r>
                        <a:rPr sz="1800" b="0" i="0">
                          <a:solidFill>
                            <a:srgbClr val="B45A09"/>
                          </a:solidFill>
                          <a:latin typeface="Segoe UI"/>
                          <a:ea typeface="Segoe UI"/>
                          <a:cs typeface="Segoe UI"/>
                        </a:rPr>
                        <a:t>1.5 %</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lookdict_unicode_nodummy</a:t>
                      </a:r>
                    </a:p>
                  </a:txBody>
                  <a:tcPr marL="91440" marR="91440" marT="27432" marB="27432"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Bottlenecks: where the self-time goes</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A · pyflate</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6</a:t>
            </a:r>
          </a:p>
        </p:txBody>
      </p:sp>
      <p:graphicFrame>
        <p:nvGraphicFramePr>
          <p:cNvPr id="7" name="BODY_TABLE"/>
          <p:cNvGraphicFramePr>
            <a:graphicFrameLocks noGrp="1"/>
          </p:cNvGraphicFramePr>
          <p:nvPr/>
        </p:nvGraphicFramePr>
        <p:xfrm>
          <a:off x="548640" y="1325880"/>
          <a:ext cx="7406640" cy="4114800"/>
        </p:xfrm>
        <a:graphic>
          <a:graphicData uri="http://schemas.openxmlformats.org/drawingml/2006/table">
            <a:tbl>
              <a:tblPr firstRow="0" bandRow="0">
                <a:tableStyleId>{2D5ABB26-0587-4C30-8999-92F81FD0307C}</a:tableStyleId>
              </a:tblPr>
              <a:tblGrid>
                <a:gridCol w="1097280"/>
                <a:gridCol w="3931920"/>
                <a:gridCol w="2377440"/>
              </a:tblGrid>
              <a:tr h="457200">
                <a:tc>
                  <a:txBody>
                    <a:bodyPr wrap="square"/>
                    <a:lstStyle/>
                    <a:p>
                      <a:pPr algn="r"/>
                      <a:r>
                        <a:rPr sz="1800" b="1" i="0">
                          <a:solidFill>
                            <a:srgbClr val="FFFFFF"/>
                          </a:solidFill>
                          <a:latin typeface="Segoe UI"/>
                          <a:ea typeface="Segoe UI"/>
                          <a:cs typeface="Segoe UI"/>
                        </a:rPr>
                        <a:t>Self %</a:t>
                      </a:r>
                    </a:p>
                  </a:txBody>
                  <a:tcPr marL="91440" marR="91440" marT="27432" marB="27432" anchor="ctr">
                    <a:solidFill>
                      <a:srgbClr val="1F3A5F"/>
                    </a:solidFill>
                  </a:tcPr>
                </a:tc>
                <a:tc>
                  <a:txBody>
                    <a:bodyPr wrap="square"/>
                    <a:lstStyle/>
                    <a:p>
                      <a:pPr algn="l"/>
                      <a:r>
                        <a:rPr sz="1800" b="1" i="0">
                          <a:solidFill>
                            <a:srgbClr val="FFFFFF"/>
                          </a:solidFill>
                          <a:latin typeface="Segoe UI"/>
                          <a:ea typeface="Segoe UI"/>
                          <a:cs typeface="Segoe UI"/>
                        </a:rPr>
                        <a:t>Symbol</a:t>
                      </a:r>
                    </a:p>
                  </a:txBody>
                  <a:tcPr marL="91440" marR="91440" marT="27432" marB="27432" anchor="ctr">
                    <a:solidFill>
                      <a:srgbClr val="1F3A5F"/>
                    </a:solidFill>
                  </a:tcPr>
                </a:tc>
                <a:tc>
                  <a:txBody>
                    <a:bodyPr wrap="square"/>
                    <a:lstStyle/>
                    <a:p>
                      <a:pPr algn="l"/>
                      <a:r>
                        <a:rPr sz="1800" b="1" i="0">
                          <a:solidFill>
                            <a:srgbClr val="FFFFFF"/>
                          </a:solidFill>
                          <a:latin typeface="Segoe UI"/>
                          <a:ea typeface="Segoe UI"/>
                          <a:cs typeface="Segoe UI"/>
                        </a:rPr>
                        <a:t>Category</a:t>
                      </a:r>
                    </a:p>
                  </a:txBody>
                  <a:tcPr marL="91440" marR="91440" marT="27432" marB="27432" anchor="ctr">
                    <a:solidFill>
                      <a:srgbClr val="1F3A5F"/>
                    </a:solidFill>
                  </a:tcPr>
                </a:tc>
              </a:tr>
              <a:tr h="457200">
                <a:tc>
                  <a:txBody>
                    <a:bodyPr wrap="square"/>
                    <a:lstStyle/>
                    <a:p>
                      <a:pPr algn="r"/>
                      <a:r>
                        <a:rPr sz="1800" b="0" i="0">
                          <a:solidFill>
                            <a:srgbClr val="222222"/>
                          </a:solidFill>
                          <a:latin typeface="Segoe UI"/>
                          <a:ea typeface="Segoe UI"/>
                          <a:cs typeface="Segoe UI"/>
                        </a:rPr>
                        <a:t>22.40</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_PyEval_EvalFrameDefault</a:t>
                      </a:r>
                    </a:p>
                  </a:txBody>
                  <a:tcPr marL="91440" marR="91440" marT="27432" marB="27432" anchor="ctr">
                    <a:solidFill>
                      <a:srgbClr val="FFFFFF"/>
                    </a:solidFill>
                  </a:tcPr>
                </a:tc>
                <a:tc>
                  <a:txBody>
                    <a:bodyPr wrap="square"/>
                    <a:lstStyle/>
                    <a:p>
                      <a:pPr algn="l"/>
                      <a:r>
                        <a:rPr sz="1800" b="0" i="0">
                          <a:solidFill>
                            <a:srgbClr val="1F3A5F"/>
                          </a:solidFill>
                          <a:latin typeface="Segoe UI"/>
                          <a:ea typeface="Segoe UI"/>
                          <a:cs typeface="Segoe UI"/>
                        </a:rPr>
                        <a:t>Interpreter</a:t>
                      </a:r>
                    </a:p>
                  </a:txBody>
                  <a:tcPr marL="91440" marR="91440" marT="27432" marB="27432" anchor="ctr">
                    <a:solidFill>
                      <a:srgbClr val="FFFFFF"/>
                    </a:solidFill>
                  </a:tcPr>
                </a:tc>
              </a:tr>
              <a:tr h="457200">
                <a:tc>
                  <a:txBody>
                    <a:bodyPr wrap="square"/>
                    <a:lstStyle/>
                    <a:p>
                      <a:pPr algn="r"/>
                      <a:r>
                        <a:rPr sz="1800" b="0" i="0">
                          <a:solidFill>
                            <a:srgbClr val="222222"/>
                          </a:solidFill>
                          <a:latin typeface="Segoe UI"/>
                          <a:ea typeface="Segoe UI"/>
                          <a:cs typeface="Segoe UI"/>
                        </a:rPr>
                        <a:t>4.06</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_PyMem_DebugCheckAddress</a:t>
                      </a:r>
                    </a:p>
                  </a:txBody>
                  <a:tcPr marL="91440" marR="91440" marT="27432" marB="27432" anchor="ctr">
                    <a:solidFill>
                      <a:srgbClr val="F3F4F6"/>
                    </a:solidFill>
                  </a:tcPr>
                </a:tc>
                <a:tc>
                  <a:txBody>
                    <a:bodyPr wrap="square"/>
                    <a:lstStyle/>
                    <a:p>
                      <a:pPr algn="l"/>
                      <a:r>
                        <a:rPr sz="1800" b="0" i="0">
                          <a:solidFill>
                            <a:srgbClr val="B42318"/>
                          </a:solidFill>
                          <a:latin typeface="Segoe UI"/>
                          <a:ea typeface="Segoe UI"/>
                          <a:cs typeface="Segoe UI"/>
                        </a:rPr>
                        <a:t>Memory / allocator</a:t>
                      </a:r>
                    </a:p>
                  </a:txBody>
                  <a:tcPr marL="91440" marR="91440" marT="27432" marB="27432" anchor="ctr">
                    <a:solidFill>
                      <a:srgbClr val="F3F4F6"/>
                    </a:solidFill>
                  </a:tcPr>
                </a:tc>
              </a:tr>
              <a:tr h="457200">
                <a:tc>
                  <a:txBody>
                    <a:bodyPr wrap="square"/>
                    <a:lstStyle/>
                    <a:p>
                      <a:pPr algn="r"/>
                      <a:r>
                        <a:rPr sz="1800" b="0" i="0">
                          <a:solidFill>
                            <a:srgbClr val="222222"/>
                          </a:solidFill>
                          <a:latin typeface="Segoe UI"/>
                          <a:ea typeface="Segoe UI"/>
                          <a:cs typeface="Segoe UI"/>
                        </a:rPr>
                        <a:t>2.81</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read_size_t</a:t>
                      </a:r>
                    </a:p>
                  </a:txBody>
                  <a:tcPr marL="91440" marR="91440" marT="27432" marB="27432" anchor="ctr">
                    <a:solidFill>
                      <a:srgbClr val="FFFFFF"/>
                    </a:solidFill>
                  </a:tcPr>
                </a:tc>
                <a:tc>
                  <a:txBody>
                    <a:bodyPr wrap="square"/>
                    <a:lstStyle/>
                    <a:p>
                      <a:pPr algn="l"/>
                      <a:r>
                        <a:rPr sz="1800" b="0" i="0">
                          <a:solidFill>
                            <a:srgbClr val="B42318"/>
                          </a:solidFill>
                          <a:latin typeface="Segoe UI"/>
                          <a:ea typeface="Segoe UI"/>
                          <a:cs typeface="Segoe UI"/>
                        </a:rPr>
                        <a:t>Memory / allocator</a:t>
                      </a:r>
                    </a:p>
                  </a:txBody>
                  <a:tcPr marL="91440" marR="91440" marT="27432" marB="27432" anchor="ctr">
                    <a:solidFill>
                      <a:srgbClr val="FFFFFF"/>
                    </a:solidFill>
                  </a:tcPr>
                </a:tc>
              </a:tr>
              <a:tr h="457200">
                <a:tc>
                  <a:txBody>
                    <a:bodyPr wrap="square"/>
                    <a:lstStyle/>
                    <a:p>
                      <a:pPr algn="r"/>
                      <a:r>
                        <a:rPr sz="1800" b="0" i="0">
                          <a:solidFill>
                            <a:srgbClr val="222222"/>
                          </a:solidFill>
                          <a:latin typeface="Segoe UI"/>
                          <a:ea typeface="Segoe UI"/>
                          <a:cs typeface="Segoe UI"/>
                        </a:rPr>
                        <a:t>2.74</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__memset_avx2_unaligned_erms</a:t>
                      </a:r>
                    </a:p>
                  </a:txBody>
                  <a:tcPr marL="91440" marR="91440" marT="27432" marB="27432" anchor="ctr">
                    <a:solidFill>
                      <a:srgbClr val="F3F4F6"/>
                    </a:solidFill>
                  </a:tcPr>
                </a:tc>
                <a:tc>
                  <a:txBody>
                    <a:bodyPr wrap="square"/>
                    <a:lstStyle/>
                    <a:p>
                      <a:pPr algn="l"/>
                      <a:r>
                        <a:rPr sz="1800" b="0" i="0">
                          <a:solidFill>
                            <a:srgbClr val="B42318"/>
                          </a:solidFill>
                          <a:latin typeface="Segoe UI"/>
                          <a:ea typeface="Segoe UI"/>
                          <a:cs typeface="Segoe UI"/>
                        </a:rPr>
                        <a:t>Memory / allocator</a:t>
                      </a:r>
                    </a:p>
                  </a:txBody>
                  <a:tcPr marL="91440" marR="91440" marT="27432" marB="27432" anchor="ctr">
                    <a:solidFill>
                      <a:srgbClr val="F3F4F6"/>
                    </a:solidFill>
                  </a:tcPr>
                </a:tc>
              </a:tr>
              <a:tr h="457200">
                <a:tc>
                  <a:txBody>
                    <a:bodyPr wrap="square"/>
                    <a:lstStyle/>
                    <a:p>
                      <a:pPr algn="r"/>
                      <a:r>
                        <a:rPr sz="1800" b="0" i="0">
                          <a:solidFill>
                            <a:srgbClr val="222222"/>
                          </a:solidFill>
                          <a:latin typeface="Segoe UI"/>
                          <a:ea typeface="Segoe UI"/>
                          <a:cs typeface="Segoe UI"/>
                        </a:rPr>
                        <a:t>2.46</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call_function</a:t>
                      </a:r>
                    </a:p>
                  </a:txBody>
                  <a:tcPr marL="91440" marR="91440" marT="27432" marB="27432" anchor="ctr">
                    <a:solidFill>
                      <a:srgbClr val="FFFFFF"/>
                    </a:solidFill>
                  </a:tcPr>
                </a:tc>
                <a:tc>
                  <a:txBody>
                    <a:bodyPr wrap="square"/>
                    <a:lstStyle/>
                    <a:p>
                      <a:pPr algn="l"/>
                      <a:r>
                        <a:rPr sz="1800" b="0" i="0">
                          <a:solidFill>
                            <a:srgbClr val="B45A09"/>
                          </a:solidFill>
                          <a:latin typeface="Segoe UI"/>
                          <a:ea typeface="Segoe UI"/>
                          <a:cs typeface="Segoe UI"/>
                        </a:rPr>
                        <a:t>Algorithmic</a:t>
                      </a:r>
                    </a:p>
                  </a:txBody>
                  <a:tcPr marL="91440" marR="91440" marT="27432" marB="27432" anchor="ctr">
                    <a:solidFill>
                      <a:srgbClr val="FFFFFF"/>
                    </a:solidFill>
                  </a:tcPr>
                </a:tc>
              </a:tr>
              <a:tr h="457200">
                <a:tc>
                  <a:txBody>
                    <a:bodyPr wrap="square"/>
                    <a:lstStyle/>
                    <a:p>
                      <a:pPr algn="r"/>
                      <a:r>
                        <a:rPr sz="1800" b="0" i="0">
                          <a:solidFill>
                            <a:srgbClr val="222222"/>
                          </a:solidFill>
                          <a:latin typeface="Segoe UI"/>
                          <a:ea typeface="Segoe UI"/>
                          <a:cs typeface="Segoe UI"/>
                        </a:rPr>
                        <a:t>2.32</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list_dealloc</a:t>
                      </a:r>
                    </a:p>
                  </a:txBody>
                  <a:tcPr marL="91440" marR="91440" marT="27432" marB="27432" anchor="ctr">
                    <a:solidFill>
                      <a:srgbClr val="F3F4F6"/>
                    </a:solidFill>
                  </a:tcPr>
                </a:tc>
                <a:tc>
                  <a:txBody>
                    <a:bodyPr wrap="square"/>
                    <a:lstStyle/>
                    <a:p>
                      <a:pPr algn="l"/>
                      <a:r>
                        <a:rPr sz="1800" b="0" i="0">
                          <a:solidFill>
                            <a:srgbClr val="B42318"/>
                          </a:solidFill>
                          <a:latin typeface="Segoe UI"/>
                          <a:ea typeface="Segoe UI"/>
                          <a:cs typeface="Segoe UI"/>
                        </a:rPr>
                        <a:t>Memory / allocator</a:t>
                      </a:r>
                    </a:p>
                  </a:txBody>
                  <a:tcPr marL="91440" marR="91440" marT="27432" marB="27432" anchor="ctr">
                    <a:solidFill>
                      <a:srgbClr val="F3F4F6"/>
                    </a:solidFill>
                  </a:tcPr>
                </a:tc>
              </a:tr>
              <a:tr h="457200">
                <a:tc>
                  <a:txBody>
                    <a:bodyPr wrap="square"/>
                    <a:lstStyle/>
                    <a:p>
                      <a:pPr algn="r"/>
                      <a:r>
                        <a:rPr sz="1800" b="0" i="0">
                          <a:solidFill>
                            <a:srgbClr val="222222"/>
                          </a:solidFill>
                          <a:latin typeface="Segoe UI"/>
                          <a:ea typeface="Segoe UI"/>
                          <a:cs typeface="Segoe UI"/>
                        </a:rPr>
                        <a:t>1.92</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list_ass_slice</a:t>
                      </a:r>
                    </a:p>
                  </a:txBody>
                  <a:tcPr marL="91440" marR="91440" marT="27432" marB="27432" anchor="ctr">
                    <a:solidFill>
                      <a:srgbClr val="FFFFFF"/>
                    </a:solidFill>
                  </a:tcPr>
                </a:tc>
                <a:tc>
                  <a:txBody>
                    <a:bodyPr wrap="square"/>
                    <a:lstStyle/>
                    <a:p>
                      <a:pPr algn="l"/>
                      <a:r>
                        <a:rPr sz="1800" b="0" i="0">
                          <a:solidFill>
                            <a:srgbClr val="B42318"/>
                          </a:solidFill>
                          <a:latin typeface="Segoe UI"/>
                          <a:ea typeface="Segoe UI"/>
                          <a:cs typeface="Segoe UI"/>
                        </a:rPr>
                        <a:t>Memory / allocator</a:t>
                      </a:r>
                    </a:p>
                  </a:txBody>
                  <a:tcPr marL="91440" marR="91440" marT="27432" marB="27432" anchor="ctr">
                    <a:solidFill>
                      <a:srgbClr val="FFFFFF"/>
                    </a:solidFill>
                  </a:tcPr>
                </a:tc>
              </a:tr>
              <a:tr h="457200">
                <a:tc>
                  <a:txBody>
                    <a:bodyPr wrap="square"/>
                    <a:lstStyle/>
                    <a:p>
                      <a:pPr algn="r"/>
                      <a:r>
                        <a:rPr sz="1800" b="0" i="0">
                          <a:solidFill>
                            <a:srgbClr val="222222"/>
                          </a:solidFill>
                          <a:latin typeface="Segoe UI"/>
                          <a:ea typeface="Segoe UI"/>
                          <a:cs typeface="Segoe UI"/>
                        </a:rPr>
                        <a:t>1.41</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lookdict_unicode_nodummy</a:t>
                      </a:r>
                    </a:p>
                  </a:txBody>
                  <a:tcPr marL="91440" marR="91440" marT="27432" marB="27432" anchor="ctr">
                    <a:solidFill>
                      <a:srgbClr val="F3F4F6"/>
                    </a:solidFill>
                  </a:tcPr>
                </a:tc>
                <a:tc>
                  <a:txBody>
                    <a:bodyPr wrap="square"/>
                    <a:lstStyle/>
                    <a:p>
                      <a:pPr algn="l"/>
                      <a:r>
                        <a:rPr sz="1800" b="0" i="0">
                          <a:solidFill>
                            <a:srgbClr val="B45A09"/>
                          </a:solidFill>
                          <a:latin typeface="Segoe UI"/>
                          <a:ea typeface="Segoe UI"/>
                          <a:cs typeface="Segoe UI"/>
                        </a:rPr>
                        <a:t>Algorithmic</a:t>
                      </a:r>
                    </a:p>
                  </a:txBody>
                  <a:tcPr marL="91440" marR="91440" marT="27432" marB="27432" anchor="ctr">
                    <a:solidFill>
                      <a:srgbClr val="F3F4F6"/>
                    </a:solidFill>
                  </a:tcPr>
                </a:tc>
              </a:tr>
            </a:tbl>
          </a:graphicData>
        </a:graphic>
      </p:graphicFrame>
      <p:sp>
        <p:nvSpPr>
          <p:cNvPr id="8" name="BODY"/>
          <p:cNvSpPr txBox="1"/>
          <p:nvPr/>
        </p:nvSpPr>
        <p:spPr>
          <a:xfrm>
            <a:off x="548640" y="5532120"/>
            <a:ext cx="7406640" cy="411480"/>
          </a:xfrm>
          <a:prstGeom prst="rect">
            <a:avLst/>
          </a:prstGeom>
          <a:noFill/>
        </p:spPr>
        <p:txBody>
          <a:bodyPr wrap="square" lIns="45720" rIns="45720" anchor="t"/>
          <a:lstStyle/>
          <a:p>
            <a:pPr algn="l">
              <a:lnSpc>
                <a:spcPct val="105000"/>
              </a:lnSpc>
            </a:pPr>
            <a:r>
              <a:rPr sz="1800" b="0" i="0">
                <a:solidFill>
                  <a:srgbClr val="6B7280"/>
                </a:solidFill>
                <a:latin typeface="Segoe UI"/>
                <a:ea typeface="Segoe UI"/>
                <a:cs typeface="Segoe UI"/>
              </a:rPr>
              <a:t>perf report --stdio --no-children -g none  (self time only)</a:t>
            </a:r>
          </a:p>
        </p:txBody>
      </p:sp>
      <p:sp>
        <p:nvSpPr>
          <p:cNvPr id="9" name="Rounded Rectangle 8"/>
          <p:cNvSpPr/>
          <p:nvPr/>
        </p:nvSpPr>
        <p:spPr>
          <a:xfrm>
            <a:off x="8229600" y="1325880"/>
            <a:ext cx="3410712" cy="214884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229600" y="1435608"/>
            <a:ext cx="54864" cy="192938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ODY"/>
          <p:cNvSpPr txBox="1"/>
          <p:nvPr/>
        </p:nvSpPr>
        <p:spPr>
          <a:xfrm>
            <a:off x="8458200" y="1453896"/>
            <a:ext cx="3044952" cy="411480"/>
          </a:xfrm>
          <a:prstGeom prst="rect">
            <a:avLst/>
          </a:prstGeom>
          <a:noFill/>
        </p:spPr>
        <p:txBody>
          <a:bodyPr wrap="square" lIns="45720" rIns="45720" anchor="t"/>
          <a:lstStyle/>
          <a:p>
            <a:pPr algn="l">
              <a:lnSpc>
                <a:spcPct val="105000"/>
              </a:lnSpc>
            </a:pPr>
            <a:r>
              <a:rPr sz="1800" b="1" i="0">
                <a:solidFill>
                  <a:srgbClr val="B42318"/>
                </a:solidFill>
                <a:latin typeface="Segoe UI"/>
                <a:ea typeface="Segoe UI"/>
                <a:cs typeface="Segoe UI"/>
              </a:rPr>
              <a:t>Memory: &gt; 15 %</a:t>
            </a:r>
          </a:p>
        </p:txBody>
      </p:sp>
      <p:sp>
        <p:nvSpPr>
          <p:cNvPr id="12" name="BODY"/>
          <p:cNvSpPr txBox="1"/>
          <p:nvPr/>
        </p:nvSpPr>
        <p:spPr>
          <a:xfrm>
            <a:off x="8412480" y="1892808"/>
            <a:ext cx="3090672" cy="1490472"/>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allocator, memset, list free and slice copy together</a:t>
            </a:r>
          </a:p>
        </p:txBody>
      </p:sp>
      <p:sp>
        <p:nvSpPr>
          <p:cNvPr id="13" name="Rounded Rectangle 12"/>
          <p:cNvSpPr/>
          <p:nvPr/>
        </p:nvSpPr>
        <p:spPr>
          <a:xfrm>
            <a:off x="8229600" y="3657600"/>
            <a:ext cx="3410712" cy="214884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229600" y="3767328"/>
            <a:ext cx="54864" cy="1929384"/>
          </a:xfrm>
          <a:prstGeom prst="rect">
            <a:avLst/>
          </a:prstGeom>
          <a:solidFill>
            <a:srgbClr val="B45A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ODY"/>
          <p:cNvSpPr txBox="1"/>
          <p:nvPr/>
        </p:nvSpPr>
        <p:spPr>
          <a:xfrm>
            <a:off x="8458200" y="3785615"/>
            <a:ext cx="3044952" cy="411480"/>
          </a:xfrm>
          <a:prstGeom prst="rect">
            <a:avLst/>
          </a:prstGeom>
          <a:noFill/>
        </p:spPr>
        <p:txBody>
          <a:bodyPr wrap="square" lIns="45720" rIns="45720" anchor="t"/>
          <a:lstStyle/>
          <a:p>
            <a:pPr algn="l">
              <a:lnSpc>
                <a:spcPct val="105000"/>
              </a:lnSpc>
            </a:pPr>
            <a:r>
              <a:rPr sz="1800" b="1" i="0">
                <a:solidFill>
                  <a:srgbClr val="B45A09"/>
                </a:solidFill>
                <a:latin typeface="Segoe UI"/>
                <a:ea typeface="Segoe UI"/>
                <a:cs typeface="Segoe UI"/>
              </a:rPr>
              <a:t>Algorithmic</a:t>
            </a:r>
          </a:p>
        </p:txBody>
      </p:sp>
      <p:sp>
        <p:nvSpPr>
          <p:cNvPr id="16" name="BODY"/>
          <p:cNvSpPr txBox="1"/>
          <p:nvPr/>
        </p:nvSpPr>
        <p:spPr>
          <a:xfrm>
            <a:off x="8412480" y="4224528"/>
            <a:ext cx="3090672" cy="1490472"/>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one Python call and several attribute lookups per step of a search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Bottlenecks: the code behind the hotspots</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A · pyflate</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7</a:t>
            </a:r>
          </a:p>
        </p:txBody>
      </p:sp>
      <p:sp>
        <p:nvSpPr>
          <p:cNvPr id="7" name="Rounded Rectangle 6"/>
          <p:cNvSpPr/>
          <p:nvPr/>
        </p:nvSpPr>
        <p:spPr>
          <a:xfrm>
            <a:off x="548640" y="1234440"/>
            <a:ext cx="11094415" cy="2852928"/>
          </a:xfrm>
          <a:prstGeom prst="roundRect">
            <a:avLst>
              <a:gd name="adj" fmla="val 2500"/>
            </a:avLst>
          </a:prstGeom>
          <a:solidFill>
            <a:srgbClr val="F6F8FA"/>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57784" y="1563624"/>
            <a:ext cx="11076127" cy="9144"/>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HEAD"/>
          <p:cNvSpPr txBox="1"/>
          <p:nvPr/>
        </p:nvSpPr>
        <p:spPr>
          <a:xfrm>
            <a:off x="658368" y="1271016"/>
            <a:ext cx="10874959" cy="274320"/>
          </a:xfrm>
          <a:prstGeom prst="rect">
            <a:avLst/>
          </a:prstGeom>
          <a:noFill/>
        </p:spPr>
        <p:txBody>
          <a:bodyPr wrap="none" lIns="45720" rIns="45720" anchor="ctr"/>
          <a:lstStyle/>
          <a:p>
            <a:r>
              <a:rPr sz="1100" b="0" i="0">
                <a:solidFill>
                  <a:srgbClr val="6B7280"/>
                </a:solidFill>
                <a:latin typeface="Consolas"/>
                <a:ea typeface="Consolas"/>
                <a:cs typeface="Consolas"/>
              </a:rPr>
              <a:t>run_benchmark.py · HuffmanTable.find_next_symbol · lines 224-235</a:t>
            </a:r>
          </a:p>
        </p:txBody>
      </p:sp>
      <p:sp>
        <p:nvSpPr>
          <p:cNvPr id="10" name="CODEHEAD"/>
          <p:cNvSpPr txBox="1"/>
          <p:nvPr/>
        </p:nvSpPr>
        <p:spPr>
          <a:xfrm>
            <a:off x="7436815" y="1271016"/>
            <a:ext cx="4096512" cy="274320"/>
          </a:xfrm>
          <a:prstGeom prst="rect">
            <a:avLst/>
          </a:prstGeom>
          <a:noFill/>
        </p:spPr>
        <p:txBody>
          <a:bodyPr wrap="square" lIns="45720" rIns="45720" anchor="ctr"/>
          <a:lstStyle/>
          <a:p>
            <a:pPr algn="r"/>
            <a:r>
              <a:rPr sz="1200" b="1" i="0">
                <a:solidFill>
                  <a:srgbClr val="B45A09"/>
                </a:solidFill>
                <a:latin typeface="Segoe UI"/>
                <a:ea typeface="Segoe UI"/>
                <a:cs typeface="Segoe UI"/>
              </a:rPr>
              <a:t>linear scan, runs once per decoded symbol</a:t>
            </a:r>
          </a:p>
        </p:txBody>
      </p:sp>
      <p:sp>
        <p:nvSpPr>
          <p:cNvPr id="11" name="Rectangle 10"/>
          <p:cNvSpPr/>
          <p:nvPr/>
        </p:nvSpPr>
        <p:spPr>
          <a:xfrm>
            <a:off x="603503" y="2235708"/>
            <a:ext cx="10984687" cy="193548"/>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03503" y="3009900"/>
            <a:ext cx="10984687" cy="193548"/>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03503" y="3203448"/>
            <a:ext cx="10984687" cy="193548"/>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ODE"/>
          <p:cNvSpPr txBox="1"/>
          <p:nvPr/>
        </p:nvSpPr>
        <p:spPr>
          <a:xfrm>
            <a:off x="694944" y="1655064"/>
            <a:ext cx="10874959" cy="2523744"/>
          </a:xfrm>
          <a:prstGeom prst="rect">
            <a:avLst/>
          </a:prstGeom>
          <a:noFill/>
        </p:spPr>
        <p:txBody>
          <a:bodyPr wrap="none" lIns="0" rIns="0" tIns="0" bIns="0"/>
          <a:lstStyle/>
          <a:p>
            <a:pPr>
              <a:lnSpc>
                <a:spcPts val="1524"/>
              </a:lnSpc>
              <a:spcBef>
                <a:spcPts val="0"/>
              </a:spcBef>
              <a:spcAft>
                <a:spcPts val="0"/>
              </a:spcAft>
            </a:pPr>
            <a:r>
              <a:rPr sz="1200" b="0" i="0">
                <a:solidFill>
                  <a:srgbClr val="CF222E"/>
                </a:solidFill>
                <a:latin typeface="Consolas"/>
                <a:ea typeface="Consolas"/>
                <a:cs typeface="Consolas"/>
              </a:rPr>
              <a:t>def</a:t>
            </a:r>
            <a:r>
              <a:rPr sz="1200" b="0" i="0">
                <a:solidFill>
                  <a:srgbClr val="24292F"/>
                </a:solidFill>
                <a:latin typeface="Consolas"/>
                <a:ea typeface="Consolas"/>
                <a:cs typeface="Consolas"/>
              </a:rPr>
              <a:t> </a:t>
            </a:r>
            <a:r>
              <a:rPr sz="1200" b="0" i="0">
                <a:solidFill>
                  <a:srgbClr val="8250DF"/>
                </a:solidFill>
                <a:latin typeface="Consolas"/>
                <a:ea typeface="Consolas"/>
                <a:cs typeface="Consolas"/>
              </a:rPr>
              <a:t>find_next_symbol</a:t>
            </a:r>
            <a:r>
              <a:rPr sz="1200" b="0" i="0">
                <a:solidFill>
                  <a:srgbClr val="24292F"/>
                </a:solidFill>
                <a:latin typeface="Consolas"/>
                <a:ea typeface="Consolas"/>
                <a:cs typeface="Consolas"/>
              </a:rPr>
              <a:t>(</a:t>
            </a:r>
            <a:r>
              <a:rPr sz="1200" b="0" i="0">
                <a:solidFill>
                  <a:srgbClr val="8250DF"/>
                </a:solidFill>
                <a:latin typeface="Consolas"/>
                <a:ea typeface="Consolas"/>
                <a:cs typeface="Consolas"/>
              </a:rPr>
              <a:t>self</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field</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8250DF"/>
                </a:solidFill>
                <a:latin typeface="Consolas"/>
                <a:ea typeface="Consolas"/>
                <a:cs typeface="Consolas"/>
              </a:rPr>
              <a:t>reversed</a:t>
            </a:r>
            <a:r>
              <a:rPr sz="1200" b="0" i="0">
                <a:solidFill>
                  <a:srgbClr val="24292F"/>
                </a:solidFill>
                <a:latin typeface="Consolas"/>
                <a:ea typeface="Consolas"/>
                <a:cs typeface="Consolas"/>
              </a:rPr>
              <a:t>=</a:t>
            </a:r>
            <a:r>
              <a:rPr sz="1200" b="0" i="0">
                <a:solidFill>
                  <a:srgbClr val="CF222E"/>
                </a:solidFill>
                <a:latin typeface="Consolas"/>
                <a:ea typeface="Consolas"/>
                <a:cs typeface="Consolas"/>
              </a:rPr>
              <a:t>True</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24292F"/>
                </a:solidFill>
                <a:latin typeface="Consolas"/>
                <a:ea typeface="Consolas"/>
                <a:cs typeface="Consolas"/>
              </a:rPr>
              <a:t>cached_length</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0550AE"/>
                </a:solidFill>
                <a:latin typeface="Consolas"/>
                <a:ea typeface="Consolas"/>
                <a:cs typeface="Consolas"/>
              </a:rPr>
              <a:t>1</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24292F"/>
                </a:solidFill>
                <a:latin typeface="Consolas"/>
                <a:ea typeface="Consolas"/>
                <a:cs typeface="Consolas"/>
              </a:rPr>
              <a:t>cached</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CF222E"/>
                </a:solidFill>
                <a:latin typeface="Consolas"/>
                <a:ea typeface="Consolas"/>
                <a:cs typeface="Consolas"/>
              </a:rPr>
              <a:t>None</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CF222E"/>
                </a:solidFill>
                <a:latin typeface="Consolas"/>
                <a:ea typeface="Consolas"/>
                <a:cs typeface="Consolas"/>
              </a:rPr>
              <a:t>for</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x</a:t>
            </a:r>
            <a:r>
              <a:rPr sz="1200" b="0" i="0">
                <a:solidFill>
                  <a:srgbClr val="24292F"/>
                </a:solidFill>
                <a:latin typeface="Consolas"/>
                <a:ea typeface="Consolas"/>
                <a:cs typeface="Consolas"/>
              </a:rPr>
              <a:t> </a:t>
            </a:r>
            <a:r>
              <a:rPr sz="1200" b="0" i="0">
                <a:solidFill>
                  <a:srgbClr val="CF222E"/>
                </a:solidFill>
                <a:latin typeface="Consolas"/>
                <a:ea typeface="Consolas"/>
                <a:cs typeface="Consolas"/>
              </a:rPr>
              <a:t>in</a:t>
            </a:r>
            <a:r>
              <a:rPr sz="1200" b="0" i="0">
                <a:solidFill>
                  <a:srgbClr val="24292F"/>
                </a:solidFill>
                <a:latin typeface="Consolas"/>
                <a:ea typeface="Consolas"/>
                <a:cs typeface="Consolas"/>
              </a:rPr>
              <a:t> </a:t>
            </a:r>
            <a:r>
              <a:rPr sz="1200" b="0" i="0">
                <a:solidFill>
                  <a:srgbClr val="8250DF"/>
                </a:solidFill>
                <a:latin typeface="Consolas"/>
                <a:ea typeface="Consolas"/>
                <a:cs typeface="Consolas"/>
              </a:rPr>
              <a:t>self</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table</a:t>
            </a:r>
            <a:r>
              <a:rPr sz="1200" b="0" i="0">
                <a:solidFill>
                  <a:srgbClr val="24292F"/>
                </a:solidFill>
                <a:latin typeface="Consolas"/>
                <a:ea typeface="Consolas"/>
                <a:cs typeface="Consolas"/>
              </a:rPr>
              <a:t>:</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CF222E"/>
                </a:solidFill>
                <a:latin typeface="Consolas"/>
                <a:ea typeface="Consolas"/>
                <a:cs typeface="Consolas"/>
              </a:rPr>
              <a:t>if</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cached_length</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x</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bits</a:t>
            </a:r>
            <a:r>
              <a:rPr sz="1200" b="0" i="0">
                <a:solidFill>
                  <a:srgbClr val="24292F"/>
                </a:solidFill>
                <a:latin typeface="Consolas"/>
                <a:ea typeface="Consolas"/>
                <a:cs typeface="Consolas"/>
              </a:rPr>
              <a:t>:</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24292F"/>
                </a:solidFill>
                <a:latin typeface="Consolas"/>
                <a:ea typeface="Consolas"/>
                <a:cs typeface="Consolas"/>
              </a:rPr>
              <a:t>cached</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field</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snoopbits</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x</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bits</a:t>
            </a:r>
            <a:r>
              <a:rPr sz="1200" b="0" i="0">
                <a:solidFill>
                  <a:srgbClr val="24292F"/>
                </a:solidFill>
                <a:latin typeface="Consolas"/>
                <a:ea typeface="Consolas"/>
                <a:cs typeface="Consolas"/>
              </a:rPr>
              <a:t>)</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24292F"/>
                </a:solidFill>
                <a:latin typeface="Consolas"/>
                <a:ea typeface="Consolas"/>
                <a:cs typeface="Consolas"/>
              </a:rPr>
              <a:t>cached_length</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x</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bits</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CF222E"/>
                </a:solidFill>
                <a:latin typeface="Consolas"/>
                <a:ea typeface="Consolas"/>
                <a:cs typeface="Consolas"/>
              </a:rPr>
              <a:t>if</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8250DF"/>
                </a:solidFill>
                <a:latin typeface="Consolas"/>
                <a:ea typeface="Consolas"/>
                <a:cs typeface="Consolas"/>
              </a:rPr>
              <a:t>reversed</a:t>
            </a:r>
            <a:r>
              <a:rPr sz="1200" b="0" i="0">
                <a:solidFill>
                  <a:srgbClr val="24292F"/>
                </a:solidFill>
                <a:latin typeface="Consolas"/>
                <a:ea typeface="Consolas"/>
                <a:cs typeface="Consolas"/>
              </a:rPr>
              <a:t> </a:t>
            </a:r>
            <a:r>
              <a:rPr sz="1200" b="0" i="0">
                <a:solidFill>
                  <a:srgbClr val="CF222E"/>
                </a:solidFill>
                <a:latin typeface="Consolas"/>
                <a:ea typeface="Consolas"/>
                <a:cs typeface="Consolas"/>
              </a:rPr>
              <a:t>and</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x</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reverse_symbol</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cached</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CF222E"/>
                </a:solidFill>
                <a:latin typeface="Consolas"/>
                <a:ea typeface="Consolas"/>
                <a:cs typeface="Consolas"/>
              </a:rPr>
              <a:t>or</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CF222E"/>
                </a:solidFill>
                <a:latin typeface="Consolas"/>
                <a:ea typeface="Consolas"/>
                <a:cs typeface="Consolas"/>
              </a:rPr>
              <a:t>not</a:t>
            </a:r>
            <a:r>
              <a:rPr sz="1200" b="0" i="0">
                <a:solidFill>
                  <a:srgbClr val="24292F"/>
                </a:solidFill>
                <a:latin typeface="Consolas"/>
                <a:ea typeface="Consolas"/>
                <a:cs typeface="Consolas"/>
              </a:rPr>
              <a:t> </a:t>
            </a:r>
            <a:r>
              <a:rPr sz="1200" b="0" i="0">
                <a:solidFill>
                  <a:srgbClr val="8250DF"/>
                </a:solidFill>
                <a:latin typeface="Consolas"/>
                <a:ea typeface="Consolas"/>
                <a:cs typeface="Consolas"/>
              </a:rPr>
              <a:t>reversed</a:t>
            </a:r>
            <a:r>
              <a:rPr sz="1200" b="0" i="0">
                <a:solidFill>
                  <a:srgbClr val="24292F"/>
                </a:solidFill>
                <a:latin typeface="Consolas"/>
                <a:ea typeface="Consolas"/>
                <a:cs typeface="Consolas"/>
              </a:rPr>
              <a:t> </a:t>
            </a:r>
            <a:r>
              <a:rPr sz="1200" b="0" i="0">
                <a:solidFill>
                  <a:srgbClr val="CF222E"/>
                </a:solidFill>
                <a:latin typeface="Consolas"/>
                <a:ea typeface="Consolas"/>
                <a:cs typeface="Consolas"/>
              </a:rPr>
              <a:t>and</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x</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symbol</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cached</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24292F"/>
                </a:solidFill>
                <a:latin typeface="Consolas"/>
                <a:ea typeface="Consolas"/>
                <a:cs typeface="Consolas"/>
              </a:rPr>
              <a:t>field</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readbits</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x</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bits</a:t>
            </a:r>
            <a:r>
              <a:rPr sz="1200" b="0" i="0">
                <a:solidFill>
                  <a:srgbClr val="24292F"/>
                </a:solidFill>
                <a:latin typeface="Consolas"/>
                <a:ea typeface="Consolas"/>
                <a:cs typeface="Consolas"/>
              </a:rPr>
              <a:t>)</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CF222E"/>
                </a:solidFill>
                <a:latin typeface="Consolas"/>
                <a:ea typeface="Consolas"/>
                <a:cs typeface="Consolas"/>
              </a:rPr>
              <a:t>return</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x</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code</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CF222E"/>
                </a:solidFill>
                <a:latin typeface="Consolas"/>
                <a:ea typeface="Consolas"/>
                <a:cs typeface="Consolas"/>
              </a:rPr>
              <a:t>raise</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Exception</a:t>
            </a:r>
            <a:r>
              <a:rPr sz="1200" b="0" i="0">
                <a:solidFill>
                  <a:srgbClr val="24292F"/>
                </a:solidFill>
                <a:latin typeface="Consolas"/>
                <a:ea typeface="Consolas"/>
                <a:cs typeface="Consolas"/>
              </a:rPr>
              <a:t>(</a:t>
            </a:r>
            <a:r>
              <a:rPr sz="1200" b="0" i="0">
                <a:solidFill>
                  <a:srgbClr val="0A3069"/>
                </a:solidFill>
                <a:latin typeface="Consolas"/>
                <a:ea typeface="Consolas"/>
                <a:cs typeface="Consolas"/>
              </a:rPr>
              <a:t>"</a:t>
            </a:r>
            <a:r>
              <a:rPr sz="1200" b="0" i="0">
                <a:solidFill>
                  <a:srgbClr val="0A3069"/>
                </a:solidFill>
                <a:latin typeface="Consolas"/>
                <a:ea typeface="Consolas"/>
                <a:cs typeface="Consolas"/>
              </a:rPr>
              <a:t>unfound symbol, even after end of table @</a:t>
            </a:r>
            <a:r>
              <a:rPr sz="1200" b="0" i="0">
                <a:solidFill>
                  <a:srgbClr val="0A3069"/>
                </a:solidFill>
                <a:latin typeface="Consolas"/>
                <a:ea typeface="Consolas"/>
                <a:cs typeface="Consolas"/>
              </a:rPr>
              <a:t>%r</a:t>
            </a:r>
            <a:r>
              <a:rPr sz="1200" b="0" i="0">
                <a:solidFill>
                  <a:srgbClr val="0A3069"/>
                </a:solidFill>
                <a:latin typeface="Consolas"/>
                <a:ea typeface="Consolas"/>
                <a:cs typeface="Consolas"/>
              </a:rPr>
              <a:t>"</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field</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tell</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a:t>
            </a:r>
          </a:p>
        </p:txBody>
      </p:sp>
      <p:sp>
        <p:nvSpPr>
          <p:cNvPr id="15" name="Rounded Rectangle 14"/>
          <p:cNvSpPr/>
          <p:nvPr/>
        </p:nvSpPr>
        <p:spPr>
          <a:xfrm>
            <a:off x="548640" y="4224528"/>
            <a:ext cx="7086600" cy="2078736"/>
          </a:xfrm>
          <a:prstGeom prst="roundRect">
            <a:avLst>
              <a:gd name="adj" fmla="val 2500"/>
            </a:avLst>
          </a:prstGeom>
          <a:solidFill>
            <a:srgbClr val="F6F8FA"/>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57784" y="4553712"/>
            <a:ext cx="7068312" cy="9144"/>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ODEHEAD"/>
          <p:cNvSpPr txBox="1"/>
          <p:nvPr/>
        </p:nvSpPr>
        <p:spPr>
          <a:xfrm>
            <a:off x="658368" y="4261104"/>
            <a:ext cx="6867144" cy="274320"/>
          </a:xfrm>
          <a:prstGeom prst="rect">
            <a:avLst/>
          </a:prstGeom>
          <a:noFill/>
        </p:spPr>
        <p:txBody>
          <a:bodyPr wrap="none" lIns="45720" rIns="45720" anchor="ctr"/>
          <a:lstStyle/>
          <a:p>
            <a:r>
              <a:rPr sz="1100" b="0" i="0">
                <a:solidFill>
                  <a:srgbClr val="6B7280"/>
                </a:solidFill>
                <a:latin typeface="Consolas"/>
                <a:ea typeface="Consolas"/>
                <a:cs typeface="Consolas"/>
              </a:rPr>
              <a:t>run_benchmark.py · RLE decode · lines 448-455</a:t>
            </a:r>
          </a:p>
        </p:txBody>
      </p:sp>
      <p:sp>
        <p:nvSpPr>
          <p:cNvPr id="18" name="CODEHEAD"/>
          <p:cNvSpPr txBox="1"/>
          <p:nvPr/>
        </p:nvSpPr>
        <p:spPr>
          <a:xfrm>
            <a:off x="4336541" y="4261104"/>
            <a:ext cx="3188970" cy="274320"/>
          </a:xfrm>
          <a:prstGeom prst="rect">
            <a:avLst/>
          </a:prstGeom>
          <a:noFill/>
        </p:spPr>
        <p:txBody>
          <a:bodyPr wrap="square" lIns="45720" rIns="45720" anchor="ctr"/>
          <a:lstStyle/>
          <a:p>
            <a:pPr algn="r"/>
            <a:r>
              <a:rPr sz="1200" b="1" i="0">
                <a:solidFill>
                  <a:srgbClr val="B42318"/>
                </a:solidFill>
                <a:latin typeface="Segoe UI"/>
                <a:ea typeface="Segoe UI"/>
                <a:cs typeface="Segoe UI"/>
              </a:rPr>
              <a:t>new bytes object per output byte</a:t>
            </a:r>
          </a:p>
        </p:txBody>
      </p:sp>
      <p:sp>
        <p:nvSpPr>
          <p:cNvPr id="19" name="Rectangle 18"/>
          <p:cNvSpPr/>
          <p:nvPr/>
        </p:nvSpPr>
        <p:spPr>
          <a:xfrm>
            <a:off x="603503" y="5225796"/>
            <a:ext cx="6976872" cy="193548"/>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03503" y="5806440"/>
            <a:ext cx="6976872" cy="193548"/>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ODE"/>
          <p:cNvSpPr txBox="1"/>
          <p:nvPr/>
        </p:nvSpPr>
        <p:spPr>
          <a:xfrm>
            <a:off x="694944" y="4645152"/>
            <a:ext cx="6867144" cy="1749552"/>
          </a:xfrm>
          <a:prstGeom prst="rect">
            <a:avLst/>
          </a:prstGeom>
          <a:noFill/>
        </p:spPr>
        <p:txBody>
          <a:bodyPr wrap="none" lIns="0" rIns="0" tIns="0" bIns="0"/>
          <a:lstStyle/>
          <a:p>
            <a:pPr>
              <a:lnSpc>
                <a:spcPts val="1524"/>
              </a:lnSpc>
              <a:spcBef>
                <a:spcPts val="0"/>
              </a:spcBef>
              <a:spcAft>
                <a:spcPts val="0"/>
              </a:spcAft>
            </a:pPr>
            <a:r>
              <a:rPr sz="1200" b="0" i="1">
                <a:solidFill>
                  <a:srgbClr val="6E7781"/>
                </a:solidFill>
                <a:latin typeface="Consolas"/>
                <a:ea typeface="Consolas"/>
                <a:cs typeface="Consolas"/>
              </a:rPr>
              <a:t># Pointless/irritating run-length encoding step</a:t>
            </a:r>
          </a:p>
          <a:p>
            <a:pPr>
              <a:lnSpc>
                <a:spcPts val="1524"/>
              </a:lnSpc>
              <a:spcBef>
                <a:spcPts val="0"/>
              </a:spcBef>
              <a:spcAft>
                <a:spcPts val="0"/>
              </a:spcAft>
            </a:pPr>
            <a:r>
              <a:rPr sz="1200" b="0" i="0">
                <a:solidFill>
                  <a:srgbClr val="CF222E"/>
                </a:solidFill>
                <a:latin typeface="Consolas"/>
                <a:ea typeface="Consolas"/>
                <a:cs typeface="Consolas"/>
              </a:rPr>
              <a:t>while</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i</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&lt;</a:t>
            </a:r>
            <a:r>
              <a:rPr sz="1200" b="0" i="0">
                <a:solidFill>
                  <a:srgbClr val="24292F"/>
                </a:solidFill>
                <a:latin typeface="Consolas"/>
                <a:ea typeface="Consolas"/>
                <a:cs typeface="Consolas"/>
              </a:rPr>
              <a:t> </a:t>
            </a:r>
            <a:r>
              <a:rPr sz="1200" b="0" i="0">
                <a:solidFill>
                  <a:srgbClr val="8250DF"/>
                </a:solidFill>
                <a:latin typeface="Consolas"/>
                <a:ea typeface="Consolas"/>
                <a:cs typeface="Consolas"/>
              </a:rPr>
              <a:t>len</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nearly_there</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CF222E"/>
                </a:solidFill>
                <a:latin typeface="Consolas"/>
                <a:ea typeface="Consolas"/>
                <a:cs typeface="Consolas"/>
              </a:rPr>
              <a:t>if</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i</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&lt;</a:t>
            </a:r>
            <a:r>
              <a:rPr sz="1200" b="0" i="0">
                <a:solidFill>
                  <a:srgbClr val="24292F"/>
                </a:solidFill>
                <a:latin typeface="Consolas"/>
                <a:ea typeface="Consolas"/>
                <a:cs typeface="Consolas"/>
              </a:rPr>
              <a:t> </a:t>
            </a:r>
            <a:r>
              <a:rPr sz="1200" b="0" i="0">
                <a:solidFill>
                  <a:srgbClr val="8250DF"/>
                </a:solidFill>
                <a:latin typeface="Consolas"/>
                <a:ea typeface="Consolas"/>
                <a:cs typeface="Consolas"/>
              </a:rPr>
              <a:t>len</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nearly_there</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0550AE"/>
                </a:solidFill>
                <a:latin typeface="Consolas"/>
                <a:ea typeface="Consolas"/>
                <a:cs typeface="Consolas"/>
              </a:rPr>
              <a:t>4</a:t>
            </a:r>
            <a:r>
              <a:rPr sz="1200" b="0" i="0">
                <a:solidFill>
                  <a:srgbClr val="24292F"/>
                </a:solidFill>
                <a:latin typeface="Consolas"/>
                <a:ea typeface="Consolas"/>
                <a:cs typeface="Consolas"/>
              </a:rPr>
              <a:t> </a:t>
            </a:r>
            <a:r>
              <a:rPr sz="1200" b="0" i="0">
                <a:solidFill>
                  <a:srgbClr val="CF222E"/>
                </a:solidFill>
                <a:latin typeface="Consolas"/>
                <a:ea typeface="Consolas"/>
                <a:cs typeface="Consolas"/>
              </a:rPr>
              <a:t>and</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nt</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i</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nt</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i</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0550AE"/>
                </a:solidFill>
                <a:latin typeface="Consolas"/>
                <a:ea typeface="Consolas"/>
                <a:cs typeface="Consolas"/>
              </a:rPr>
              <a:t>1</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nt</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i</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0550AE"/>
                </a:solidFill>
                <a:latin typeface="Consolas"/>
                <a:ea typeface="Consolas"/>
                <a:cs typeface="Consolas"/>
              </a:rPr>
              <a:t>2</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nt</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i</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0550AE"/>
                </a:solidFill>
                <a:latin typeface="Consolas"/>
                <a:ea typeface="Consolas"/>
                <a:cs typeface="Consolas"/>
              </a:rPr>
              <a:t>3</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24292F"/>
                </a:solidFill>
                <a:latin typeface="Consolas"/>
                <a:ea typeface="Consolas"/>
                <a:cs typeface="Consolas"/>
              </a:rPr>
              <a:t>out</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append</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nearly_there</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i</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i</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0550AE"/>
                </a:solidFill>
                <a:latin typeface="Consolas"/>
                <a:ea typeface="Consolas"/>
                <a:cs typeface="Consolas"/>
              </a:rPr>
              <a:t>1</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8250DF"/>
                </a:solidFill>
                <a:latin typeface="Consolas"/>
                <a:ea typeface="Consolas"/>
                <a:cs typeface="Consolas"/>
              </a:rPr>
              <a:t>ord</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nearly_there</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i</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0550AE"/>
                </a:solidFill>
                <a:latin typeface="Consolas"/>
                <a:ea typeface="Consolas"/>
                <a:cs typeface="Consolas"/>
              </a:rPr>
              <a:t>4</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i</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0550AE"/>
                </a:solidFill>
                <a:latin typeface="Consolas"/>
                <a:ea typeface="Consolas"/>
                <a:cs typeface="Consolas"/>
              </a:rPr>
              <a:t>5</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0550AE"/>
                </a:solidFill>
                <a:latin typeface="Consolas"/>
                <a:ea typeface="Consolas"/>
                <a:cs typeface="Consolas"/>
              </a:rPr>
              <a:t>4</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24292F"/>
                </a:solidFill>
                <a:latin typeface="Consolas"/>
                <a:ea typeface="Consolas"/>
                <a:cs typeface="Consolas"/>
              </a:rPr>
              <a:t>i</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0550AE"/>
                </a:solidFill>
                <a:latin typeface="Consolas"/>
                <a:ea typeface="Consolas"/>
                <a:cs typeface="Consolas"/>
              </a:rPr>
              <a:t>5</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CF222E"/>
                </a:solidFill>
                <a:latin typeface="Consolas"/>
                <a:ea typeface="Consolas"/>
                <a:cs typeface="Consolas"/>
              </a:rPr>
              <a:t>else</a:t>
            </a:r>
            <a:r>
              <a:rPr sz="1200" b="0" i="0">
                <a:solidFill>
                  <a:srgbClr val="24292F"/>
                </a:solidFill>
                <a:latin typeface="Consolas"/>
                <a:ea typeface="Consolas"/>
                <a:cs typeface="Consolas"/>
              </a:rPr>
              <a:t>:</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24292F"/>
                </a:solidFill>
                <a:latin typeface="Consolas"/>
                <a:ea typeface="Consolas"/>
                <a:cs typeface="Consolas"/>
              </a:rPr>
              <a:t>out</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append</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nearly_there</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i</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i</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0550AE"/>
                </a:solidFill>
                <a:latin typeface="Consolas"/>
                <a:ea typeface="Consolas"/>
                <a:cs typeface="Consolas"/>
              </a:rPr>
              <a:t>1</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24292F"/>
                </a:solidFill>
                <a:latin typeface="Consolas"/>
                <a:ea typeface="Consolas"/>
                <a:cs typeface="Consolas"/>
              </a:rPr>
              <a:t>i</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0550AE"/>
                </a:solidFill>
                <a:latin typeface="Consolas"/>
                <a:ea typeface="Consolas"/>
                <a:cs typeface="Consolas"/>
              </a:rPr>
              <a:t>1</a:t>
            </a:r>
          </a:p>
        </p:txBody>
      </p:sp>
      <p:sp>
        <p:nvSpPr>
          <p:cNvPr id="22" name="Rounded Rectangle 21"/>
          <p:cNvSpPr/>
          <p:nvPr/>
        </p:nvSpPr>
        <p:spPr>
          <a:xfrm>
            <a:off x="7818120" y="4224528"/>
            <a:ext cx="3822191" cy="917448"/>
          </a:xfrm>
          <a:prstGeom prst="roundRect">
            <a:avLst>
              <a:gd name="adj" fmla="val 2500"/>
            </a:avLst>
          </a:prstGeom>
          <a:solidFill>
            <a:srgbClr val="F6F8FA"/>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827264" y="4553712"/>
            <a:ext cx="3803904" cy="9144"/>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ODEHEAD"/>
          <p:cNvSpPr txBox="1"/>
          <p:nvPr/>
        </p:nvSpPr>
        <p:spPr>
          <a:xfrm>
            <a:off x="7927848" y="4261104"/>
            <a:ext cx="3602735" cy="274320"/>
          </a:xfrm>
          <a:prstGeom prst="rect">
            <a:avLst/>
          </a:prstGeom>
          <a:noFill/>
        </p:spPr>
        <p:txBody>
          <a:bodyPr wrap="none" lIns="45720" rIns="45720" anchor="ctr"/>
          <a:lstStyle/>
          <a:p>
            <a:r>
              <a:rPr sz="1100" b="0" i="0">
                <a:solidFill>
                  <a:srgbClr val="6B7280"/>
                </a:solidFill>
                <a:latin typeface="Consolas"/>
                <a:ea typeface="Consolas"/>
                <a:cs typeface="Consolas"/>
              </a:rPr>
              <a:t>move_to_front · 288-289</a:t>
            </a:r>
          </a:p>
        </p:txBody>
      </p:sp>
      <p:sp>
        <p:nvSpPr>
          <p:cNvPr id="25" name="CODEHEAD"/>
          <p:cNvSpPr txBox="1"/>
          <p:nvPr/>
        </p:nvSpPr>
        <p:spPr>
          <a:xfrm>
            <a:off x="9810597" y="4261104"/>
            <a:ext cx="1719986" cy="274320"/>
          </a:xfrm>
          <a:prstGeom prst="rect">
            <a:avLst/>
          </a:prstGeom>
          <a:noFill/>
        </p:spPr>
        <p:txBody>
          <a:bodyPr wrap="square" lIns="45720" rIns="45720" anchor="ctr"/>
          <a:lstStyle/>
          <a:p>
            <a:pPr algn="r"/>
            <a:r>
              <a:rPr sz="1200" b="1" i="0">
                <a:solidFill>
                  <a:srgbClr val="B42318"/>
                </a:solidFill>
                <a:latin typeface="Segoe UI"/>
                <a:ea typeface="Segoe UI"/>
                <a:cs typeface="Segoe UI"/>
              </a:rPr>
              <a:t>new list per symbol</a:t>
            </a:r>
          </a:p>
        </p:txBody>
      </p:sp>
      <p:sp>
        <p:nvSpPr>
          <p:cNvPr id="26" name="Rectangle 25"/>
          <p:cNvSpPr/>
          <p:nvPr/>
        </p:nvSpPr>
        <p:spPr>
          <a:xfrm>
            <a:off x="7872984" y="4838700"/>
            <a:ext cx="3712463" cy="193548"/>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ODE"/>
          <p:cNvSpPr txBox="1"/>
          <p:nvPr/>
        </p:nvSpPr>
        <p:spPr>
          <a:xfrm>
            <a:off x="7964424" y="4645152"/>
            <a:ext cx="3602735" cy="588264"/>
          </a:xfrm>
          <a:prstGeom prst="rect">
            <a:avLst/>
          </a:prstGeom>
          <a:noFill/>
        </p:spPr>
        <p:txBody>
          <a:bodyPr wrap="none" lIns="0" rIns="0" tIns="0" bIns="0"/>
          <a:lstStyle/>
          <a:p>
            <a:pPr>
              <a:lnSpc>
                <a:spcPts val="1524"/>
              </a:lnSpc>
              <a:spcBef>
                <a:spcPts val="0"/>
              </a:spcBef>
              <a:spcAft>
                <a:spcPts val="0"/>
              </a:spcAft>
            </a:pPr>
            <a:r>
              <a:rPr sz="1200" b="0" i="0">
                <a:solidFill>
                  <a:srgbClr val="CF222E"/>
                </a:solidFill>
                <a:latin typeface="Consolas"/>
                <a:ea typeface="Consolas"/>
                <a:cs typeface="Consolas"/>
              </a:rPr>
              <a:t>def</a:t>
            </a:r>
            <a:r>
              <a:rPr sz="1200" b="0" i="0">
                <a:solidFill>
                  <a:srgbClr val="24292F"/>
                </a:solidFill>
                <a:latin typeface="Consolas"/>
                <a:ea typeface="Consolas"/>
                <a:cs typeface="Consolas"/>
              </a:rPr>
              <a:t> </a:t>
            </a:r>
            <a:r>
              <a:rPr sz="1200" b="0" i="0">
                <a:solidFill>
                  <a:srgbClr val="8250DF"/>
                </a:solidFill>
                <a:latin typeface="Consolas"/>
                <a:ea typeface="Consolas"/>
                <a:cs typeface="Consolas"/>
              </a:rPr>
              <a:t>move_to_front</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l</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c</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24292F"/>
                </a:solidFill>
                <a:latin typeface="Consolas"/>
                <a:ea typeface="Consolas"/>
                <a:cs typeface="Consolas"/>
              </a:rPr>
              <a:t>l</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l</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c</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c</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0550AE"/>
                </a:solidFill>
                <a:latin typeface="Consolas"/>
                <a:ea typeface="Consolas"/>
                <a:cs typeface="Consolas"/>
              </a:rPr>
              <a:t>1</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l</a:t>
            </a:r>
            <a:r>
              <a:rPr sz="1200" b="0" i="0">
                <a:solidFill>
                  <a:srgbClr val="24292F"/>
                </a:solidFill>
                <a:latin typeface="Consolas"/>
                <a:ea typeface="Consolas"/>
                <a:cs typeface="Consolas"/>
              </a:rPr>
              <a:t>[</a:t>
            </a:r>
            <a:r>
              <a:rPr sz="1200" b="0" i="0">
                <a:solidFill>
                  <a:srgbClr val="0550AE"/>
                </a:solidFill>
                <a:latin typeface="Consolas"/>
                <a:ea typeface="Consolas"/>
                <a:cs typeface="Consolas"/>
              </a:rPr>
              <a:t>0</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c</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l</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c</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0550AE"/>
                </a:solidFill>
                <a:latin typeface="Consolas"/>
                <a:ea typeface="Consolas"/>
                <a:cs typeface="Consolas"/>
              </a:rPr>
              <a:t>1</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Bottlenecks: root cause</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A · pyflate</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8</a:t>
            </a:r>
          </a:p>
        </p:txBody>
      </p:sp>
      <p:sp>
        <p:nvSpPr>
          <p:cNvPr id="7" name="Rounded Rectangle 6"/>
          <p:cNvSpPr/>
          <p:nvPr/>
        </p:nvSpPr>
        <p:spPr>
          <a:xfrm>
            <a:off x="548640" y="1325880"/>
            <a:ext cx="5440680" cy="283464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435608"/>
            <a:ext cx="54864" cy="2615184"/>
          </a:xfrm>
          <a:prstGeom prst="rect">
            <a:avLst/>
          </a:prstGeom>
          <a:solidFill>
            <a:srgbClr val="B45A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ODY"/>
          <p:cNvSpPr txBox="1"/>
          <p:nvPr/>
        </p:nvSpPr>
        <p:spPr>
          <a:xfrm>
            <a:off x="777240" y="1453896"/>
            <a:ext cx="5074920" cy="411480"/>
          </a:xfrm>
          <a:prstGeom prst="rect">
            <a:avLst/>
          </a:prstGeom>
          <a:noFill/>
        </p:spPr>
        <p:txBody>
          <a:bodyPr wrap="square" lIns="45720" rIns="45720" anchor="t"/>
          <a:lstStyle/>
          <a:p>
            <a:pPr algn="l">
              <a:lnSpc>
                <a:spcPct val="105000"/>
              </a:lnSpc>
            </a:pPr>
            <a:r>
              <a:rPr sz="1800" b="1" i="0">
                <a:solidFill>
                  <a:srgbClr val="B45A09"/>
                </a:solidFill>
                <a:latin typeface="Segoe UI"/>
                <a:ea typeface="Segoe UI"/>
                <a:cs typeface="Segoe UI"/>
              </a:rPr>
              <a:t>1 · Algorithmic: O(n) Huffman search</a:t>
            </a:r>
          </a:p>
        </p:txBody>
      </p:sp>
      <p:sp>
        <p:nvSpPr>
          <p:cNvPr id="10" name="BODY"/>
          <p:cNvSpPr txBox="1"/>
          <p:nvPr/>
        </p:nvSpPr>
        <p:spPr>
          <a:xfrm>
            <a:off x="731520" y="1892808"/>
            <a:ext cx="5120640" cy="2176272"/>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Every decoded symbol scans the symbol table from the start</a:t>
            </a:r>
          </a:p>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Cost grows with table size × symbols decoded</a:t>
            </a:r>
          </a:p>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Shows up as call_function 2.46 %, lookdict 1.41 %, PyTuple_GetItem 1.39 %, binary_op1 1.29 %</a:t>
            </a:r>
          </a:p>
        </p:txBody>
      </p:sp>
      <p:sp>
        <p:nvSpPr>
          <p:cNvPr id="11" name="Rounded Rectangle 10"/>
          <p:cNvSpPr/>
          <p:nvPr/>
        </p:nvSpPr>
        <p:spPr>
          <a:xfrm>
            <a:off x="6199631" y="1325880"/>
            <a:ext cx="5440680" cy="283464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199631" y="1435608"/>
            <a:ext cx="54864" cy="261518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ODY"/>
          <p:cNvSpPr txBox="1"/>
          <p:nvPr/>
        </p:nvSpPr>
        <p:spPr>
          <a:xfrm>
            <a:off x="6428231" y="1453896"/>
            <a:ext cx="5074920" cy="411480"/>
          </a:xfrm>
          <a:prstGeom prst="rect">
            <a:avLst/>
          </a:prstGeom>
          <a:noFill/>
        </p:spPr>
        <p:txBody>
          <a:bodyPr wrap="square" lIns="45720" rIns="45720" anchor="t"/>
          <a:lstStyle/>
          <a:p>
            <a:pPr algn="l">
              <a:lnSpc>
                <a:spcPct val="105000"/>
              </a:lnSpc>
            </a:pPr>
            <a:r>
              <a:rPr sz="1800" b="1" i="0">
                <a:solidFill>
                  <a:srgbClr val="B42318"/>
                </a:solidFill>
                <a:latin typeface="Segoe UI"/>
                <a:ea typeface="Segoe UI"/>
                <a:cs typeface="Segoe UI"/>
              </a:rPr>
              <a:t>2 · Memory: allocation churn</a:t>
            </a:r>
          </a:p>
        </p:txBody>
      </p:sp>
      <p:sp>
        <p:nvSpPr>
          <p:cNvPr id="14" name="BODY"/>
          <p:cNvSpPr txBox="1"/>
          <p:nvPr/>
        </p:nvSpPr>
        <p:spPr>
          <a:xfrm>
            <a:off x="6382512" y="1892808"/>
            <a:ext cx="5120640" cy="2176272"/>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move_to_front rebuilds the list on every symbol</a:t>
            </a:r>
          </a:p>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RLE creates one tiny bytes object per output byte</a:t>
            </a:r>
          </a:p>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Allocator frames add up to more than 15 % of runtime</a:t>
            </a:r>
          </a:p>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7.0 % cache misses, ~863K page-fault samples</a:t>
            </a:r>
          </a:p>
        </p:txBody>
      </p:sp>
      <p:sp>
        <p:nvSpPr>
          <p:cNvPr id="15" name="Rounded Rectangle 14"/>
          <p:cNvSpPr/>
          <p:nvPr/>
        </p:nvSpPr>
        <p:spPr>
          <a:xfrm>
            <a:off x="548640" y="4434840"/>
            <a:ext cx="11094415" cy="868680"/>
          </a:xfrm>
          <a:prstGeom prst="roundRect">
            <a:avLst>
              <a:gd name="adj" fmla="val 6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ODY"/>
          <p:cNvSpPr txBox="1"/>
          <p:nvPr/>
        </p:nvSpPr>
        <p:spPr>
          <a:xfrm>
            <a:off x="822959" y="4480560"/>
            <a:ext cx="10545775" cy="777240"/>
          </a:xfrm>
          <a:prstGeom prst="rect">
            <a:avLst/>
          </a:prstGeom>
          <a:noFill/>
        </p:spPr>
        <p:txBody>
          <a:bodyPr wrap="square" lIns="45720" rIns="45720" anchor="ctr"/>
          <a:lstStyle/>
          <a:p>
            <a:pPr algn="l">
              <a:lnSpc>
                <a:spcPct val="105000"/>
              </a:lnSpc>
            </a:pPr>
            <a:r>
              <a:rPr sz="1800" b="1" i="0">
                <a:solidFill>
                  <a:srgbClr val="FFFFFF"/>
                </a:solidFill>
                <a:latin typeface="Segoe UI"/>
                <a:ea typeface="Segoe UI"/>
                <a:cs typeface="Segoe UI"/>
              </a:rPr>
              <a:t>Both costs exist only because bzip2 is re-implemented in pure Python, one object at a 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Optimization: use the C bz2 module</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A · pyflate</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9</a:t>
            </a:r>
          </a:p>
        </p:txBody>
      </p:sp>
      <p:sp>
        <p:nvSpPr>
          <p:cNvPr id="7" name="BODY"/>
          <p:cNvSpPr txBox="1"/>
          <p:nvPr/>
        </p:nvSpPr>
        <p:spPr>
          <a:xfrm>
            <a:off x="548640" y="1325880"/>
            <a:ext cx="6035040" cy="4206240"/>
          </a:xfrm>
          <a:prstGeom prst="rect">
            <a:avLst/>
          </a:prstGeom>
          <a:noFill/>
        </p:spPr>
        <p:txBody>
          <a:bodyPr wrap="square" lIns="45720" rIns="45720"/>
          <a:lstStyle/>
          <a:p>
            <a:pPr marL="256032" indent="-237744">
              <a:lnSpc>
                <a:spcPct val="108000"/>
              </a:lnSpc>
              <a:spcAft>
                <a:spcPts val="1000"/>
              </a:spcAft>
              <a:buClr>
                <a:srgbClr val="0F766E"/>
              </a:buClr>
              <a:buFont typeface="Arial"/>
              <a:buChar char="•"/>
            </a:pPr>
            <a:r>
              <a:rPr sz="1800" b="0" i="0">
                <a:solidFill>
                  <a:srgbClr val="222222"/>
                </a:solidFill>
                <a:latin typeface="Segoe UI"/>
                <a:ea typeface="Segoe UI"/>
                <a:cs typeface="Segoe UI"/>
              </a:rPr>
              <a:t>Python's standard library already ships </a:t>
            </a:r>
            <a:r>
              <a:rPr sz="1800" b="1" i="0">
                <a:solidFill>
                  <a:srgbClr val="222222"/>
                </a:solidFill>
                <a:latin typeface="Segoe UI"/>
                <a:ea typeface="Segoe UI"/>
                <a:cs typeface="Segoe UI"/>
              </a:rPr>
              <a:t>bz2</a:t>
            </a:r>
            <a:r>
              <a:rPr sz="1800" b="0" i="0">
                <a:solidFill>
                  <a:srgbClr val="222222"/>
                </a:solidFill>
                <a:latin typeface="Segoe UI"/>
                <a:ea typeface="Segoe UI"/>
                <a:cs typeface="Segoe UI"/>
              </a:rPr>
              <a:t>, a thin wrapper around the compiled C library libbz2</a:t>
            </a:r>
          </a:p>
          <a:p>
            <a:pPr marL="256032" indent="-237744">
              <a:lnSpc>
                <a:spcPct val="108000"/>
              </a:lnSpc>
              <a:spcAft>
                <a:spcPts val="1000"/>
              </a:spcAft>
              <a:buClr>
                <a:srgbClr val="0F766E"/>
              </a:buClr>
              <a:buFont typeface="Arial"/>
              <a:buChar char="•"/>
            </a:pPr>
            <a:r>
              <a:rPr sz="1800" b="0" i="0">
                <a:solidFill>
                  <a:srgbClr val="222222"/>
                </a:solidFill>
                <a:latin typeface="Segoe UI"/>
                <a:ea typeface="Segoe UI"/>
                <a:cs typeface="Segoe UI"/>
              </a:rPr>
              <a:t>Same algorithm, done with lookup tables and in-place buffers in C</a:t>
            </a:r>
          </a:p>
          <a:p>
            <a:pPr marL="256032" indent="-237744">
              <a:lnSpc>
                <a:spcPct val="108000"/>
              </a:lnSpc>
              <a:spcAft>
                <a:spcPts val="1000"/>
              </a:spcAft>
              <a:buClr>
                <a:srgbClr val="0F766E"/>
              </a:buClr>
              <a:buFont typeface="Arial"/>
              <a:buChar char="•"/>
            </a:pPr>
            <a:r>
              <a:rPr sz="1800" b="0" i="0">
                <a:solidFill>
                  <a:srgbClr val="222222"/>
                </a:solidFill>
                <a:latin typeface="Segoe UI"/>
                <a:ea typeface="Segoe UI"/>
                <a:cs typeface="Segoe UI"/>
              </a:rPr>
              <a:t>Removes the Huffman scan, the move-to-front list churn and the per-byte RLE loop in </a:t>
            </a:r>
            <a:r>
              <a:rPr sz="1800" b="1" i="0">
                <a:solidFill>
                  <a:srgbClr val="222222"/>
                </a:solidFill>
                <a:latin typeface="Segoe UI"/>
                <a:ea typeface="Segoe UI"/>
                <a:cs typeface="Segoe UI"/>
              </a:rPr>
              <a:t>one change</a:t>
            </a:r>
          </a:p>
          <a:p>
            <a:pPr marL="256032" indent="-237744">
              <a:lnSpc>
                <a:spcPct val="108000"/>
              </a:lnSpc>
              <a:spcAft>
                <a:spcPts val="1000"/>
              </a:spcAft>
              <a:buClr>
                <a:srgbClr val="0F766E"/>
              </a:buClr>
              <a:buFont typeface="Arial"/>
              <a:buChar char="•"/>
            </a:pPr>
            <a:r>
              <a:rPr sz="1800" b="0" i="0">
                <a:solidFill>
                  <a:srgbClr val="222222"/>
                </a:solidFill>
                <a:latin typeface="Segoe UI"/>
                <a:ea typeface="Segoe UI"/>
                <a:cs typeface="Segoe UI"/>
              </a:rPr>
              <a:t>Correctness: the same MD5 check still passes, so the output is byte-identical</a:t>
            </a:r>
          </a:p>
        </p:txBody>
      </p:sp>
      <p:sp>
        <p:nvSpPr>
          <p:cNvPr id="8" name="Rounded Rectangle 7"/>
          <p:cNvSpPr/>
          <p:nvPr/>
        </p:nvSpPr>
        <p:spPr>
          <a:xfrm>
            <a:off x="7086600" y="1371600"/>
            <a:ext cx="4553712" cy="1737360"/>
          </a:xfrm>
          <a:prstGeom prst="roundRect">
            <a:avLst>
              <a:gd name="adj" fmla="val 6000"/>
            </a:avLst>
          </a:prstGeom>
          <a:solidFill>
            <a:srgbClr val="FDE7E4"/>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ODY"/>
          <p:cNvSpPr txBox="1"/>
          <p:nvPr/>
        </p:nvSpPr>
        <p:spPr>
          <a:xfrm>
            <a:off x="7269480" y="1463040"/>
            <a:ext cx="4187952" cy="1554480"/>
          </a:xfrm>
          <a:prstGeom prst="rect">
            <a:avLst/>
          </a:prstGeom>
          <a:noFill/>
        </p:spPr>
        <p:txBody>
          <a:bodyPr wrap="square" lIns="45720" rIns="45720" anchor="ctr"/>
          <a:lstStyle/>
          <a:p>
            <a:pPr algn="l">
              <a:lnSpc>
                <a:spcPct val="105000"/>
              </a:lnSpc>
            </a:pPr>
            <a:r>
              <a:rPr sz="1800" b="1" i="0">
                <a:solidFill>
                  <a:srgbClr val="222222"/>
                </a:solidFill>
                <a:latin typeface="Segoe UI"/>
                <a:ea typeface="Segoe UI"/>
                <a:cs typeface="Segoe UI"/>
              </a:rPr>
              <a:t>Before</a:t>
            </a:r>
          </a:p>
          <a:p>
            <a:pPr algn="l">
              <a:lnSpc>
                <a:spcPct val="105000"/>
              </a:lnSpc>
            </a:pPr>
            <a:r>
              <a:rPr sz="1800" b="0" i="0">
                <a:solidFill>
                  <a:srgbClr val="222222"/>
                </a:solidFill>
                <a:latin typeface="Segoe UI"/>
                <a:ea typeface="Segoe UI"/>
                <a:cs typeface="Segoe UI"/>
              </a:rPr>
              <a:t>~600 lines of Python decoder: bit reader, Huffman tables, MTF, BWT, RLE</a:t>
            </a:r>
          </a:p>
        </p:txBody>
      </p:sp>
      <p:cxnSp>
        <p:nvCxnSpPr>
          <p:cNvPr id="10" name="Connector 9"/>
          <p:cNvCxnSpPr/>
          <p:nvPr/>
        </p:nvCxnSpPr>
        <p:spPr>
          <a:xfrm>
            <a:off x="9363456" y="3200400"/>
            <a:ext cx="0" cy="548639"/>
          </a:xfrm>
          <a:prstGeom prst="line">
            <a:avLst/>
          </a:prstGeom>
          <a:ln w="3175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086600" y="3840480"/>
            <a:ext cx="4553712" cy="1737360"/>
          </a:xfrm>
          <a:prstGeom prst="roundRect">
            <a:avLst>
              <a:gd name="adj" fmla="val 6000"/>
            </a:avLst>
          </a:prstGeom>
          <a:solidFill>
            <a:srgbClr val="DCF3E3"/>
          </a:solidFill>
          <a:ln w="12700">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ODY"/>
          <p:cNvSpPr txBox="1"/>
          <p:nvPr/>
        </p:nvSpPr>
        <p:spPr>
          <a:xfrm>
            <a:off x="7269480" y="3931920"/>
            <a:ext cx="4187952" cy="1554480"/>
          </a:xfrm>
          <a:prstGeom prst="rect">
            <a:avLst/>
          </a:prstGeom>
          <a:noFill/>
        </p:spPr>
        <p:txBody>
          <a:bodyPr wrap="square" lIns="45720" rIns="45720" anchor="ctr"/>
          <a:lstStyle/>
          <a:p>
            <a:pPr algn="l">
              <a:lnSpc>
                <a:spcPct val="105000"/>
              </a:lnSpc>
            </a:pPr>
            <a:r>
              <a:rPr sz="1800" b="1" i="0">
                <a:solidFill>
                  <a:srgbClr val="222222"/>
                </a:solidFill>
                <a:latin typeface="Segoe UI"/>
                <a:ea typeface="Segoe UI"/>
                <a:cs typeface="Segoe UI"/>
              </a:rPr>
              <a:t>After</a:t>
            </a:r>
          </a:p>
          <a:p>
            <a:pPr algn="l">
              <a:lnSpc>
                <a:spcPct val="105000"/>
              </a:lnSpc>
            </a:pPr>
            <a:r>
              <a:rPr sz="1800" b="0" i="0">
                <a:solidFill>
                  <a:srgbClr val="222222"/>
                </a:solidFill>
                <a:latin typeface="Segoe UI"/>
                <a:ea typeface="Segoe UI"/>
                <a:cs typeface="Segoe UI"/>
              </a:rPr>
              <a:t>one call: bz2.decompress(data), which runs inside libbz2 (C)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Optimization: original vs. optimized code</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A · pyflate</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10</a:t>
            </a:r>
          </a:p>
        </p:txBody>
      </p:sp>
      <p:sp>
        <p:nvSpPr>
          <p:cNvPr id="7" name="Rounded Rectangle 6"/>
          <p:cNvSpPr/>
          <p:nvPr/>
        </p:nvSpPr>
        <p:spPr>
          <a:xfrm>
            <a:off x="548640" y="1234440"/>
            <a:ext cx="5432907" cy="4143248"/>
          </a:xfrm>
          <a:prstGeom prst="roundRect">
            <a:avLst>
              <a:gd name="adj" fmla="val 2500"/>
            </a:avLst>
          </a:prstGeom>
          <a:solidFill>
            <a:srgbClr val="F6F8FA"/>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57784" y="1563624"/>
            <a:ext cx="5414619" cy="9144"/>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HEAD"/>
          <p:cNvSpPr txBox="1"/>
          <p:nvPr/>
        </p:nvSpPr>
        <p:spPr>
          <a:xfrm>
            <a:off x="658368" y="1271016"/>
            <a:ext cx="5213451" cy="274320"/>
          </a:xfrm>
          <a:prstGeom prst="rect">
            <a:avLst/>
          </a:prstGeom>
          <a:noFill/>
        </p:spPr>
        <p:txBody>
          <a:bodyPr wrap="none" lIns="45720" rIns="45720" anchor="ctr"/>
          <a:lstStyle/>
          <a:p>
            <a:r>
              <a:rPr sz="1100" b="0" i="0">
                <a:solidFill>
                  <a:srgbClr val="6B7280"/>
                </a:solidFill>
                <a:latin typeface="Consolas"/>
                <a:ea typeface="Consolas"/>
                <a:cs typeface="Consolas"/>
              </a:rPr>
              <a:t>original/run_benchmark.py · lines 632-650</a:t>
            </a:r>
          </a:p>
        </p:txBody>
      </p:sp>
      <p:sp>
        <p:nvSpPr>
          <p:cNvPr id="10" name="CODEHEAD"/>
          <p:cNvSpPr txBox="1"/>
          <p:nvPr/>
        </p:nvSpPr>
        <p:spPr>
          <a:xfrm>
            <a:off x="3427011" y="1271016"/>
            <a:ext cx="2444808" cy="274320"/>
          </a:xfrm>
          <a:prstGeom prst="rect">
            <a:avLst/>
          </a:prstGeom>
          <a:noFill/>
        </p:spPr>
        <p:txBody>
          <a:bodyPr wrap="square" lIns="45720" rIns="45720" anchor="ctr"/>
          <a:lstStyle/>
          <a:p>
            <a:pPr algn="r"/>
            <a:r>
              <a:rPr sz="1200" b="1" i="0">
                <a:solidFill>
                  <a:srgbClr val="B42318"/>
                </a:solidFill>
                <a:latin typeface="Segoe UI"/>
                <a:ea typeface="Segoe UI"/>
                <a:cs typeface="Segoe UI"/>
              </a:rPr>
              <a:t>pure-Python decoder</a:t>
            </a:r>
          </a:p>
        </p:txBody>
      </p:sp>
      <p:sp>
        <p:nvSpPr>
          <p:cNvPr id="11" name="Rectangle 10"/>
          <p:cNvSpPr/>
          <p:nvPr/>
        </p:nvSpPr>
        <p:spPr>
          <a:xfrm>
            <a:off x="603503" y="3235706"/>
            <a:ext cx="5323179" cy="225806"/>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03503" y="4590542"/>
            <a:ext cx="5323179" cy="225806"/>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ODE"/>
          <p:cNvSpPr txBox="1"/>
          <p:nvPr/>
        </p:nvSpPr>
        <p:spPr>
          <a:xfrm>
            <a:off x="694944" y="1655064"/>
            <a:ext cx="5213451" cy="3814064"/>
          </a:xfrm>
          <a:prstGeom prst="rect">
            <a:avLst/>
          </a:prstGeom>
          <a:noFill/>
        </p:spPr>
        <p:txBody>
          <a:bodyPr wrap="none" lIns="0" rIns="0" tIns="0" bIns="0"/>
          <a:lstStyle/>
          <a:p>
            <a:pPr>
              <a:lnSpc>
                <a:spcPts val="1778"/>
              </a:lnSpc>
              <a:spcBef>
                <a:spcPts val="0"/>
              </a:spcBef>
              <a:spcAft>
                <a:spcPts val="0"/>
              </a:spcAft>
            </a:pPr>
            <a:r>
              <a:rPr sz="1400" b="0" i="0">
                <a:solidFill>
                  <a:srgbClr val="CF222E"/>
                </a:solidFill>
                <a:latin typeface="Consolas"/>
                <a:ea typeface="Consolas"/>
                <a:cs typeface="Consolas"/>
              </a:rPr>
              <a:t>def</a:t>
            </a:r>
            <a:r>
              <a:rPr sz="1400" b="0" i="0">
                <a:solidFill>
                  <a:srgbClr val="24292F"/>
                </a:solidFill>
                <a:latin typeface="Consolas"/>
                <a:ea typeface="Consolas"/>
                <a:cs typeface="Consolas"/>
              </a:rPr>
              <a:t> </a:t>
            </a:r>
            <a:r>
              <a:rPr sz="1400" b="0" i="0">
                <a:solidFill>
                  <a:srgbClr val="8250DF"/>
                </a:solidFill>
                <a:latin typeface="Consolas"/>
                <a:ea typeface="Consolas"/>
                <a:cs typeface="Consolas"/>
              </a:rPr>
              <a:t>bench_pyflake</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loops</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filename</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24292F"/>
                </a:solidFill>
                <a:latin typeface="Consolas"/>
                <a:ea typeface="Consolas"/>
                <a:cs typeface="Consolas"/>
              </a:rPr>
              <a:t>input_fp</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8250DF"/>
                </a:solidFill>
                <a:latin typeface="Consolas"/>
                <a:ea typeface="Consolas"/>
                <a:cs typeface="Consolas"/>
              </a:rPr>
              <a:t>open</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filename</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0A3069"/>
                </a:solidFill>
                <a:latin typeface="Consolas"/>
                <a:ea typeface="Consolas"/>
                <a:cs typeface="Consolas"/>
              </a:rPr>
              <a:t>'</a:t>
            </a:r>
            <a:r>
              <a:rPr sz="1400" b="0" i="0">
                <a:solidFill>
                  <a:srgbClr val="0A3069"/>
                </a:solidFill>
                <a:latin typeface="Consolas"/>
                <a:ea typeface="Consolas"/>
                <a:cs typeface="Consolas"/>
              </a:rPr>
              <a:t>rb</a:t>
            </a:r>
            <a:r>
              <a:rPr sz="1400" b="0" i="0">
                <a:solidFill>
                  <a:srgbClr val="0A3069"/>
                </a:solidFill>
                <a:latin typeface="Consolas"/>
                <a:ea typeface="Consolas"/>
                <a:cs typeface="Consolas"/>
              </a:rPr>
              <a:t>'</a:t>
            </a:r>
            <a:r>
              <a:rPr sz="1400" b="0" i="0">
                <a:solidFill>
                  <a:srgbClr val="24292F"/>
                </a:solidFill>
                <a:latin typeface="Consolas"/>
                <a:ea typeface="Consolas"/>
                <a:cs typeface="Consolas"/>
              </a:rPr>
              <a:t>)</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24292F"/>
                </a:solidFill>
                <a:latin typeface="Consolas"/>
                <a:ea typeface="Consolas"/>
                <a:cs typeface="Consolas"/>
              </a:rPr>
              <a:t>range_it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8250DF"/>
                </a:solidFill>
                <a:latin typeface="Consolas"/>
                <a:ea typeface="Consolas"/>
                <a:cs typeface="Consolas"/>
              </a:rPr>
              <a:t>range</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loops</a:t>
            </a:r>
            <a:r>
              <a:rPr sz="1400" b="0" i="0">
                <a:solidFill>
                  <a:srgbClr val="24292F"/>
                </a:solidFill>
                <a:latin typeface="Consolas"/>
                <a:ea typeface="Consolas"/>
                <a:cs typeface="Consolas"/>
              </a:rPr>
              <a:t>)</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24292F"/>
                </a:solidFill>
                <a:latin typeface="Consolas"/>
                <a:ea typeface="Consolas"/>
                <a:cs typeface="Consolas"/>
              </a:rPr>
              <a:t>t0</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pyperf</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perf_counter</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a:t>
            </a:r>
          </a:p>
          <a:p>
            <a:pPr>
              <a:lnSpc>
                <a:spcPts val="1778"/>
              </a:lnSpc>
              <a:spcBef>
                <a:spcPts val="0"/>
              </a:spcBef>
              <a:spcAft>
                <a:spcPts val="0"/>
              </a:spcAft>
            </a:pPr>
            <a:r>
              <a:rPr sz="1400" b="0" i="0">
                <a:solidFill>
                  <a:srgbClr val="24292F"/>
                </a:solidFill>
                <a:latin typeface="Consolas"/>
                <a:ea typeface="Consolas"/>
                <a:cs typeface="Consolas"/>
              </a:rPr>
              <a:t> </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CF222E"/>
                </a:solidFill>
                <a:latin typeface="Consolas"/>
                <a:ea typeface="Consolas"/>
                <a:cs typeface="Consolas"/>
              </a:rPr>
              <a:t>for</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_</a:t>
            </a:r>
            <a:r>
              <a:rPr sz="1400" b="0" i="0">
                <a:solidFill>
                  <a:srgbClr val="24292F"/>
                </a:solidFill>
                <a:latin typeface="Consolas"/>
                <a:ea typeface="Consolas"/>
                <a:cs typeface="Consolas"/>
              </a:rPr>
              <a:t> </a:t>
            </a:r>
            <a:r>
              <a:rPr sz="1400" b="0" i="0">
                <a:solidFill>
                  <a:srgbClr val="CF222E"/>
                </a:solidFill>
                <a:latin typeface="Consolas"/>
                <a:ea typeface="Consolas"/>
                <a:cs typeface="Consolas"/>
              </a:rPr>
              <a:t>in</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range_it</a:t>
            </a:r>
            <a:r>
              <a:rPr sz="1400" b="0" i="0">
                <a:solidFill>
                  <a:srgbClr val="24292F"/>
                </a:solidFill>
                <a:latin typeface="Consolas"/>
                <a:ea typeface="Consolas"/>
                <a:cs typeface="Consolas"/>
              </a:rPr>
              <a:t>:</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24292F"/>
                </a:solidFill>
                <a:latin typeface="Consolas"/>
                <a:ea typeface="Consolas"/>
                <a:cs typeface="Consolas"/>
              </a:rPr>
              <a:t>input_fp</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seek</a:t>
            </a:r>
            <a:r>
              <a:rPr sz="1400" b="0" i="0">
                <a:solidFill>
                  <a:srgbClr val="24292F"/>
                </a:solidFill>
                <a:latin typeface="Consolas"/>
                <a:ea typeface="Consolas"/>
                <a:cs typeface="Consolas"/>
              </a:rPr>
              <a:t>(</a:t>
            </a:r>
            <a:r>
              <a:rPr sz="1400" b="0" i="0">
                <a:solidFill>
                  <a:srgbClr val="0550AE"/>
                </a:solidFill>
                <a:latin typeface="Consolas"/>
                <a:ea typeface="Consolas"/>
                <a:cs typeface="Consolas"/>
              </a:rPr>
              <a:t>0</a:t>
            </a:r>
            <a:r>
              <a:rPr sz="1400" b="0" i="0">
                <a:solidFill>
                  <a:srgbClr val="24292F"/>
                </a:solidFill>
                <a:latin typeface="Consolas"/>
                <a:ea typeface="Consolas"/>
                <a:cs typeface="Consolas"/>
              </a:rPr>
              <a:t>)</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24292F"/>
                </a:solidFill>
                <a:latin typeface="Consolas"/>
                <a:ea typeface="Consolas"/>
                <a:cs typeface="Consolas"/>
              </a:rPr>
              <a:t>field</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RBitfield</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input_fp</a:t>
            </a:r>
            <a:r>
              <a:rPr sz="1400" b="0" i="0">
                <a:solidFill>
                  <a:srgbClr val="24292F"/>
                </a:solidFill>
                <a:latin typeface="Consolas"/>
                <a:ea typeface="Consolas"/>
                <a:cs typeface="Consolas"/>
              </a:rPr>
              <a:t>)</a:t>
            </a:r>
          </a:p>
          <a:p>
            <a:pPr>
              <a:lnSpc>
                <a:spcPts val="1778"/>
              </a:lnSpc>
              <a:spcBef>
                <a:spcPts val="0"/>
              </a:spcBef>
              <a:spcAft>
                <a:spcPts val="0"/>
              </a:spcAft>
            </a:pPr>
            <a:r>
              <a:rPr sz="1400" b="0" i="0">
                <a:solidFill>
                  <a:srgbClr val="24292F"/>
                </a:solidFill>
                <a:latin typeface="Consolas"/>
                <a:ea typeface="Consolas"/>
                <a:cs typeface="Consolas"/>
              </a:rPr>
              <a:t> </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24292F"/>
                </a:solidFill>
                <a:latin typeface="Consolas"/>
                <a:ea typeface="Consolas"/>
                <a:cs typeface="Consolas"/>
              </a:rPr>
              <a:t>magic</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field</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readbits</a:t>
            </a:r>
            <a:r>
              <a:rPr sz="1400" b="0" i="0">
                <a:solidFill>
                  <a:srgbClr val="24292F"/>
                </a:solidFill>
                <a:latin typeface="Consolas"/>
                <a:ea typeface="Consolas"/>
                <a:cs typeface="Consolas"/>
              </a:rPr>
              <a:t>(</a:t>
            </a:r>
            <a:r>
              <a:rPr sz="1400" b="0" i="0">
                <a:solidFill>
                  <a:srgbClr val="0550AE"/>
                </a:solidFill>
                <a:latin typeface="Consolas"/>
                <a:ea typeface="Consolas"/>
                <a:cs typeface="Consolas"/>
              </a:rPr>
              <a:t>16</a:t>
            </a:r>
            <a:r>
              <a:rPr sz="1400" b="0" i="0">
                <a:solidFill>
                  <a:srgbClr val="24292F"/>
                </a:solidFill>
                <a:latin typeface="Consolas"/>
                <a:ea typeface="Consolas"/>
                <a:cs typeface="Consolas"/>
              </a:rPr>
              <a:t>)</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CF222E"/>
                </a:solidFill>
                <a:latin typeface="Consolas"/>
                <a:ea typeface="Consolas"/>
                <a:cs typeface="Consolas"/>
              </a:rPr>
              <a:t>if</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magic</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0550AE"/>
                </a:solidFill>
                <a:latin typeface="Consolas"/>
                <a:ea typeface="Consolas"/>
                <a:cs typeface="Consolas"/>
              </a:rPr>
              <a:t>0x1f8b</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1">
                <a:solidFill>
                  <a:srgbClr val="6E7781"/>
                </a:solidFill>
                <a:latin typeface="Consolas"/>
                <a:ea typeface="Consolas"/>
                <a:cs typeface="Consolas"/>
              </a:rPr>
              <a:t># GZip</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24292F"/>
                </a:solidFill>
                <a:latin typeface="Consolas"/>
                <a:ea typeface="Consolas"/>
                <a:cs typeface="Consolas"/>
              </a:rPr>
              <a:t>out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gzip_main</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field</a:t>
            </a:r>
            <a:r>
              <a:rPr sz="1400" b="0" i="0">
                <a:solidFill>
                  <a:srgbClr val="24292F"/>
                </a:solidFill>
                <a:latin typeface="Consolas"/>
                <a:ea typeface="Consolas"/>
                <a:cs typeface="Consolas"/>
              </a:rPr>
              <a:t>)</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CF222E"/>
                </a:solidFill>
                <a:latin typeface="Consolas"/>
                <a:ea typeface="Consolas"/>
                <a:cs typeface="Consolas"/>
              </a:rPr>
              <a:t>elif</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magic</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0550AE"/>
                </a:solidFill>
                <a:latin typeface="Consolas"/>
                <a:ea typeface="Consolas"/>
                <a:cs typeface="Consolas"/>
              </a:rPr>
              <a:t>0x425a</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1">
                <a:solidFill>
                  <a:srgbClr val="6E7781"/>
                </a:solidFill>
                <a:latin typeface="Consolas"/>
                <a:ea typeface="Consolas"/>
                <a:cs typeface="Consolas"/>
              </a:rPr>
              <a:t># BZip2</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24292F"/>
                </a:solidFill>
                <a:latin typeface="Consolas"/>
                <a:ea typeface="Consolas"/>
                <a:cs typeface="Consolas"/>
              </a:rPr>
              <a:t>out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bzip2_main</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field</a:t>
            </a:r>
            <a:r>
              <a:rPr sz="1400" b="0" i="0">
                <a:solidFill>
                  <a:srgbClr val="24292F"/>
                </a:solidFill>
                <a:latin typeface="Consolas"/>
                <a:ea typeface="Consolas"/>
                <a:cs typeface="Consolas"/>
              </a:rPr>
              <a:t>)</a:t>
            </a:r>
          </a:p>
          <a:p>
            <a:pPr>
              <a:lnSpc>
                <a:spcPts val="1778"/>
              </a:lnSpc>
              <a:spcBef>
                <a:spcPts val="0"/>
              </a:spcBef>
              <a:spcAft>
                <a:spcPts val="0"/>
              </a:spcAft>
            </a:pPr>
            <a:r>
              <a:rPr sz="1400" b="0" i="0">
                <a:solidFill>
                  <a:srgbClr val="6B7280"/>
                </a:solidFill>
                <a:latin typeface="Consolas"/>
                <a:ea typeface="Consolas"/>
                <a:cs typeface="Consolas"/>
              </a:rPr>
              <a:t>...</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24292F"/>
                </a:solidFill>
                <a:latin typeface="Consolas"/>
                <a:ea typeface="Consolas"/>
                <a:cs typeface="Consolas"/>
              </a:rPr>
              <a:t>dt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pyperf</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perf_counter</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t0</a:t>
            </a:r>
          </a:p>
        </p:txBody>
      </p:sp>
      <p:sp>
        <p:nvSpPr>
          <p:cNvPr id="14" name="Rounded Rectangle 13"/>
          <p:cNvSpPr/>
          <p:nvPr/>
        </p:nvSpPr>
        <p:spPr>
          <a:xfrm>
            <a:off x="6210147" y="1234440"/>
            <a:ext cx="5432907" cy="4143248"/>
          </a:xfrm>
          <a:prstGeom prst="roundRect">
            <a:avLst>
              <a:gd name="adj" fmla="val 2500"/>
            </a:avLst>
          </a:prstGeom>
          <a:solidFill>
            <a:srgbClr val="F6F8FA"/>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219291" y="1563624"/>
            <a:ext cx="5414619" cy="9144"/>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ODEHEAD"/>
          <p:cNvSpPr txBox="1"/>
          <p:nvPr/>
        </p:nvSpPr>
        <p:spPr>
          <a:xfrm>
            <a:off x="6319875" y="1271016"/>
            <a:ext cx="5213451" cy="274320"/>
          </a:xfrm>
          <a:prstGeom prst="rect">
            <a:avLst/>
          </a:prstGeom>
          <a:noFill/>
        </p:spPr>
        <p:txBody>
          <a:bodyPr wrap="none" lIns="45720" rIns="45720" anchor="ctr"/>
          <a:lstStyle/>
          <a:p>
            <a:r>
              <a:rPr sz="1100" b="0" i="0">
                <a:solidFill>
                  <a:srgbClr val="6B7280"/>
                </a:solidFill>
                <a:latin typeface="Consolas"/>
                <a:ea typeface="Consolas"/>
                <a:cs typeface="Consolas"/>
              </a:rPr>
              <a:t>optimized/run_benchmark.py · lines 28-38</a:t>
            </a:r>
          </a:p>
        </p:txBody>
      </p:sp>
      <p:sp>
        <p:nvSpPr>
          <p:cNvPr id="17" name="CODEHEAD"/>
          <p:cNvSpPr txBox="1"/>
          <p:nvPr/>
        </p:nvSpPr>
        <p:spPr>
          <a:xfrm>
            <a:off x="9088518" y="1271016"/>
            <a:ext cx="2444808" cy="274320"/>
          </a:xfrm>
          <a:prstGeom prst="rect">
            <a:avLst/>
          </a:prstGeom>
          <a:noFill/>
        </p:spPr>
        <p:txBody>
          <a:bodyPr wrap="square" lIns="45720" rIns="45720" anchor="ctr"/>
          <a:lstStyle/>
          <a:p>
            <a:pPr algn="r"/>
            <a:r>
              <a:rPr sz="1200" b="1" i="0">
                <a:solidFill>
                  <a:srgbClr val="1A7F37"/>
                </a:solidFill>
                <a:latin typeface="Segoe UI"/>
                <a:ea typeface="Segoe UI"/>
                <a:cs typeface="Segoe UI"/>
              </a:rPr>
              <a:t>stdlib bz2 (C)</a:t>
            </a:r>
          </a:p>
        </p:txBody>
      </p:sp>
      <p:sp>
        <p:nvSpPr>
          <p:cNvPr id="18" name="Rectangle 17"/>
          <p:cNvSpPr/>
          <p:nvPr/>
        </p:nvSpPr>
        <p:spPr>
          <a:xfrm>
            <a:off x="6265011" y="1880870"/>
            <a:ext cx="5323179" cy="225806"/>
          </a:xfrm>
          <a:prstGeom prst="rect">
            <a:avLst/>
          </a:prstGeom>
          <a:solidFill>
            <a:srgbClr val="D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5011" y="2106676"/>
            <a:ext cx="5323179" cy="225806"/>
          </a:xfrm>
          <a:prstGeom prst="rect">
            <a:avLst/>
          </a:prstGeom>
          <a:solidFill>
            <a:srgbClr val="D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65011" y="3461512"/>
            <a:ext cx="5323179" cy="225806"/>
          </a:xfrm>
          <a:prstGeom prst="rect">
            <a:avLst/>
          </a:prstGeom>
          <a:solidFill>
            <a:srgbClr val="D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ODE"/>
          <p:cNvSpPr txBox="1"/>
          <p:nvPr/>
        </p:nvSpPr>
        <p:spPr>
          <a:xfrm>
            <a:off x="6356451" y="1655064"/>
            <a:ext cx="5213451" cy="2685034"/>
          </a:xfrm>
          <a:prstGeom prst="rect">
            <a:avLst/>
          </a:prstGeom>
          <a:noFill/>
        </p:spPr>
        <p:txBody>
          <a:bodyPr wrap="none" lIns="0" rIns="0" tIns="0" bIns="0"/>
          <a:lstStyle/>
          <a:p>
            <a:pPr>
              <a:lnSpc>
                <a:spcPts val="1778"/>
              </a:lnSpc>
              <a:spcBef>
                <a:spcPts val="0"/>
              </a:spcBef>
              <a:spcAft>
                <a:spcPts val="0"/>
              </a:spcAft>
            </a:pPr>
            <a:r>
              <a:rPr sz="1400" b="0" i="0">
                <a:solidFill>
                  <a:srgbClr val="CF222E"/>
                </a:solidFill>
                <a:latin typeface="Consolas"/>
                <a:ea typeface="Consolas"/>
                <a:cs typeface="Consolas"/>
              </a:rPr>
              <a:t>def</a:t>
            </a:r>
            <a:r>
              <a:rPr sz="1400" b="0" i="0">
                <a:solidFill>
                  <a:srgbClr val="24292F"/>
                </a:solidFill>
                <a:latin typeface="Consolas"/>
                <a:ea typeface="Consolas"/>
                <a:cs typeface="Consolas"/>
              </a:rPr>
              <a:t> </a:t>
            </a:r>
            <a:r>
              <a:rPr sz="1400" b="0" i="0">
                <a:solidFill>
                  <a:srgbClr val="8250DF"/>
                </a:solidFill>
                <a:latin typeface="Consolas"/>
                <a:ea typeface="Consolas"/>
                <a:cs typeface="Consolas"/>
              </a:rPr>
              <a:t>bench_pyflake</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loops</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filename</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CF222E"/>
                </a:solidFill>
                <a:latin typeface="Consolas"/>
                <a:ea typeface="Consolas"/>
                <a:cs typeface="Consolas"/>
              </a:rPr>
              <a:t>with</a:t>
            </a:r>
            <a:r>
              <a:rPr sz="1400" b="0" i="0">
                <a:solidFill>
                  <a:srgbClr val="24292F"/>
                </a:solidFill>
                <a:latin typeface="Consolas"/>
                <a:ea typeface="Consolas"/>
                <a:cs typeface="Consolas"/>
              </a:rPr>
              <a:t> </a:t>
            </a:r>
            <a:r>
              <a:rPr sz="1400" b="0" i="0">
                <a:solidFill>
                  <a:srgbClr val="8250DF"/>
                </a:solidFill>
                <a:latin typeface="Consolas"/>
                <a:ea typeface="Consolas"/>
                <a:cs typeface="Consolas"/>
              </a:rPr>
              <a:t>open</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filename</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0A3069"/>
                </a:solidFill>
                <a:latin typeface="Consolas"/>
                <a:ea typeface="Consolas"/>
                <a:cs typeface="Consolas"/>
              </a:rPr>
              <a:t>'</a:t>
            </a:r>
            <a:r>
              <a:rPr sz="1400" b="0" i="0">
                <a:solidFill>
                  <a:srgbClr val="0A3069"/>
                </a:solidFill>
                <a:latin typeface="Consolas"/>
                <a:ea typeface="Consolas"/>
                <a:cs typeface="Consolas"/>
              </a:rPr>
              <a:t>rb</a:t>
            </a:r>
            <a:r>
              <a:rPr sz="1400" b="0" i="0">
                <a:solidFill>
                  <a:srgbClr val="0A3069"/>
                </a:solidFill>
                <a:latin typeface="Consolas"/>
                <a:ea typeface="Consolas"/>
                <a:cs typeface="Consolas"/>
              </a:rPr>
              <a:t>'</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CF222E"/>
                </a:solidFill>
                <a:latin typeface="Consolas"/>
                <a:ea typeface="Consolas"/>
                <a:cs typeface="Consolas"/>
              </a:rPr>
              <a:t>as</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f</a:t>
            </a:r>
            <a:r>
              <a:rPr sz="1400" b="0" i="0">
                <a:solidFill>
                  <a:srgbClr val="24292F"/>
                </a:solidFill>
                <a:latin typeface="Consolas"/>
                <a:ea typeface="Consolas"/>
                <a:cs typeface="Consolas"/>
              </a:rPr>
              <a:t>:</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24292F"/>
                </a:solidFill>
                <a:latin typeface="Consolas"/>
                <a:ea typeface="Consolas"/>
                <a:cs typeface="Consolas"/>
              </a:rPr>
              <a:t>compressed</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f</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read</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a:t>
            </a:r>
          </a:p>
          <a:p>
            <a:pPr>
              <a:lnSpc>
                <a:spcPts val="1778"/>
              </a:lnSpc>
              <a:spcBef>
                <a:spcPts val="0"/>
              </a:spcBef>
              <a:spcAft>
                <a:spcPts val="0"/>
              </a:spcAft>
            </a:pPr>
            <a:r>
              <a:rPr sz="1400" b="0" i="0">
                <a:solidFill>
                  <a:srgbClr val="24292F"/>
                </a:solidFill>
                <a:latin typeface="Consolas"/>
                <a:ea typeface="Consolas"/>
                <a:cs typeface="Consolas"/>
              </a:rPr>
              <a:t> </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24292F"/>
                </a:solidFill>
                <a:latin typeface="Consolas"/>
                <a:ea typeface="Consolas"/>
                <a:cs typeface="Consolas"/>
              </a:rPr>
              <a:t>range_it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8250DF"/>
                </a:solidFill>
                <a:latin typeface="Consolas"/>
                <a:ea typeface="Consolas"/>
                <a:cs typeface="Consolas"/>
              </a:rPr>
              <a:t>range</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loops</a:t>
            </a:r>
            <a:r>
              <a:rPr sz="1400" b="0" i="0">
                <a:solidFill>
                  <a:srgbClr val="24292F"/>
                </a:solidFill>
                <a:latin typeface="Consolas"/>
                <a:ea typeface="Consolas"/>
                <a:cs typeface="Consolas"/>
              </a:rPr>
              <a:t>)</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24292F"/>
                </a:solidFill>
                <a:latin typeface="Consolas"/>
                <a:ea typeface="Consolas"/>
                <a:cs typeface="Consolas"/>
              </a:rPr>
              <a:t>t0</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pyperf</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perf_counter</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a:t>
            </a:r>
          </a:p>
          <a:p>
            <a:pPr>
              <a:lnSpc>
                <a:spcPts val="1778"/>
              </a:lnSpc>
              <a:spcBef>
                <a:spcPts val="0"/>
              </a:spcBef>
              <a:spcAft>
                <a:spcPts val="0"/>
              </a:spcAft>
            </a:pPr>
            <a:r>
              <a:rPr sz="1400" b="0" i="0">
                <a:solidFill>
                  <a:srgbClr val="24292F"/>
                </a:solidFill>
                <a:latin typeface="Consolas"/>
                <a:ea typeface="Consolas"/>
                <a:cs typeface="Consolas"/>
              </a:rPr>
              <a:t> </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CF222E"/>
                </a:solidFill>
                <a:latin typeface="Consolas"/>
                <a:ea typeface="Consolas"/>
                <a:cs typeface="Consolas"/>
              </a:rPr>
              <a:t>for</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_</a:t>
            </a:r>
            <a:r>
              <a:rPr sz="1400" b="0" i="0">
                <a:solidFill>
                  <a:srgbClr val="24292F"/>
                </a:solidFill>
                <a:latin typeface="Consolas"/>
                <a:ea typeface="Consolas"/>
                <a:cs typeface="Consolas"/>
              </a:rPr>
              <a:t> </a:t>
            </a:r>
            <a:r>
              <a:rPr sz="1400" b="0" i="0">
                <a:solidFill>
                  <a:srgbClr val="CF222E"/>
                </a:solidFill>
                <a:latin typeface="Consolas"/>
                <a:ea typeface="Consolas"/>
                <a:cs typeface="Consolas"/>
              </a:rPr>
              <a:t>in</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range_it</a:t>
            </a:r>
            <a:r>
              <a:rPr sz="1400" b="0" i="0">
                <a:solidFill>
                  <a:srgbClr val="24292F"/>
                </a:solidFill>
                <a:latin typeface="Consolas"/>
                <a:ea typeface="Consolas"/>
                <a:cs typeface="Consolas"/>
              </a:rPr>
              <a:t>:</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24292F"/>
                </a:solidFill>
                <a:latin typeface="Consolas"/>
                <a:ea typeface="Consolas"/>
                <a:cs typeface="Consolas"/>
              </a:rPr>
              <a:t>out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bz2</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decompress</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compressed</a:t>
            </a:r>
            <a:r>
              <a:rPr sz="1400" b="0" i="0">
                <a:solidFill>
                  <a:srgbClr val="24292F"/>
                </a:solidFill>
                <a:latin typeface="Consolas"/>
                <a:ea typeface="Consolas"/>
                <a:cs typeface="Consolas"/>
              </a:rPr>
              <a:t>)</a:t>
            </a:r>
          </a:p>
          <a:p>
            <a:pPr>
              <a:lnSpc>
                <a:spcPts val="1778"/>
              </a:lnSpc>
              <a:spcBef>
                <a:spcPts val="0"/>
              </a:spcBef>
              <a:spcAft>
                <a:spcPts val="0"/>
              </a:spcAft>
            </a:pPr>
            <a:r>
              <a:rPr sz="1400" b="0" i="0">
                <a:solidFill>
                  <a:srgbClr val="24292F"/>
                </a:solidFill>
                <a:latin typeface="Consolas"/>
                <a:ea typeface="Consolas"/>
                <a:cs typeface="Consolas"/>
              </a:rPr>
              <a:t> </a:t>
            </a:r>
          </a:p>
          <a:p>
            <a:pPr>
              <a:lnSpc>
                <a:spcPts val="1778"/>
              </a:lnSpc>
              <a:spcBef>
                <a:spcPts val="0"/>
              </a:spcBef>
              <a:spcAft>
                <a:spcPts val="0"/>
              </a:spcAft>
            </a:pPr>
            <a:r>
              <a:rPr sz="1400" b="0" i="0">
                <a:solidFill>
                  <a:srgbClr val="24292F"/>
                </a:solidFill>
                <a:latin typeface="Consolas"/>
                <a:ea typeface="Consolas"/>
                <a:cs typeface="Consolas"/>
              </a:rPr>
              <a:t>    </a:t>
            </a:r>
            <a:r>
              <a:rPr sz="1400" b="0" i="0">
                <a:solidFill>
                  <a:srgbClr val="24292F"/>
                </a:solidFill>
                <a:latin typeface="Consolas"/>
                <a:ea typeface="Consolas"/>
                <a:cs typeface="Consolas"/>
              </a:rPr>
              <a:t>dt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pyperf</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perf_counter</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a:t>
            </a:r>
            <a:r>
              <a:rPr sz="1400" b="0" i="0">
                <a:solidFill>
                  <a:srgbClr val="24292F"/>
                </a:solidFill>
                <a:latin typeface="Consolas"/>
                <a:ea typeface="Consolas"/>
                <a:cs typeface="Consolas"/>
              </a:rPr>
              <a:t> </a:t>
            </a:r>
            <a:r>
              <a:rPr sz="1400" b="0" i="0">
                <a:solidFill>
                  <a:srgbClr val="24292F"/>
                </a:solidFill>
                <a:latin typeface="Consolas"/>
                <a:ea typeface="Consolas"/>
                <a:cs typeface="Consolas"/>
              </a:rPr>
              <a:t>t0</a:t>
            </a:r>
          </a:p>
        </p:txBody>
      </p:sp>
      <p:sp>
        <p:nvSpPr>
          <p:cNvPr id="22" name="BODY"/>
          <p:cNvSpPr txBox="1"/>
          <p:nvPr/>
        </p:nvSpPr>
        <p:spPr>
          <a:xfrm>
            <a:off x="548640" y="5560568"/>
            <a:ext cx="11094415" cy="731520"/>
          </a:xfrm>
          <a:prstGeom prst="rect">
            <a:avLst/>
          </a:prstGeom>
          <a:noFill/>
        </p:spPr>
        <p:txBody>
          <a:bodyPr wrap="square" lIns="45720" rIns="45720" anchor="t"/>
          <a:lstStyle/>
          <a:p>
            <a:pPr algn="l">
              <a:lnSpc>
                <a:spcPct val="105000"/>
              </a:lnSpc>
            </a:pPr>
            <a:r>
              <a:rPr sz="1800" b="0" i="0">
                <a:solidFill>
                  <a:srgbClr val="222222"/>
                </a:solidFill>
                <a:latin typeface="Segoe UI"/>
                <a:ea typeface="Segoe UI"/>
                <a:cs typeface="Segoe UI"/>
              </a:rPr>
              <a:t>Same timing harness and MD5 check on both sides. Only the decode call changes: </a:t>
            </a:r>
            <a:r>
              <a:rPr sz="1800" b="1" i="0">
                <a:solidFill>
                  <a:srgbClr val="222222"/>
                </a:solidFill>
                <a:latin typeface="Segoe UI"/>
                <a:ea typeface="Segoe UI"/>
                <a:cs typeface="Segoe UI"/>
              </a:rPr>
              <a:t>bzip2_main(field)</a:t>
            </a:r>
            <a:r>
              <a:rPr sz="1800" b="0" i="0">
                <a:solidFill>
                  <a:srgbClr val="222222"/>
                </a:solidFill>
                <a:latin typeface="Segoe UI"/>
                <a:ea typeface="Segoe UI"/>
                <a:cs typeface="Segoe UI"/>
              </a:rPr>
              <a:t> becomes </a:t>
            </a:r>
            <a:r>
              <a:rPr sz="1800" b="1" i="0">
                <a:solidFill>
                  <a:srgbClr val="222222"/>
                </a:solidFill>
                <a:latin typeface="Segoe UI"/>
                <a:ea typeface="Segoe UI"/>
                <a:cs typeface="Segoe UI"/>
              </a:rPr>
              <a:t>bz2.decompress(compressed)</a:t>
            </a:r>
            <a:r>
              <a:rPr sz="1800" b="0" i="0">
                <a:solidFill>
                  <a:srgbClr val="222222"/>
                </a:solidFill>
                <a:latin typeface="Segoe UI"/>
                <a:ea typeface="Segoe UI"/>
                <a:cs typeface="Segoe UI"/>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Results: ~244× faster</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A · pyflate</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11</a:t>
            </a:r>
          </a:p>
        </p:txBody>
      </p:sp>
      <p:sp>
        <p:nvSpPr>
          <p:cNvPr id="7" name="Rounded Rectangle 6"/>
          <p:cNvSpPr/>
          <p:nvPr/>
        </p:nvSpPr>
        <p:spPr>
          <a:xfrm>
            <a:off x="548640" y="1325880"/>
            <a:ext cx="3749039" cy="3246120"/>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731520" y="1463040"/>
            <a:ext cx="3383280" cy="365760"/>
          </a:xfrm>
          <a:prstGeom prst="rect">
            <a:avLst/>
          </a:prstGeom>
          <a:noFill/>
        </p:spPr>
        <p:txBody>
          <a:bodyPr wrap="square" lIns="45720" rIns="45720" anchor="t"/>
          <a:lstStyle/>
          <a:p>
            <a:pPr algn="ctr">
              <a:lnSpc>
                <a:spcPct val="105000"/>
              </a:lnSpc>
            </a:pPr>
            <a:r>
              <a:rPr sz="1800" b="0" i="0">
                <a:solidFill>
                  <a:srgbClr val="6B7280"/>
                </a:solidFill>
                <a:latin typeface="Segoe UI"/>
                <a:ea typeface="Segoe UI"/>
                <a:cs typeface="Segoe UI"/>
              </a:rPr>
              <a:t>Mean ± std dev (pyperf)</a:t>
            </a:r>
          </a:p>
        </p:txBody>
      </p:sp>
      <p:sp>
        <p:nvSpPr>
          <p:cNvPr id="9" name="STAT"/>
          <p:cNvSpPr txBox="1"/>
          <p:nvPr/>
        </p:nvSpPr>
        <p:spPr>
          <a:xfrm>
            <a:off x="731520" y="1920240"/>
            <a:ext cx="3383280" cy="685800"/>
          </a:xfrm>
          <a:prstGeom prst="rect">
            <a:avLst/>
          </a:prstGeom>
          <a:noFill/>
        </p:spPr>
        <p:txBody>
          <a:bodyPr wrap="square" lIns="45720" rIns="45720"/>
          <a:lstStyle/>
          <a:p>
            <a:pPr algn="ctr"/>
            <a:r>
              <a:rPr sz="4000" b="0" i="0">
                <a:solidFill>
                  <a:srgbClr val="222222"/>
                </a:solidFill>
                <a:latin typeface="Segoe UI Semibold"/>
                <a:ea typeface="Segoe UI Semibold"/>
                <a:cs typeface="Segoe UI Semibold"/>
              </a:rPr>
              <a:t>3.17 s</a:t>
            </a:r>
          </a:p>
        </p:txBody>
      </p:sp>
      <p:sp>
        <p:nvSpPr>
          <p:cNvPr id="10" name="BODY"/>
          <p:cNvSpPr txBox="1"/>
          <p:nvPr/>
        </p:nvSpPr>
        <p:spPr>
          <a:xfrm>
            <a:off x="731520" y="2578608"/>
            <a:ext cx="3383280" cy="365760"/>
          </a:xfrm>
          <a:prstGeom prst="rect">
            <a:avLst/>
          </a:prstGeom>
          <a:noFill/>
        </p:spPr>
        <p:txBody>
          <a:bodyPr wrap="square" lIns="45720" rIns="45720" anchor="t"/>
          <a:lstStyle/>
          <a:p>
            <a:pPr algn="ctr">
              <a:lnSpc>
                <a:spcPct val="105000"/>
              </a:lnSpc>
            </a:pPr>
            <a:r>
              <a:rPr sz="1800" b="0" i="0">
                <a:solidFill>
                  <a:srgbClr val="6B7280"/>
                </a:solidFill>
                <a:latin typeface="Segoe UI"/>
                <a:ea typeface="Segoe UI"/>
                <a:cs typeface="Segoe UI"/>
              </a:rPr>
              <a:t>original, ± 0.02 s</a:t>
            </a:r>
          </a:p>
        </p:txBody>
      </p:sp>
      <p:sp>
        <p:nvSpPr>
          <p:cNvPr id="11" name="STAT"/>
          <p:cNvSpPr txBox="1"/>
          <p:nvPr/>
        </p:nvSpPr>
        <p:spPr>
          <a:xfrm>
            <a:off x="731520" y="3154680"/>
            <a:ext cx="3383280" cy="685800"/>
          </a:xfrm>
          <a:prstGeom prst="rect">
            <a:avLst/>
          </a:prstGeom>
          <a:noFill/>
        </p:spPr>
        <p:txBody>
          <a:bodyPr wrap="square" lIns="45720" rIns="45720"/>
          <a:lstStyle/>
          <a:p>
            <a:pPr algn="ctr"/>
            <a:r>
              <a:rPr sz="4000" b="0" i="0">
                <a:solidFill>
                  <a:srgbClr val="1A7F37"/>
                </a:solidFill>
                <a:latin typeface="Segoe UI Semibold"/>
                <a:ea typeface="Segoe UI Semibold"/>
                <a:cs typeface="Segoe UI Semibold"/>
              </a:rPr>
              <a:t>13.0 ms</a:t>
            </a:r>
          </a:p>
        </p:txBody>
      </p:sp>
      <p:sp>
        <p:nvSpPr>
          <p:cNvPr id="12" name="BODY"/>
          <p:cNvSpPr txBox="1"/>
          <p:nvPr/>
        </p:nvSpPr>
        <p:spPr>
          <a:xfrm>
            <a:off x="731520" y="3813048"/>
            <a:ext cx="3383280" cy="365760"/>
          </a:xfrm>
          <a:prstGeom prst="rect">
            <a:avLst/>
          </a:prstGeom>
          <a:noFill/>
        </p:spPr>
        <p:txBody>
          <a:bodyPr wrap="square" lIns="45720" rIns="45720" anchor="t"/>
          <a:lstStyle/>
          <a:p>
            <a:pPr algn="ctr">
              <a:lnSpc>
                <a:spcPct val="105000"/>
              </a:lnSpc>
            </a:pPr>
            <a:r>
              <a:rPr sz="1800" b="0" i="0">
                <a:solidFill>
                  <a:srgbClr val="6B7280"/>
                </a:solidFill>
                <a:latin typeface="Segoe UI"/>
                <a:ea typeface="Segoe UI"/>
                <a:cs typeface="Segoe UI"/>
              </a:rPr>
              <a:t>optimized, ± 0.3 ms</a:t>
            </a:r>
          </a:p>
        </p:txBody>
      </p:sp>
      <p:graphicFrame>
        <p:nvGraphicFramePr>
          <p:cNvPr id="13" name="BODY_TABLE"/>
          <p:cNvGraphicFramePr>
            <a:graphicFrameLocks noGrp="1"/>
          </p:cNvGraphicFramePr>
          <p:nvPr/>
        </p:nvGraphicFramePr>
        <p:xfrm>
          <a:off x="4526279" y="1325880"/>
          <a:ext cx="7114032" cy="3236976"/>
        </p:xfrm>
        <a:graphic>
          <a:graphicData uri="http://schemas.openxmlformats.org/drawingml/2006/table">
            <a:tbl>
              <a:tblPr firstRow="0" bandRow="0">
                <a:tableStyleId>{2D5ABB26-0587-4C30-8999-92F81FD0307C}</a:tableStyleId>
              </a:tblPr>
              <a:tblGrid>
                <a:gridCol w="2194560"/>
                <a:gridCol w="1417320"/>
                <a:gridCol w="1554480"/>
                <a:gridCol w="1947672"/>
              </a:tblGrid>
              <a:tr h="539496">
                <a:tc>
                  <a:txBody>
                    <a:bodyPr wrap="square"/>
                    <a:lstStyle/>
                    <a:p>
                      <a:pPr algn="l"/>
                      <a:r>
                        <a:rPr sz="1800" b="1" i="0">
                          <a:solidFill>
                            <a:srgbClr val="FFFFFF"/>
                          </a:solidFill>
                          <a:latin typeface="Segoe UI"/>
                          <a:ea typeface="Segoe UI"/>
                          <a:cs typeface="Segoe UI"/>
                        </a:rPr>
                        <a:t>Counter</a:t>
                      </a:r>
                    </a:p>
                  </a:txBody>
                  <a:tcPr marL="91440" marR="91440" marT="27432" marB="27432" anchor="ctr">
                    <a:solidFill>
                      <a:srgbClr val="1F3A5F"/>
                    </a:solidFill>
                  </a:tcPr>
                </a:tc>
                <a:tc>
                  <a:txBody>
                    <a:bodyPr wrap="square"/>
                    <a:lstStyle/>
                    <a:p>
                      <a:pPr algn="r"/>
                      <a:r>
                        <a:rPr sz="1800" b="1" i="0">
                          <a:solidFill>
                            <a:srgbClr val="FFFFFF"/>
                          </a:solidFill>
                          <a:latin typeface="Segoe UI"/>
                          <a:ea typeface="Segoe UI"/>
                          <a:cs typeface="Segoe UI"/>
                        </a:rPr>
                        <a:t>Original</a:t>
                      </a:r>
                    </a:p>
                  </a:txBody>
                  <a:tcPr marL="91440" marR="91440" marT="27432" marB="27432" anchor="ctr">
                    <a:solidFill>
                      <a:srgbClr val="1F3A5F"/>
                    </a:solidFill>
                  </a:tcPr>
                </a:tc>
                <a:tc>
                  <a:txBody>
                    <a:bodyPr wrap="square"/>
                    <a:lstStyle/>
                    <a:p>
                      <a:pPr algn="r"/>
                      <a:r>
                        <a:rPr sz="1800" b="1" i="0">
                          <a:solidFill>
                            <a:srgbClr val="FFFFFF"/>
                          </a:solidFill>
                          <a:latin typeface="Segoe UI"/>
                          <a:ea typeface="Segoe UI"/>
                          <a:cs typeface="Segoe UI"/>
                        </a:rPr>
                        <a:t>Optimized</a:t>
                      </a:r>
                    </a:p>
                  </a:txBody>
                  <a:tcPr marL="91440" marR="91440" marT="27432" marB="27432" anchor="ctr">
                    <a:solidFill>
                      <a:srgbClr val="1F3A5F"/>
                    </a:solidFill>
                  </a:tcPr>
                </a:tc>
                <a:tc>
                  <a:txBody>
                    <a:bodyPr wrap="square"/>
                    <a:lstStyle/>
                    <a:p>
                      <a:pPr algn="l"/>
                      <a:r>
                        <a:rPr sz="1800" b="1" i="0">
                          <a:solidFill>
                            <a:srgbClr val="FFFFFF"/>
                          </a:solidFill>
                          <a:latin typeface="Segoe UI"/>
                          <a:ea typeface="Segoe UI"/>
                          <a:cs typeface="Segoe UI"/>
                        </a:rPr>
                        <a:t>Change</a:t>
                      </a:r>
                    </a:p>
                  </a:txBody>
                  <a:tcPr marL="91440" marR="91440" marT="27432" marB="27432" anchor="ctr">
                    <a:solidFill>
                      <a:srgbClr val="1F3A5F"/>
                    </a:solidFill>
                  </a:tcPr>
                </a:tc>
              </a:tr>
              <a:tr h="539496">
                <a:tc>
                  <a:txBody>
                    <a:bodyPr wrap="square"/>
                    <a:lstStyle/>
                    <a:p>
                      <a:pPr algn="l"/>
                      <a:r>
                        <a:rPr sz="1800" b="0" i="0">
                          <a:solidFill>
                            <a:srgbClr val="222222"/>
                          </a:solidFill>
                          <a:latin typeface="Segoe UI"/>
                          <a:ea typeface="Segoe UI"/>
                          <a:cs typeface="Segoe UI"/>
                        </a:rPr>
                        <a:t>Instructions</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1.43 T</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41.7 G</a:t>
                      </a:r>
                    </a:p>
                  </a:txBody>
                  <a:tcPr marL="91440" marR="91440" marT="27432" marB="27432" anchor="ctr">
                    <a:solidFill>
                      <a:srgbClr val="FFFFFF"/>
                    </a:solidFill>
                  </a:tcPr>
                </a:tc>
                <a:tc>
                  <a:txBody>
                    <a:bodyPr wrap="square"/>
                    <a:lstStyle/>
                    <a:p>
                      <a:pPr algn="l"/>
                      <a:r>
                        <a:rPr sz="1800" b="0" i="0">
                          <a:solidFill>
                            <a:srgbClr val="1A7F37"/>
                          </a:solidFill>
                          <a:latin typeface="Segoe UI"/>
                          <a:ea typeface="Segoe UI"/>
                          <a:cs typeface="Segoe UI"/>
                        </a:rPr>
                        <a:t>34.4× fewer</a:t>
                      </a:r>
                    </a:p>
                  </a:txBody>
                  <a:tcPr marL="91440" marR="91440" marT="27432" marB="27432" anchor="ctr">
                    <a:solidFill>
                      <a:srgbClr val="FFFFFF"/>
                    </a:solidFill>
                  </a:tcPr>
                </a:tc>
              </a:tr>
              <a:tr h="539496">
                <a:tc>
                  <a:txBody>
                    <a:bodyPr wrap="square"/>
                    <a:lstStyle/>
                    <a:p>
                      <a:pPr algn="l"/>
                      <a:r>
                        <a:rPr sz="1800" b="0" i="0">
                          <a:solidFill>
                            <a:srgbClr val="222222"/>
                          </a:solidFill>
                          <a:latin typeface="Segoe UI"/>
                          <a:ea typeface="Segoe UI"/>
                          <a:cs typeface="Segoe UI"/>
                        </a:rPr>
                        <a:t>Cycles</a:t>
                      </a:r>
                    </a:p>
                  </a:txBody>
                  <a:tcPr marL="91440" marR="91440" marT="27432" marB="27432" anchor="ctr">
                    <a:solidFill>
                      <a:srgbClr val="F3F4F6"/>
                    </a:solidFill>
                  </a:tcPr>
                </a:tc>
                <a:tc>
                  <a:txBody>
                    <a:bodyPr wrap="square"/>
                    <a:lstStyle/>
                    <a:p>
                      <a:pPr algn="r"/>
                      <a:r>
                        <a:rPr sz="1800" b="0" i="0">
                          <a:solidFill>
                            <a:srgbClr val="222222"/>
                          </a:solidFill>
                          <a:latin typeface="Segoe UI"/>
                          <a:ea typeface="Segoe UI"/>
                          <a:cs typeface="Segoe UI"/>
                        </a:rPr>
                        <a:t>659 G</a:t>
                      </a:r>
                    </a:p>
                  </a:txBody>
                  <a:tcPr marL="91440" marR="91440" marT="27432" marB="27432" anchor="ctr">
                    <a:solidFill>
                      <a:srgbClr val="F3F4F6"/>
                    </a:solidFill>
                  </a:tcPr>
                </a:tc>
                <a:tc>
                  <a:txBody>
                    <a:bodyPr wrap="square"/>
                    <a:lstStyle/>
                    <a:p>
                      <a:pPr algn="r"/>
                      <a:r>
                        <a:rPr sz="1800" b="0" i="0">
                          <a:solidFill>
                            <a:srgbClr val="222222"/>
                          </a:solidFill>
                          <a:latin typeface="Segoe UI"/>
                          <a:ea typeface="Segoe UI"/>
                          <a:cs typeface="Segoe UI"/>
                        </a:rPr>
                        <a:t>33.0 G</a:t>
                      </a:r>
                    </a:p>
                  </a:txBody>
                  <a:tcPr marL="91440" marR="91440" marT="27432" marB="27432" anchor="ctr">
                    <a:solidFill>
                      <a:srgbClr val="F3F4F6"/>
                    </a:solidFill>
                  </a:tcPr>
                </a:tc>
                <a:tc>
                  <a:txBody>
                    <a:bodyPr wrap="square"/>
                    <a:lstStyle/>
                    <a:p>
                      <a:pPr algn="l"/>
                      <a:r>
                        <a:rPr sz="1800" b="0" i="0">
                          <a:solidFill>
                            <a:srgbClr val="1A7F37"/>
                          </a:solidFill>
                          <a:latin typeface="Segoe UI"/>
                          <a:ea typeface="Segoe UI"/>
                          <a:cs typeface="Segoe UI"/>
                        </a:rPr>
                        <a:t>20.0× fewer</a:t>
                      </a:r>
                    </a:p>
                  </a:txBody>
                  <a:tcPr marL="91440" marR="91440" marT="27432" marB="27432" anchor="ctr">
                    <a:solidFill>
                      <a:srgbClr val="F3F4F6"/>
                    </a:solidFill>
                  </a:tcPr>
                </a:tc>
              </a:tr>
              <a:tr h="539496">
                <a:tc>
                  <a:txBody>
                    <a:bodyPr wrap="square"/>
                    <a:lstStyle/>
                    <a:p>
                      <a:pPr algn="l"/>
                      <a:r>
                        <a:rPr sz="1800" b="0" i="0">
                          <a:solidFill>
                            <a:srgbClr val="222222"/>
                          </a:solidFill>
                          <a:latin typeface="Segoe UI"/>
                          <a:ea typeface="Segoe UI"/>
                          <a:cs typeface="Segoe UI"/>
                        </a:rPr>
                        <a:t>IPC</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2.17</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1.26</a:t>
                      </a:r>
                    </a:p>
                  </a:txBody>
                  <a:tcPr marL="91440" marR="91440" marT="27432" marB="27432" anchor="ctr">
                    <a:solidFill>
                      <a:srgbClr val="FFFFFF"/>
                    </a:solidFill>
                  </a:tcPr>
                </a:tc>
                <a:tc>
                  <a:txBody>
                    <a:bodyPr wrap="square"/>
                    <a:lstStyle/>
                    <a:p>
                      <a:pPr algn="l"/>
                      <a:r>
                        <a:rPr sz="1800" b="0" i="0">
                          <a:solidFill>
                            <a:srgbClr val="6B7280"/>
                          </a:solidFill>
                          <a:latin typeface="Segoe UI"/>
                          <a:ea typeface="Segoe UI"/>
                          <a:cs typeface="Segoe UI"/>
                        </a:rPr>
                        <a:t>lower</a:t>
                      </a:r>
                    </a:p>
                  </a:txBody>
                  <a:tcPr marL="91440" marR="91440" marT="27432" marB="27432" anchor="ctr">
                    <a:solidFill>
                      <a:srgbClr val="FFFFFF"/>
                    </a:solidFill>
                  </a:tcPr>
                </a:tc>
              </a:tr>
              <a:tr h="539496">
                <a:tc>
                  <a:txBody>
                    <a:bodyPr wrap="square"/>
                    <a:lstStyle/>
                    <a:p>
                      <a:pPr algn="l"/>
                      <a:r>
                        <a:rPr sz="1800" b="0" i="0">
                          <a:solidFill>
                            <a:srgbClr val="222222"/>
                          </a:solidFill>
                          <a:latin typeface="Segoe UI"/>
                          <a:ea typeface="Segoe UI"/>
                          <a:cs typeface="Segoe UI"/>
                        </a:rPr>
                        <a:t>Cache-miss rate</a:t>
                      </a:r>
                    </a:p>
                  </a:txBody>
                  <a:tcPr marL="91440" marR="91440" marT="27432" marB="27432" anchor="ctr">
                    <a:solidFill>
                      <a:srgbClr val="F3F4F6"/>
                    </a:solidFill>
                  </a:tcPr>
                </a:tc>
                <a:tc>
                  <a:txBody>
                    <a:bodyPr wrap="square"/>
                    <a:lstStyle/>
                    <a:p>
                      <a:pPr algn="r"/>
                      <a:r>
                        <a:rPr sz="1800" b="0" i="0">
                          <a:solidFill>
                            <a:srgbClr val="222222"/>
                          </a:solidFill>
                          <a:latin typeface="Segoe UI"/>
                          <a:ea typeface="Segoe UI"/>
                          <a:cs typeface="Segoe UI"/>
                        </a:rPr>
                        <a:t>7.0 %</a:t>
                      </a:r>
                    </a:p>
                  </a:txBody>
                  <a:tcPr marL="91440" marR="91440" marT="27432" marB="27432" anchor="ctr">
                    <a:solidFill>
                      <a:srgbClr val="F3F4F6"/>
                    </a:solidFill>
                  </a:tcPr>
                </a:tc>
                <a:tc>
                  <a:txBody>
                    <a:bodyPr wrap="square"/>
                    <a:lstStyle/>
                    <a:p>
                      <a:pPr algn="r"/>
                      <a:r>
                        <a:rPr sz="1800" b="0" i="0">
                          <a:solidFill>
                            <a:srgbClr val="222222"/>
                          </a:solidFill>
                          <a:latin typeface="Segoe UI"/>
                          <a:ea typeface="Segoe UI"/>
                          <a:cs typeface="Segoe UI"/>
                        </a:rPr>
                        <a:t>1.72 %</a:t>
                      </a:r>
                    </a:p>
                  </a:txBody>
                  <a:tcPr marL="91440" marR="91440" marT="27432" marB="27432" anchor="ctr">
                    <a:solidFill>
                      <a:srgbClr val="F3F4F6"/>
                    </a:solidFill>
                  </a:tcPr>
                </a:tc>
                <a:tc>
                  <a:txBody>
                    <a:bodyPr wrap="square"/>
                    <a:lstStyle/>
                    <a:p>
                      <a:pPr algn="l"/>
                      <a:r>
                        <a:rPr sz="1800" b="0" i="0">
                          <a:solidFill>
                            <a:srgbClr val="1A7F37"/>
                          </a:solidFill>
                          <a:latin typeface="Segoe UI"/>
                          <a:ea typeface="Segoe UI"/>
                          <a:cs typeface="Segoe UI"/>
                        </a:rPr>
                        <a:t>4.1× better</a:t>
                      </a:r>
                    </a:p>
                  </a:txBody>
                  <a:tcPr marL="91440" marR="91440" marT="27432" marB="27432" anchor="ctr">
                    <a:solidFill>
                      <a:srgbClr val="F3F4F6"/>
                    </a:solidFill>
                  </a:tcPr>
                </a:tc>
              </a:tr>
              <a:tr h="539496">
                <a:tc>
                  <a:txBody>
                    <a:bodyPr wrap="square"/>
                    <a:lstStyle/>
                    <a:p>
                      <a:pPr algn="l"/>
                      <a:r>
                        <a:rPr sz="1800" b="0" i="0">
                          <a:solidFill>
                            <a:srgbClr val="222222"/>
                          </a:solidFill>
                          <a:latin typeface="Segoe UI"/>
                          <a:ea typeface="Segoe UI"/>
                          <a:cs typeface="Segoe UI"/>
                        </a:rPr>
                        <a:t>Branch-miss rate</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0.43 %</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3.19 %</a:t>
                      </a:r>
                    </a:p>
                  </a:txBody>
                  <a:tcPr marL="91440" marR="91440" marT="27432" marB="27432" anchor="ctr">
                    <a:solidFill>
                      <a:srgbClr val="FFFFFF"/>
                    </a:solidFill>
                  </a:tcPr>
                </a:tc>
                <a:tc>
                  <a:txBody>
                    <a:bodyPr wrap="square"/>
                    <a:lstStyle/>
                    <a:p>
                      <a:pPr algn="l"/>
                      <a:r>
                        <a:rPr sz="1800" b="0" i="0">
                          <a:solidFill>
                            <a:srgbClr val="6B7280"/>
                          </a:solidFill>
                          <a:latin typeface="Segoe UI"/>
                          <a:ea typeface="Segoe UI"/>
                          <a:cs typeface="Segoe UI"/>
                        </a:rPr>
                        <a:t>higher</a:t>
                      </a:r>
                    </a:p>
                  </a:txBody>
                  <a:tcPr marL="91440" marR="91440" marT="27432" marB="27432" anchor="ctr">
                    <a:solidFill>
                      <a:srgbClr val="FFFFFF"/>
                    </a:solidFill>
                  </a:tcPr>
                </a:tc>
              </a:tr>
            </a:tbl>
          </a:graphicData>
        </a:graphic>
      </p:graphicFrame>
      <p:sp>
        <p:nvSpPr>
          <p:cNvPr id="14" name="Rounded Rectangle 13"/>
          <p:cNvSpPr/>
          <p:nvPr/>
        </p:nvSpPr>
        <p:spPr>
          <a:xfrm>
            <a:off x="548640" y="4800600"/>
            <a:ext cx="11094415" cy="137160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48640" y="4910328"/>
            <a:ext cx="54864" cy="115214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ODY"/>
          <p:cNvSpPr txBox="1"/>
          <p:nvPr/>
        </p:nvSpPr>
        <p:spPr>
          <a:xfrm>
            <a:off x="777240" y="4928616"/>
            <a:ext cx="10728655" cy="411480"/>
          </a:xfrm>
          <a:prstGeom prst="rect">
            <a:avLst/>
          </a:prstGeom>
          <a:noFill/>
        </p:spPr>
        <p:txBody>
          <a:bodyPr wrap="square" lIns="45720" rIns="45720" anchor="t"/>
          <a:lstStyle/>
          <a:p>
            <a:pPr algn="l">
              <a:lnSpc>
                <a:spcPct val="105000"/>
              </a:lnSpc>
            </a:pPr>
            <a:r>
              <a:rPr sz="1800" b="1" i="0">
                <a:solidFill>
                  <a:srgbClr val="0F766E"/>
                </a:solidFill>
                <a:latin typeface="Segoe UI"/>
                <a:ea typeface="Segoe UI"/>
                <a:cs typeface="Segoe UI"/>
              </a:rPr>
              <a:t>Why did IPC go down and branch misses go up?</a:t>
            </a:r>
          </a:p>
        </p:txBody>
      </p:sp>
      <p:sp>
        <p:nvSpPr>
          <p:cNvPr id="17" name="BODY"/>
          <p:cNvSpPr txBox="1"/>
          <p:nvPr/>
        </p:nvSpPr>
        <p:spPr>
          <a:xfrm>
            <a:off x="731520" y="5367528"/>
            <a:ext cx="10774375" cy="713232"/>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58.7 % of the new run is libbz2's bit-level decode, which is harder to predict than the repetitive bytecode loop. What matters is 34× fewer instructions for the same 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Results: flame graphs before and after</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A · pyflate</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12</a:t>
            </a:r>
          </a:p>
        </p:txBody>
      </p:sp>
      <p:sp>
        <p:nvSpPr>
          <p:cNvPr id="7" name="BODY"/>
          <p:cNvSpPr txBox="1"/>
          <p:nvPr/>
        </p:nvSpPr>
        <p:spPr>
          <a:xfrm>
            <a:off x="548640" y="1280160"/>
            <a:ext cx="5410047" cy="411480"/>
          </a:xfrm>
          <a:prstGeom prst="rect">
            <a:avLst/>
          </a:prstGeom>
          <a:noFill/>
        </p:spPr>
        <p:txBody>
          <a:bodyPr wrap="square" lIns="45720" rIns="45720" anchor="t"/>
          <a:lstStyle/>
          <a:p>
            <a:pPr algn="l">
              <a:lnSpc>
                <a:spcPct val="105000"/>
              </a:lnSpc>
            </a:pPr>
            <a:r>
              <a:rPr sz="1800" b="1" i="0">
                <a:solidFill>
                  <a:srgbClr val="222222"/>
                </a:solidFill>
                <a:latin typeface="Segoe UI"/>
                <a:ea typeface="Segoe UI"/>
                <a:cs typeface="Segoe UI"/>
              </a:rPr>
              <a:t>Before</a:t>
            </a:r>
            <a:r>
              <a:rPr sz="1800" b="0" i="0">
                <a:solidFill>
                  <a:srgbClr val="222222"/>
                </a:solidFill>
                <a:latin typeface="Segoe UI"/>
                <a:ea typeface="Segoe UI"/>
                <a:cs typeface="Segoe UI"/>
              </a:rPr>
              <a:t>: a wide forest of thin Python towers</a:t>
            </a:r>
          </a:p>
        </p:txBody>
      </p:sp>
      <p:pic>
        <p:nvPicPr>
          <p:cNvPr id="8" name="Picture 7" descr="fg_pyflate_original_half.png"/>
          <p:cNvPicPr>
            <a:picLocks noChangeAspect="1"/>
          </p:cNvPicPr>
          <p:nvPr/>
        </p:nvPicPr>
        <p:blipFill>
          <a:blip r:embed="rId2"/>
          <a:stretch>
            <a:fillRect/>
          </a:stretch>
        </p:blipFill>
        <p:spPr>
          <a:xfrm>
            <a:off x="548640" y="1854523"/>
            <a:ext cx="5410047" cy="2417432"/>
          </a:xfrm>
          <a:prstGeom prst="rect">
            <a:avLst/>
          </a:prstGeom>
          <a:ln w="12700">
            <a:solidFill>
              <a:srgbClr val="D9DDE3"/>
            </a:solidFill>
          </a:ln>
        </p:spPr>
      </p:pic>
      <p:sp>
        <p:nvSpPr>
          <p:cNvPr id="9" name="Rectangle 8"/>
          <p:cNvSpPr/>
          <p:nvPr/>
        </p:nvSpPr>
        <p:spPr>
          <a:xfrm>
            <a:off x="548640" y="4454836"/>
            <a:ext cx="54864" cy="128016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ODY"/>
          <p:cNvSpPr txBox="1"/>
          <p:nvPr/>
        </p:nvSpPr>
        <p:spPr>
          <a:xfrm>
            <a:off x="685800" y="4409116"/>
            <a:ext cx="5227167" cy="1463040"/>
          </a:xfrm>
          <a:prstGeom prst="rect">
            <a:avLst/>
          </a:prstGeom>
          <a:noFill/>
        </p:spPr>
        <p:txBody>
          <a:bodyPr wrap="square" lIns="45720" rIns="45720"/>
          <a:lstStyle/>
          <a:p>
            <a:pPr marL="256032" indent="-237744">
              <a:lnSpc>
                <a:spcPct val="108000"/>
              </a:lnSpc>
              <a:spcAft>
                <a:spcPts val="400"/>
              </a:spcAft>
              <a:buClr>
                <a:srgbClr val="0F766E"/>
              </a:buClr>
              <a:buFont typeface="Arial"/>
              <a:buChar char="•"/>
            </a:pPr>
            <a:r>
              <a:rPr sz="1800" b="0" i="0">
                <a:solidFill>
                  <a:srgbClr val="222222"/>
                </a:solidFill>
                <a:latin typeface="Segoe UI"/>
                <a:ea typeface="Segoe UI"/>
                <a:cs typeface="Segoe UI"/>
              </a:rPr>
              <a:t>23.5 %  _PyEval_EvalFrameDefault</a:t>
            </a:r>
          </a:p>
          <a:p>
            <a:pPr marL="256032" indent="-237744">
              <a:lnSpc>
                <a:spcPct val="108000"/>
              </a:lnSpc>
              <a:spcAft>
                <a:spcPts val="400"/>
              </a:spcAft>
              <a:buClr>
                <a:srgbClr val="0F766E"/>
              </a:buClr>
              <a:buFont typeface="Arial"/>
              <a:buChar char="•"/>
            </a:pPr>
            <a:r>
              <a:rPr sz="1800" b="0" i="0">
                <a:solidFill>
                  <a:srgbClr val="222222"/>
                </a:solidFill>
                <a:latin typeface="Segoe UI"/>
                <a:ea typeface="Segoe UI"/>
                <a:cs typeface="Segoe UI"/>
              </a:rPr>
              <a:t>4.1 %  _PyMem_DebugCheckAddress</a:t>
            </a:r>
          </a:p>
          <a:p>
            <a:pPr marL="256032" indent="-237744">
              <a:lnSpc>
                <a:spcPct val="108000"/>
              </a:lnSpc>
              <a:spcAft>
                <a:spcPts val="400"/>
              </a:spcAft>
              <a:buClr>
                <a:srgbClr val="0F766E"/>
              </a:buClr>
              <a:buFont typeface="Arial"/>
              <a:buChar char="•"/>
            </a:pPr>
            <a:r>
              <a:rPr sz="1800" b="0" i="0">
                <a:solidFill>
                  <a:srgbClr val="222222"/>
                </a:solidFill>
                <a:latin typeface="Segoe UI"/>
                <a:ea typeface="Segoe UI"/>
                <a:cs typeface="Segoe UI"/>
              </a:rPr>
              <a:t>2.5 %  list_dealloc · 2.1 % list_ass_slice</a:t>
            </a:r>
          </a:p>
        </p:txBody>
      </p:sp>
      <p:sp>
        <p:nvSpPr>
          <p:cNvPr id="11" name="BODY"/>
          <p:cNvSpPr txBox="1"/>
          <p:nvPr/>
        </p:nvSpPr>
        <p:spPr>
          <a:xfrm>
            <a:off x="6233007" y="1280160"/>
            <a:ext cx="5410047" cy="411480"/>
          </a:xfrm>
          <a:prstGeom prst="rect">
            <a:avLst/>
          </a:prstGeom>
          <a:noFill/>
        </p:spPr>
        <p:txBody>
          <a:bodyPr wrap="square" lIns="45720" rIns="45720" anchor="t"/>
          <a:lstStyle/>
          <a:p>
            <a:pPr algn="l">
              <a:lnSpc>
                <a:spcPct val="105000"/>
              </a:lnSpc>
            </a:pPr>
            <a:r>
              <a:rPr sz="1800" b="1" i="0">
                <a:solidFill>
                  <a:srgbClr val="222222"/>
                </a:solidFill>
                <a:latin typeface="Segoe UI"/>
                <a:ea typeface="Segoe UI"/>
                <a:cs typeface="Segoe UI"/>
              </a:rPr>
              <a:t>After</a:t>
            </a:r>
            <a:r>
              <a:rPr sz="1800" b="0" i="0">
                <a:solidFill>
                  <a:srgbClr val="222222"/>
                </a:solidFill>
                <a:latin typeface="Segoe UI"/>
                <a:ea typeface="Segoe UI"/>
                <a:cs typeface="Segoe UI"/>
              </a:rPr>
              <a:t>: two C plateaus in libbz2</a:t>
            </a:r>
          </a:p>
        </p:txBody>
      </p:sp>
      <p:pic>
        <p:nvPicPr>
          <p:cNvPr id="12" name="Picture 11" descr="fg_pyflate_optimized_half.png"/>
          <p:cNvPicPr>
            <a:picLocks noChangeAspect="1"/>
          </p:cNvPicPr>
          <p:nvPr/>
        </p:nvPicPr>
        <p:blipFill>
          <a:blip r:embed="rId3"/>
          <a:stretch>
            <a:fillRect/>
          </a:stretch>
        </p:blipFill>
        <p:spPr>
          <a:xfrm>
            <a:off x="6233007" y="1854523"/>
            <a:ext cx="5410047" cy="2417432"/>
          </a:xfrm>
          <a:prstGeom prst="rect">
            <a:avLst/>
          </a:prstGeom>
          <a:ln w="12700">
            <a:solidFill>
              <a:srgbClr val="D9DDE3"/>
            </a:solidFill>
          </a:ln>
        </p:spPr>
      </p:pic>
      <p:sp>
        <p:nvSpPr>
          <p:cNvPr id="13" name="Rectangle 12"/>
          <p:cNvSpPr/>
          <p:nvPr/>
        </p:nvSpPr>
        <p:spPr>
          <a:xfrm>
            <a:off x="6233007" y="4454836"/>
            <a:ext cx="54864" cy="1280160"/>
          </a:xfrm>
          <a:prstGeom prst="rect">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ODY"/>
          <p:cNvSpPr txBox="1"/>
          <p:nvPr/>
        </p:nvSpPr>
        <p:spPr>
          <a:xfrm>
            <a:off x="6370167" y="4409116"/>
            <a:ext cx="5227167" cy="1463040"/>
          </a:xfrm>
          <a:prstGeom prst="rect">
            <a:avLst/>
          </a:prstGeom>
          <a:noFill/>
        </p:spPr>
        <p:txBody>
          <a:bodyPr wrap="square" lIns="45720" rIns="45720"/>
          <a:lstStyle/>
          <a:p>
            <a:pPr marL="256032" indent="-237744">
              <a:lnSpc>
                <a:spcPct val="108000"/>
              </a:lnSpc>
              <a:spcAft>
                <a:spcPts val="400"/>
              </a:spcAft>
              <a:buClr>
                <a:srgbClr val="0F766E"/>
              </a:buClr>
              <a:buFont typeface="Arial"/>
              <a:buChar char="•"/>
            </a:pPr>
            <a:r>
              <a:rPr sz="1800" b="0" i="0">
                <a:solidFill>
                  <a:srgbClr val="222222"/>
                </a:solidFill>
                <a:latin typeface="Segoe UI"/>
                <a:ea typeface="Segoe UI"/>
                <a:cs typeface="Segoe UI"/>
              </a:rPr>
              <a:t>37.9 %  BZ2_decompress</a:t>
            </a:r>
          </a:p>
          <a:p>
            <a:pPr marL="256032" indent="-237744">
              <a:lnSpc>
                <a:spcPct val="108000"/>
              </a:lnSpc>
              <a:spcAft>
                <a:spcPts val="400"/>
              </a:spcAft>
              <a:buClr>
                <a:srgbClr val="0F766E"/>
              </a:buClr>
              <a:buFont typeface="Arial"/>
              <a:buChar char="•"/>
            </a:pPr>
            <a:r>
              <a:rPr sz="1800" b="0" i="0">
                <a:solidFill>
                  <a:srgbClr val="222222"/>
                </a:solidFill>
                <a:latin typeface="Segoe UI"/>
                <a:ea typeface="Segoe UI"/>
                <a:cs typeface="Segoe UI"/>
              </a:rPr>
              <a:t>20.9 %  BZ2_bzDecompress</a:t>
            </a:r>
          </a:p>
          <a:p>
            <a:pPr marL="256032" indent="-237744">
              <a:lnSpc>
                <a:spcPct val="108000"/>
              </a:lnSpc>
              <a:spcAft>
                <a:spcPts val="400"/>
              </a:spcAft>
              <a:buClr>
                <a:srgbClr val="0F766E"/>
              </a:buClr>
              <a:buFont typeface="Arial"/>
              <a:buChar char="•"/>
            </a:pPr>
            <a:r>
              <a:rPr sz="1800" b="0" i="0">
                <a:solidFill>
                  <a:srgbClr val="222222"/>
                </a:solidFill>
                <a:latin typeface="Segoe UI"/>
                <a:ea typeface="Segoe UI"/>
                <a:cs typeface="Segoe UI"/>
              </a:rPr>
              <a:t>3.1 %  _PyEval_EvalFrameDefault (thin wrapper)</a:t>
            </a:r>
          </a:p>
        </p:txBody>
      </p:sp>
      <p:sp>
        <p:nvSpPr>
          <p:cNvPr id="15" name="BODY"/>
          <p:cNvSpPr txBox="1"/>
          <p:nvPr/>
        </p:nvSpPr>
        <p:spPr>
          <a:xfrm>
            <a:off x="548640" y="5806440"/>
            <a:ext cx="11094415" cy="411480"/>
          </a:xfrm>
          <a:prstGeom prst="rect">
            <a:avLst/>
          </a:prstGeom>
          <a:noFill/>
        </p:spPr>
        <p:txBody>
          <a:bodyPr wrap="square" lIns="45720" rIns="45720" anchor="t"/>
          <a:lstStyle/>
          <a:p>
            <a:pPr algn="l">
              <a:lnSpc>
                <a:spcPct val="105000"/>
              </a:lnSpc>
            </a:pPr>
            <a:r>
              <a:rPr sz="1800" b="0" i="0">
                <a:solidFill>
                  <a:srgbClr val="6B7280"/>
                </a:solidFill>
                <a:latin typeface="Segoe UI"/>
                <a:ea typeface="Segoe UI"/>
                <a:cs typeface="Segoe UI"/>
              </a:rPr>
              <a:t>Compare shape and percentages, not raw sample counts: the optimized run is ~244× shorter.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Hardware proposal: Huffman Fast-Decode Unit (HFDU)</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A · pyflate</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13</a:t>
            </a:r>
          </a:p>
        </p:txBody>
      </p:sp>
      <p:pic>
        <p:nvPicPr>
          <p:cNvPr id="7" name="Picture 6" descr="block_pyflate.png"/>
          <p:cNvPicPr>
            <a:picLocks noChangeAspect="1"/>
          </p:cNvPicPr>
          <p:nvPr/>
        </p:nvPicPr>
        <p:blipFill>
          <a:blip r:embed="rId2"/>
          <a:stretch>
            <a:fillRect/>
          </a:stretch>
        </p:blipFill>
        <p:spPr>
          <a:xfrm>
            <a:off x="548640" y="1502678"/>
            <a:ext cx="8351215" cy="4538442"/>
          </a:xfrm>
          <a:prstGeom prst="rect">
            <a:avLst/>
          </a:prstGeom>
          <a:ln w="12700">
            <a:solidFill>
              <a:srgbClr val="D9DDE3"/>
            </a:solidFill>
          </a:ln>
        </p:spPr>
      </p:pic>
      <p:sp>
        <p:nvSpPr>
          <p:cNvPr id="8" name="Rounded Rectangle 7"/>
          <p:cNvSpPr/>
          <p:nvPr/>
        </p:nvSpPr>
        <p:spPr>
          <a:xfrm>
            <a:off x="9128455" y="1502678"/>
            <a:ext cx="2514600" cy="1421374"/>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128455" y="1612406"/>
            <a:ext cx="54864" cy="120191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STAT"/>
          <p:cNvSpPr txBox="1"/>
          <p:nvPr/>
        </p:nvSpPr>
        <p:spPr>
          <a:xfrm>
            <a:off x="9311335" y="1612406"/>
            <a:ext cx="2240280" cy="548640"/>
          </a:xfrm>
          <a:prstGeom prst="rect">
            <a:avLst/>
          </a:prstGeom>
          <a:noFill/>
        </p:spPr>
        <p:txBody>
          <a:bodyPr wrap="square" lIns="45720" rIns="45720"/>
          <a:lstStyle/>
          <a:p>
            <a:r>
              <a:rPr sz="2600" b="0" i="0">
                <a:solidFill>
                  <a:srgbClr val="1F3A5F"/>
                </a:solidFill>
                <a:latin typeface="Segoe UI Semibold"/>
                <a:ea typeface="Segoe UI Semibold"/>
                <a:cs typeface="Segoe UI Semibold"/>
              </a:rPr>
              <a:t>1 cycle</a:t>
            </a:r>
          </a:p>
        </p:txBody>
      </p:sp>
      <p:sp>
        <p:nvSpPr>
          <p:cNvPr id="11" name="BODY"/>
          <p:cNvSpPr txBox="1"/>
          <p:nvPr/>
        </p:nvSpPr>
        <p:spPr>
          <a:xfrm>
            <a:off x="9311335" y="2161046"/>
            <a:ext cx="2240280" cy="689854"/>
          </a:xfrm>
          <a:prstGeom prst="rect">
            <a:avLst/>
          </a:prstGeom>
          <a:noFill/>
        </p:spPr>
        <p:txBody>
          <a:bodyPr wrap="square" lIns="45720" rIns="45720" anchor="t"/>
          <a:lstStyle/>
          <a:p>
            <a:pPr algn="l">
              <a:lnSpc>
                <a:spcPct val="105000"/>
              </a:lnSpc>
            </a:pPr>
            <a:r>
              <a:rPr sz="1800" b="0" i="0">
                <a:solidFill>
                  <a:srgbClr val="222222"/>
                </a:solidFill>
                <a:latin typeface="Segoe UI"/>
                <a:ea typeface="Segoe UI"/>
                <a:cs typeface="Segoe UI"/>
              </a:rPr>
              <a:t>per symbol on a level-1 table hit</a:t>
            </a:r>
          </a:p>
        </p:txBody>
      </p:sp>
      <p:sp>
        <p:nvSpPr>
          <p:cNvPr id="12" name="Rounded Rectangle 11"/>
          <p:cNvSpPr/>
          <p:nvPr/>
        </p:nvSpPr>
        <p:spPr>
          <a:xfrm>
            <a:off x="9128455" y="3061212"/>
            <a:ext cx="2514600" cy="1421374"/>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128455" y="3170940"/>
            <a:ext cx="54864" cy="120191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TAT"/>
          <p:cNvSpPr txBox="1"/>
          <p:nvPr/>
        </p:nvSpPr>
        <p:spPr>
          <a:xfrm>
            <a:off x="9311335" y="3170940"/>
            <a:ext cx="2240280" cy="548640"/>
          </a:xfrm>
          <a:prstGeom prst="rect">
            <a:avLst/>
          </a:prstGeom>
          <a:noFill/>
        </p:spPr>
        <p:txBody>
          <a:bodyPr wrap="square" lIns="45720" rIns="45720"/>
          <a:lstStyle/>
          <a:p>
            <a:r>
              <a:rPr sz="2600" b="0" i="0">
                <a:solidFill>
                  <a:srgbClr val="1F3A5F"/>
                </a:solidFill>
                <a:latin typeface="Segoe UI Semibold"/>
                <a:ea typeface="Segoe UI Semibold"/>
                <a:cs typeface="Segoe UI Semibold"/>
              </a:rPr>
              <a:t>6 banks</a:t>
            </a:r>
          </a:p>
        </p:txBody>
      </p:sp>
      <p:sp>
        <p:nvSpPr>
          <p:cNvPr id="15" name="BODY"/>
          <p:cNvSpPr txBox="1"/>
          <p:nvPr/>
        </p:nvSpPr>
        <p:spPr>
          <a:xfrm>
            <a:off x="9311335" y="3719580"/>
            <a:ext cx="2240280" cy="689854"/>
          </a:xfrm>
          <a:prstGeom prst="rect">
            <a:avLst/>
          </a:prstGeom>
          <a:noFill/>
        </p:spPr>
        <p:txBody>
          <a:bodyPr wrap="square" lIns="45720" rIns="45720" anchor="t"/>
          <a:lstStyle/>
          <a:p>
            <a:pPr algn="l">
              <a:lnSpc>
                <a:spcPct val="105000"/>
              </a:lnSpc>
            </a:pPr>
            <a:r>
              <a:rPr sz="1800" b="0" i="0">
                <a:solidFill>
                  <a:srgbClr val="222222"/>
                </a:solidFill>
                <a:latin typeface="Segoe UI"/>
                <a:ea typeface="Segoe UI"/>
                <a:cs typeface="Segoe UI"/>
              </a:rPr>
              <a:t>one per Huffman group</a:t>
            </a:r>
          </a:p>
        </p:txBody>
      </p:sp>
      <p:sp>
        <p:nvSpPr>
          <p:cNvPr id="16" name="Rounded Rectangle 15"/>
          <p:cNvSpPr/>
          <p:nvPr/>
        </p:nvSpPr>
        <p:spPr>
          <a:xfrm>
            <a:off x="9128455" y="4619747"/>
            <a:ext cx="2514600" cy="1421374"/>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9128455" y="4729475"/>
            <a:ext cx="54864" cy="120191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TAT"/>
          <p:cNvSpPr txBox="1"/>
          <p:nvPr/>
        </p:nvSpPr>
        <p:spPr>
          <a:xfrm>
            <a:off x="9311335" y="4729475"/>
            <a:ext cx="2240280" cy="548640"/>
          </a:xfrm>
          <a:prstGeom prst="rect">
            <a:avLst/>
          </a:prstGeom>
          <a:noFill/>
        </p:spPr>
        <p:txBody>
          <a:bodyPr wrap="square" lIns="45720" rIns="45720"/>
          <a:lstStyle/>
          <a:p>
            <a:r>
              <a:rPr sz="2600" b="0" i="0">
                <a:solidFill>
                  <a:srgbClr val="1F3A5F"/>
                </a:solidFill>
                <a:latin typeface="Segoe UI Semibold"/>
                <a:ea typeface="Segoe UI Semibold"/>
                <a:cs typeface="Segoe UI Semibold"/>
              </a:rPr>
              <a:t>200-400 MHz</a:t>
            </a:r>
          </a:p>
        </p:txBody>
      </p:sp>
      <p:sp>
        <p:nvSpPr>
          <p:cNvPr id="19" name="BODY"/>
          <p:cNvSpPr txBox="1"/>
          <p:nvPr/>
        </p:nvSpPr>
        <p:spPr>
          <a:xfrm>
            <a:off x="9311335" y="5278115"/>
            <a:ext cx="2240280" cy="689854"/>
          </a:xfrm>
          <a:prstGeom prst="rect">
            <a:avLst/>
          </a:prstGeom>
          <a:noFill/>
        </p:spPr>
        <p:txBody>
          <a:bodyPr wrap="square" lIns="45720" rIns="45720" anchor="t"/>
          <a:lstStyle/>
          <a:p>
            <a:pPr algn="l">
              <a:lnSpc>
                <a:spcPct val="105000"/>
              </a:lnSpc>
            </a:pPr>
            <a:r>
              <a:rPr sz="1800" b="0" i="0">
                <a:solidFill>
                  <a:srgbClr val="222222"/>
                </a:solidFill>
                <a:latin typeface="Segoe UI"/>
                <a:ea typeface="Segoe UI"/>
                <a:cs typeface="Segoe UI"/>
              </a:rPr>
              <a:t>FPGA target · hardware/hfdu.sv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Hardware proposal: benefit and trade-offs</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A · pyflate</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14</a:t>
            </a:r>
          </a:p>
        </p:txBody>
      </p:sp>
      <p:sp>
        <p:nvSpPr>
          <p:cNvPr id="7" name="Rounded Rectangle 6"/>
          <p:cNvSpPr/>
          <p:nvPr/>
        </p:nvSpPr>
        <p:spPr>
          <a:xfrm>
            <a:off x="548640" y="1325880"/>
            <a:ext cx="5432907" cy="233172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435608"/>
            <a:ext cx="54864" cy="2112263"/>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ODY"/>
          <p:cNvSpPr txBox="1"/>
          <p:nvPr/>
        </p:nvSpPr>
        <p:spPr>
          <a:xfrm>
            <a:off x="777240" y="1453896"/>
            <a:ext cx="5067147" cy="411480"/>
          </a:xfrm>
          <a:prstGeom prst="rect">
            <a:avLst/>
          </a:prstGeom>
          <a:noFill/>
        </p:spPr>
        <p:txBody>
          <a:bodyPr wrap="square" lIns="45720" rIns="45720" anchor="t"/>
          <a:lstStyle/>
          <a:p>
            <a:pPr algn="l">
              <a:lnSpc>
                <a:spcPct val="105000"/>
              </a:lnSpc>
            </a:pPr>
            <a:r>
              <a:rPr sz="1800" b="1" i="0">
                <a:solidFill>
                  <a:srgbClr val="0F766E"/>
                </a:solidFill>
                <a:latin typeface="Segoe UI"/>
                <a:ea typeface="Segoe UI"/>
                <a:cs typeface="Segoe UI"/>
              </a:rPr>
              <a:t>Performance</a:t>
            </a:r>
          </a:p>
        </p:txBody>
      </p:sp>
      <p:sp>
        <p:nvSpPr>
          <p:cNvPr id="10" name="BODY"/>
          <p:cNvSpPr txBox="1"/>
          <p:nvPr/>
        </p:nvSpPr>
        <p:spPr>
          <a:xfrm>
            <a:off x="731520" y="1892808"/>
            <a:ext cx="5112867" cy="1673351"/>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Decode goes from an O(n) scan to ~1 cycle per symbol</a:t>
            </a:r>
          </a:p>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Removes ~6-7 % of self-time in call / lookup overhead, plus the scan itself</a:t>
            </a:r>
          </a:p>
        </p:txBody>
      </p:sp>
      <p:sp>
        <p:nvSpPr>
          <p:cNvPr id="11" name="Rounded Rectangle 10"/>
          <p:cNvSpPr/>
          <p:nvPr/>
        </p:nvSpPr>
        <p:spPr>
          <a:xfrm>
            <a:off x="6210147" y="1325880"/>
            <a:ext cx="5432907" cy="233172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0147" y="1435608"/>
            <a:ext cx="54864" cy="2112263"/>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ODY"/>
          <p:cNvSpPr txBox="1"/>
          <p:nvPr/>
        </p:nvSpPr>
        <p:spPr>
          <a:xfrm>
            <a:off x="6438747" y="1453896"/>
            <a:ext cx="5067147" cy="411480"/>
          </a:xfrm>
          <a:prstGeom prst="rect">
            <a:avLst/>
          </a:prstGeom>
          <a:noFill/>
        </p:spPr>
        <p:txBody>
          <a:bodyPr wrap="square" lIns="45720" rIns="45720" anchor="t"/>
          <a:lstStyle/>
          <a:p>
            <a:pPr algn="l">
              <a:lnSpc>
                <a:spcPct val="105000"/>
              </a:lnSpc>
            </a:pPr>
            <a:r>
              <a:rPr sz="1800" b="1" i="0">
                <a:solidFill>
                  <a:srgbClr val="1F3A5F"/>
                </a:solidFill>
                <a:latin typeface="Segoe UI"/>
                <a:ea typeface="Segoe UI"/>
                <a:cs typeface="Segoe UI"/>
              </a:rPr>
              <a:t>Area</a:t>
            </a:r>
          </a:p>
        </p:txBody>
      </p:sp>
      <p:sp>
        <p:nvSpPr>
          <p:cNvPr id="14" name="BODY"/>
          <p:cNvSpPr txBox="1"/>
          <p:nvPr/>
        </p:nvSpPr>
        <p:spPr>
          <a:xfrm>
            <a:off x="6393027" y="1892808"/>
            <a:ext cx="5112867" cy="1673351"/>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6 × (256-entry L1 + small L2) SRAM</a:t>
            </a:r>
          </a:p>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A few KB in total: cheap in FPGA BRAM or ASIC SRAM</a:t>
            </a:r>
          </a:p>
        </p:txBody>
      </p:sp>
      <p:sp>
        <p:nvSpPr>
          <p:cNvPr id="15" name="Rounded Rectangle 14"/>
          <p:cNvSpPr/>
          <p:nvPr/>
        </p:nvSpPr>
        <p:spPr>
          <a:xfrm>
            <a:off x="548640" y="3840480"/>
            <a:ext cx="5432907" cy="233172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48640" y="3950208"/>
            <a:ext cx="54864" cy="2112263"/>
          </a:xfrm>
          <a:prstGeom prst="rect">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ODY"/>
          <p:cNvSpPr txBox="1"/>
          <p:nvPr/>
        </p:nvSpPr>
        <p:spPr>
          <a:xfrm>
            <a:off x="777240" y="3968496"/>
            <a:ext cx="5067147" cy="411480"/>
          </a:xfrm>
          <a:prstGeom prst="rect">
            <a:avLst/>
          </a:prstGeom>
          <a:noFill/>
        </p:spPr>
        <p:txBody>
          <a:bodyPr wrap="square" lIns="45720" rIns="45720" anchor="t"/>
          <a:lstStyle/>
          <a:p>
            <a:pPr algn="l">
              <a:lnSpc>
                <a:spcPct val="105000"/>
              </a:lnSpc>
            </a:pPr>
            <a:r>
              <a:rPr sz="1800" b="1" i="0">
                <a:solidFill>
                  <a:srgbClr val="1A7F37"/>
                </a:solidFill>
                <a:latin typeface="Segoe UI"/>
                <a:ea typeface="Segoe UI"/>
                <a:cs typeface="Segoe UI"/>
              </a:rPr>
              <a:t>Power</a:t>
            </a:r>
          </a:p>
        </p:txBody>
      </p:sp>
      <p:sp>
        <p:nvSpPr>
          <p:cNvPr id="18" name="BODY"/>
          <p:cNvSpPr txBox="1"/>
          <p:nvPr/>
        </p:nvSpPr>
        <p:spPr>
          <a:xfrm>
            <a:off x="731520" y="4407408"/>
            <a:ext cx="5112867" cy="1673351"/>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One table read and compare per symbol</a:t>
            </a:r>
          </a:p>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No fetch, decode or dispatch overhead as on a CPU</a:t>
            </a:r>
          </a:p>
        </p:txBody>
      </p:sp>
      <p:sp>
        <p:nvSpPr>
          <p:cNvPr id="19" name="Rounded Rectangle 18"/>
          <p:cNvSpPr/>
          <p:nvPr/>
        </p:nvSpPr>
        <p:spPr>
          <a:xfrm>
            <a:off x="6210147" y="3840480"/>
            <a:ext cx="5432907" cy="233172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10147" y="3950208"/>
            <a:ext cx="54864" cy="2112263"/>
          </a:xfrm>
          <a:prstGeom prst="rect">
            <a:avLst/>
          </a:prstGeom>
          <a:solidFill>
            <a:srgbClr val="B45A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ODY"/>
          <p:cNvSpPr txBox="1"/>
          <p:nvPr/>
        </p:nvSpPr>
        <p:spPr>
          <a:xfrm>
            <a:off x="6438747" y="3968496"/>
            <a:ext cx="5067147" cy="411480"/>
          </a:xfrm>
          <a:prstGeom prst="rect">
            <a:avLst/>
          </a:prstGeom>
          <a:noFill/>
        </p:spPr>
        <p:txBody>
          <a:bodyPr wrap="square" lIns="45720" rIns="45720" anchor="t"/>
          <a:lstStyle/>
          <a:p>
            <a:pPr algn="l">
              <a:lnSpc>
                <a:spcPct val="105000"/>
              </a:lnSpc>
            </a:pPr>
            <a:r>
              <a:rPr sz="1800" b="1" i="0">
                <a:solidFill>
                  <a:srgbClr val="B45A09"/>
                </a:solidFill>
                <a:latin typeface="Segoe UI"/>
                <a:ea typeface="Segoe UI"/>
                <a:cs typeface="Segoe UI"/>
              </a:rPr>
              <a:t>Trade-off we made</a:t>
            </a:r>
          </a:p>
        </p:txBody>
      </p:sp>
      <p:sp>
        <p:nvSpPr>
          <p:cNvPr id="22" name="BODY"/>
          <p:cNvSpPr txBox="1"/>
          <p:nvPr/>
        </p:nvSpPr>
        <p:spPr>
          <a:xfrm>
            <a:off x="6393027" y="4407408"/>
            <a:ext cx="5112867" cy="1673351"/>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Keep all 6 banks loaded: more SRAM, zero switch stalls</a:t>
            </a:r>
          </a:p>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New bottleneck: MTF, BWT and RLE stay in software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B · nbody</a:t>
            </a:r>
          </a:p>
        </p:txBody>
      </p:sp>
      <p:sp>
        <p:nvSpPr>
          <p:cNvPr id="3"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15</a:t>
            </a:r>
          </a:p>
        </p:txBody>
      </p:sp>
      <p:sp>
        <p:nvSpPr>
          <p:cNvPr id="4" name="Rectangle 3"/>
          <p:cNvSpPr/>
          <p:nvPr/>
        </p:nvSpPr>
        <p:spPr>
          <a:xfrm>
            <a:off x="0" y="2148840"/>
            <a:ext cx="12191695" cy="23774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2148840"/>
            <a:ext cx="292608" cy="23774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ODY"/>
          <p:cNvSpPr txBox="1"/>
          <p:nvPr/>
        </p:nvSpPr>
        <p:spPr>
          <a:xfrm>
            <a:off x="1097280" y="2423160"/>
            <a:ext cx="5486400" cy="411480"/>
          </a:xfrm>
          <a:prstGeom prst="rect">
            <a:avLst/>
          </a:prstGeom>
          <a:noFill/>
        </p:spPr>
        <p:txBody>
          <a:bodyPr wrap="square" lIns="45720" rIns="45720" anchor="t"/>
          <a:lstStyle/>
          <a:p>
            <a:pPr algn="l">
              <a:lnSpc>
                <a:spcPct val="105000"/>
              </a:lnSpc>
            </a:pPr>
            <a:r>
              <a:rPr sz="1800" b="1" i="0">
                <a:solidFill>
                  <a:srgbClr val="0F766E"/>
                </a:solidFill>
                <a:latin typeface="Segoe UI"/>
                <a:ea typeface="Segoe UI"/>
                <a:cs typeface="Segoe UI"/>
              </a:rPr>
              <a:t>PART B</a:t>
            </a:r>
          </a:p>
        </p:txBody>
      </p:sp>
      <p:sp>
        <p:nvSpPr>
          <p:cNvPr id="7" name="TITLE"/>
          <p:cNvSpPr txBox="1"/>
          <p:nvPr/>
        </p:nvSpPr>
        <p:spPr>
          <a:xfrm>
            <a:off x="1097280" y="2834640"/>
            <a:ext cx="10058400" cy="731520"/>
          </a:xfrm>
          <a:prstGeom prst="rect">
            <a:avLst/>
          </a:prstGeom>
          <a:noFill/>
        </p:spPr>
        <p:txBody>
          <a:bodyPr wrap="square" lIns="45720" rIns="45720"/>
          <a:lstStyle/>
          <a:p>
            <a:r>
              <a:rPr sz="3000" b="0" i="0">
                <a:solidFill>
                  <a:srgbClr val="1F3A5F"/>
                </a:solidFill>
                <a:latin typeface="Segoe UI Semibold"/>
                <a:ea typeface="Segoe UI Semibold"/>
                <a:cs typeface="Segoe UI Semibold"/>
              </a:rPr>
              <a:t>nbody</a:t>
            </a:r>
          </a:p>
        </p:txBody>
      </p:sp>
      <p:sp>
        <p:nvSpPr>
          <p:cNvPr id="8" name="BODY"/>
          <p:cNvSpPr txBox="1"/>
          <p:nvPr/>
        </p:nvSpPr>
        <p:spPr>
          <a:xfrm>
            <a:off x="1097280" y="3611880"/>
            <a:ext cx="10058400" cy="731520"/>
          </a:xfrm>
          <a:prstGeom prst="rect">
            <a:avLst/>
          </a:prstGeom>
          <a:noFill/>
        </p:spPr>
        <p:txBody>
          <a:bodyPr wrap="square" lIns="45720" rIns="45720" anchor="t"/>
          <a:lstStyle/>
          <a:p>
            <a:pPr algn="l">
              <a:lnSpc>
                <a:spcPct val="105000"/>
              </a:lnSpc>
            </a:pPr>
            <a:r>
              <a:rPr sz="1800" b="0" i="0">
                <a:solidFill>
                  <a:srgbClr val="222222"/>
                </a:solidFill>
                <a:latin typeface="Segoe UI"/>
                <a:ea typeface="Segoe UI"/>
                <a:cs typeface="Segoe UI"/>
              </a:rPr>
              <a:t>A 5-body gravitational simulation in pure Python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What nbody does</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B · nbody</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16</a:t>
            </a:r>
          </a:p>
        </p:txBody>
      </p:sp>
      <p:sp>
        <p:nvSpPr>
          <p:cNvPr id="7" name="BODY"/>
          <p:cNvSpPr txBox="1"/>
          <p:nvPr/>
        </p:nvSpPr>
        <p:spPr>
          <a:xfrm>
            <a:off x="548640" y="1325880"/>
            <a:ext cx="7406640" cy="2743200"/>
          </a:xfrm>
          <a:prstGeom prst="rect">
            <a:avLst/>
          </a:prstGeom>
          <a:noFill/>
        </p:spPr>
        <p:txBody>
          <a:bodyPr wrap="square" lIns="45720" rIns="45720"/>
          <a:lstStyle/>
          <a:p>
            <a:pPr marL="256032" indent="-237744">
              <a:lnSpc>
                <a:spcPct val="108000"/>
              </a:lnSpc>
              <a:spcAft>
                <a:spcPts val="1000"/>
              </a:spcAft>
              <a:buClr>
                <a:srgbClr val="0F766E"/>
              </a:buClr>
              <a:buFont typeface="Arial"/>
              <a:buChar char="•"/>
            </a:pPr>
            <a:r>
              <a:rPr sz="1800" b="0" i="0">
                <a:solidFill>
                  <a:srgbClr val="222222"/>
                </a:solidFill>
                <a:latin typeface="Segoe UI"/>
                <a:ea typeface="Segoe UI"/>
                <a:cs typeface="Segoe UI"/>
              </a:rPr>
              <a:t>From the Computer Language Benchmarks Game: the </a:t>
            </a:r>
            <a:r>
              <a:rPr sz="1800" b="1" i="0">
                <a:solidFill>
                  <a:srgbClr val="222222"/>
                </a:solidFill>
                <a:latin typeface="Segoe UI"/>
                <a:ea typeface="Segoe UI"/>
                <a:cs typeface="Segoe UI"/>
              </a:rPr>
              <a:t>Sun, Jupiter, Saturn, Uranus and Neptune</a:t>
            </a:r>
            <a:r>
              <a:rPr sz="1800" b="0" i="0">
                <a:solidFill>
                  <a:srgbClr val="222222"/>
                </a:solidFill>
                <a:latin typeface="Segoe UI"/>
                <a:ea typeface="Segoe UI"/>
                <a:cs typeface="Segoe UI"/>
              </a:rPr>
              <a:t> under mutual gravity</a:t>
            </a:r>
          </a:p>
          <a:p>
            <a:pPr marL="256032" indent="-237744">
              <a:lnSpc>
                <a:spcPct val="108000"/>
              </a:lnSpc>
              <a:spcAft>
                <a:spcPts val="1000"/>
              </a:spcAft>
              <a:buClr>
                <a:srgbClr val="0F766E"/>
              </a:buClr>
              <a:buFont typeface="Arial"/>
              <a:buChar char="•"/>
            </a:pPr>
            <a:r>
              <a:rPr sz="1800" b="0" i="0">
                <a:solidFill>
                  <a:srgbClr val="222222"/>
                </a:solidFill>
                <a:latin typeface="Segoe UI"/>
                <a:ea typeface="Segoe UI"/>
                <a:cs typeface="Segoe UI"/>
              </a:rPr>
              <a:t>Plain Python lists and floats; no numpy</a:t>
            </a:r>
          </a:p>
          <a:p>
            <a:pPr marL="256032" indent="-237744">
              <a:lnSpc>
                <a:spcPct val="108000"/>
              </a:lnSpc>
              <a:spcAft>
                <a:spcPts val="1000"/>
              </a:spcAft>
              <a:buClr>
                <a:srgbClr val="0F766E"/>
              </a:buClr>
              <a:buFont typeface="Arial"/>
              <a:buChar char="•"/>
            </a:pPr>
            <a:r>
              <a:rPr sz="1800" b="0" i="0">
                <a:solidFill>
                  <a:srgbClr val="222222"/>
                </a:solidFill>
                <a:latin typeface="Segoe UI"/>
                <a:ea typeface="Segoe UI"/>
                <a:cs typeface="Segoe UI"/>
              </a:rPr>
              <a:t>Each loop: report_energy() → </a:t>
            </a:r>
            <a:r>
              <a:rPr sz="1800" b="1" i="0">
                <a:solidFill>
                  <a:srgbClr val="222222"/>
                </a:solidFill>
                <a:latin typeface="Segoe UI"/>
                <a:ea typeface="Segoe UI"/>
                <a:cs typeface="Segoe UI"/>
              </a:rPr>
              <a:t>advance(0.01, 20000)</a:t>
            </a:r>
            <a:r>
              <a:rPr sz="1800" b="0" i="0">
                <a:solidFill>
                  <a:srgbClr val="222222"/>
                </a:solidFill>
                <a:latin typeface="Segoe UI"/>
                <a:ea typeface="Segoe UI"/>
                <a:cs typeface="Segoe UI"/>
              </a:rPr>
              <a:t> → report_energy()</a:t>
            </a:r>
          </a:p>
          <a:p>
            <a:pPr marL="256032" indent="-237744">
              <a:lnSpc>
                <a:spcPct val="108000"/>
              </a:lnSpc>
              <a:spcAft>
                <a:spcPts val="1000"/>
              </a:spcAft>
              <a:buClr>
                <a:srgbClr val="0F766E"/>
              </a:buClr>
              <a:buFont typeface="Arial"/>
              <a:buChar char="•"/>
            </a:pPr>
            <a:r>
              <a:rPr sz="1800" b="0" i="0">
                <a:solidFill>
                  <a:srgbClr val="222222"/>
                </a:solidFill>
                <a:latin typeface="Segoe UI"/>
                <a:ea typeface="Segoe UI"/>
                <a:cs typeface="Segoe UI"/>
              </a:rPr>
              <a:t>20,000 timesteps × 10 body pairs = </a:t>
            </a:r>
            <a:r>
              <a:rPr sz="1800" b="1" i="0">
                <a:solidFill>
                  <a:srgbClr val="222222"/>
                </a:solidFill>
                <a:latin typeface="Segoe UI"/>
                <a:ea typeface="Segoe UI"/>
                <a:cs typeface="Segoe UI"/>
              </a:rPr>
              <a:t>200,000 pair updates</a:t>
            </a:r>
            <a:r>
              <a:rPr sz="1800" b="0" i="0">
                <a:solidFill>
                  <a:srgbClr val="222222"/>
                </a:solidFill>
                <a:latin typeface="Segoe UI"/>
                <a:ea typeface="Segoe UI"/>
                <a:cs typeface="Segoe UI"/>
              </a:rPr>
              <a:t> per loop</a:t>
            </a:r>
          </a:p>
        </p:txBody>
      </p:sp>
      <p:sp>
        <p:nvSpPr>
          <p:cNvPr id="8" name="Rounded Rectangle 7"/>
          <p:cNvSpPr/>
          <p:nvPr/>
        </p:nvSpPr>
        <p:spPr>
          <a:xfrm>
            <a:off x="8458200" y="1371600"/>
            <a:ext cx="3182112" cy="2103120"/>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ODY"/>
          <p:cNvSpPr txBox="1"/>
          <p:nvPr/>
        </p:nvSpPr>
        <p:spPr>
          <a:xfrm>
            <a:off x="8641080" y="1508760"/>
            <a:ext cx="2834640" cy="365760"/>
          </a:xfrm>
          <a:prstGeom prst="rect">
            <a:avLst/>
          </a:prstGeom>
          <a:noFill/>
        </p:spPr>
        <p:txBody>
          <a:bodyPr wrap="square" lIns="45720" rIns="45720" anchor="t"/>
          <a:lstStyle/>
          <a:p>
            <a:pPr algn="ctr">
              <a:lnSpc>
                <a:spcPct val="105000"/>
              </a:lnSpc>
            </a:pPr>
            <a:r>
              <a:rPr sz="1800" b="0" i="0">
                <a:solidFill>
                  <a:srgbClr val="6B7280"/>
                </a:solidFill>
                <a:latin typeface="Segoe UI"/>
                <a:ea typeface="Segoe UI"/>
                <a:cs typeface="Segoe UI"/>
              </a:rPr>
              <a:t>Baseline</a:t>
            </a:r>
          </a:p>
        </p:txBody>
      </p:sp>
      <p:sp>
        <p:nvSpPr>
          <p:cNvPr id="10" name="STAT"/>
          <p:cNvSpPr txBox="1"/>
          <p:nvPr/>
        </p:nvSpPr>
        <p:spPr>
          <a:xfrm>
            <a:off x="8641080" y="1874519"/>
            <a:ext cx="2834640" cy="822960"/>
          </a:xfrm>
          <a:prstGeom prst="rect">
            <a:avLst/>
          </a:prstGeom>
          <a:noFill/>
        </p:spPr>
        <p:txBody>
          <a:bodyPr wrap="square" lIns="45720" rIns="45720"/>
          <a:lstStyle/>
          <a:p>
            <a:pPr algn="ctr"/>
            <a:r>
              <a:rPr sz="4000" b="0" i="0">
                <a:solidFill>
                  <a:srgbClr val="1F3A5F"/>
                </a:solidFill>
                <a:latin typeface="Segoe UI Semibold"/>
                <a:ea typeface="Segoe UI Semibold"/>
                <a:cs typeface="Segoe UI Semibold"/>
              </a:rPr>
              <a:t>483 ms</a:t>
            </a:r>
          </a:p>
        </p:txBody>
      </p:sp>
      <p:sp>
        <p:nvSpPr>
          <p:cNvPr id="11" name="BODY"/>
          <p:cNvSpPr txBox="1"/>
          <p:nvPr/>
        </p:nvSpPr>
        <p:spPr>
          <a:xfrm>
            <a:off x="8641080" y="2743200"/>
            <a:ext cx="2834640" cy="411480"/>
          </a:xfrm>
          <a:prstGeom prst="rect">
            <a:avLst/>
          </a:prstGeom>
          <a:noFill/>
        </p:spPr>
        <p:txBody>
          <a:bodyPr wrap="square" lIns="45720" rIns="45720" anchor="t"/>
          <a:lstStyle/>
          <a:p>
            <a:pPr algn="ctr">
              <a:lnSpc>
                <a:spcPct val="105000"/>
              </a:lnSpc>
            </a:pPr>
            <a:r>
              <a:rPr sz="1800" b="0" i="0">
                <a:solidFill>
                  <a:srgbClr val="6B7280"/>
                </a:solidFill>
                <a:latin typeface="Segoe UI"/>
                <a:ea typeface="Segoe UI"/>
                <a:cs typeface="Segoe UI"/>
              </a:rPr>
              <a:t>± 4 ms per loop (pyperf)</a:t>
            </a:r>
          </a:p>
        </p:txBody>
      </p:sp>
      <p:sp>
        <p:nvSpPr>
          <p:cNvPr id="12" name="BODY"/>
          <p:cNvSpPr txBox="1"/>
          <p:nvPr/>
        </p:nvSpPr>
        <p:spPr>
          <a:xfrm>
            <a:off x="548640" y="4069080"/>
            <a:ext cx="9144000" cy="411480"/>
          </a:xfrm>
          <a:prstGeom prst="rect">
            <a:avLst/>
          </a:prstGeom>
          <a:noFill/>
        </p:spPr>
        <p:txBody>
          <a:bodyPr wrap="square" lIns="45720" rIns="45720" anchor="t"/>
          <a:lstStyle/>
          <a:p>
            <a:pPr algn="l">
              <a:lnSpc>
                <a:spcPct val="105000"/>
              </a:lnSpc>
            </a:pPr>
            <a:r>
              <a:rPr sz="1800" b="1" i="0">
                <a:solidFill>
                  <a:srgbClr val="222222"/>
                </a:solidFill>
                <a:latin typeface="Segoe UI"/>
                <a:ea typeface="Segoe UI"/>
                <a:cs typeface="Segoe UI"/>
              </a:rPr>
              <a:t>One timestep of advance()</a:t>
            </a:r>
            <a:r>
              <a:rPr sz="1800" b="0" i="0">
                <a:solidFill>
                  <a:srgbClr val="222222"/>
                </a:solidFill>
                <a:latin typeface="Segoe UI"/>
                <a:ea typeface="Segoe UI"/>
                <a:cs typeface="Segoe UI"/>
              </a:rPr>
              <a:t>, repeated 20,000 times per loop</a:t>
            </a:r>
          </a:p>
        </p:txBody>
      </p:sp>
      <p:sp>
        <p:nvSpPr>
          <p:cNvPr id="13" name="Rounded Rectangle 12"/>
          <p:cNvSpPr/>
          <p:nvPr/>
        </p:nvSpPr>
        <p:spPr>
          <a:xfrm>
            <a:off x="548640" y="4572000"/>
            <a:ext cx="2011680" cy="1143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ODY"/>
          <p:cNvSpPr txBox="1"/>
          <p:nvPr/>
        </p:nvSpPr>
        <p:spPr>
          <a:xfrm>
            <a:off x="594360" y="4645152"/>
            <a:ext cx="1920240" cy="996696"/>
          </a:xfrm>
          <a:prstGeom prst="rect">
            <a:avLst/>
          </a:prstGeom>
          <a:noFill/>
        </p:spPr>
        <p:txBody>
          <a:bodyPr wrap="square" lIns="45720" rIns="45720" anchor="ctr"/>
          <a:lstStyle/>
          <a:p>
            <a:pPr algn="ctr">
              <a:lnSpc>
                <a:spcPct val="105000"/>
              </a:lnSpc>
            </a:pPr>
            <a:r>
              <a:rPr sz="1800" b="1" i="0">
                <a:solidFill>
                  <a:srgbClr val="222222"/>
                </a:solidFill>
                <a:latin typeface="Segoe UI"/>
                <a:ea typeface="Segoe UI"/>
                <a:cs typeface="Segoe UI"/>
              </a:rPr>
              <a:t>10 pairs</a:t>
            </a:r>
          </a:p>
          <a:p>
            <a:pPr algn="ctr">
              <a:lnSpc>
                <a:spcPct val="105000"/>
              </a:lnSpc>
            </a:pPr>
            <a:r>
              <a:rPr sz="1800" b="0" i="0">
                <a:solidFill>
                  <a:srgbClr val="222222"/>
                </a:solidFill>
                <a:latin typeface="Segoe UI"/>
                <a:ea typeface="Segoe UI"/>
                <a:cs typeface="Segoe UI"/>
              </a:rPr>
              <a:t>dx, dy, dz</a:t>
            </a:r>
          </a:p>
        </p:txBody>
      </p:sp>
      <p:cxnSp>
        <p:nvCxnSpPr>
          <p:cNvPr id="15" name="Connector 14"/>
          <p:cNvCxnSpPr/>
          <p:nvPr/>
        </p:nvCxnSpPr>
        <p:spPr>
          <a:xfrm>
            <a:off x="2587752" y="5143500"/>
            <a:ext cx="201168" cy="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816352" y="4572000"/>
            <a:ext cx="2011680" cy="1143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ODY"/>
          <p:cNvSpPr txBox="1"/>
          <p:nvPr/>
        </p:nvSpPr>
        <p:spPr>
          <a:xfrm>
            <a:off x="2862072" y="4645152"/>
            <a:ext cx="1920240" cy="996696"/>
          </a:xfrm>
          <a:prstGeom prst="rect">
            <a:avLst/>
          </a:prstGeom>
          <a:noFill/>
        </p:spPr>
        <p:txBody>
          <a:bodyPr wrap="square" lIns="45720" rIns="45720" anchor="ctr"/>
          <a:lstStyle/>
          <a:p>
            <a:pPr algn="ctr">
              <a:lnSpc>
                <a:spcPct val="105000"/>
              </a:lnSpc>
            </a:pPr>
            <a:r>
              <a:rPr sz="1800" b="1" i="0">
                <a:solidFill>
                  <a:srgbClr val="222222"/>
                </a:solidFill>
                <a:latin typeface="Segoe UI"/>
                <a:ea typeface="Segoe UI"/>
                <a:cs typeface="Segoe UI"/>
              </a:rPr>
              <a:t>Distance²</a:t>
            </a:r>
          </a:p>
          <a:p>
            <a:pPr algn="ctr">
              <a:lnSpc>
                <a:spcPct val="105000"/>
              </a:lnSpc>
            </a:pPr>
            <a:r>
              <a:rPr sz="1800" b="0" i="0">
                <a:solidFill>
                  <a:srgbClr val="222222"/>
                </a:solidFill>
                <a:latin typeface="Segoe UI"/>
                <a:ea typeface="Segoe UI"/>
                <a:cs typeface="Segoe UI"/>
              </a:rPr>
              <a:t>r² = dx²+dy²+dz²</a:t>
            </a:r>
          </a:p>
        </p:txBody>
      </p:sp>
      <p:cxnSp>
        <p:nvCxnSpPr>
          <p:cNvPr id="18" name="Connector 17"/>
          <p:cNvCxnSpPr/>
          <p:nvPr/>
        </p:nvCxnSpPr>
        <p:spPr>
          <a:xfrm>
            <a:off x="4855464" y="5143500"/>
            <a:ext cx="201168" cy="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84064" y="4572000"/>
            <a:ext cx="2011680" cy="1143000"/>
          </a:xfrm>
          <a:prstGeom prst="roundRect">
            <a:avLst>
              <a:gd name="adj" fmla="val 8000"/>
            </a:avLst>
          </a:prstGeom>
          <a:solidFill>
            <a:srgbClr val="FDE7E4"/>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BODY"/>
          <p:cNvSpPr txBox="1"/>
          <p:nvPr/>
        </p:nvSpPr>
        <p:spPr>
          <a:xfrm>
            <a:off x="5129784" y="4645152"/>
            <a:ext cx="1920240" cy="996696"/>
          </a:xfrm>
          <a:prstGeom prst="rect">
            <a:avLst/>
          </a:prstGeom>
          <a:noFill/>
        </p:spPr>
        <p:txBody>
          <a:bodyPr wrap="square" lIns="45720" rIns="45720" anchor="ctr"/>
          <a:lstStyle/>
          <a:p>
            <a:pPr algn="ctr">
              <a:lnSpc>
                <a:spcPct val="105000"/>
              </a:lnSpc>
            </a:pPr>
            <a:r>
              <a:rPr sz="1800" b="1" i="0">
                <a:solidFill>
                  <a:srgbClr val="222222"/>
                </a:solidFill>
                <a:latin typeface="Segoe UI"/>
                <a:ea typeface="Segoe UI"/>
                <a:cs typeface="Segoe UI"/>
              </a:rPr>
              <a:t>Force factor</a:t>
            </a:r>
          </a:p>
          <a:p>
            <a:pPr algn="ctr">
              <a:lnSpc>
                <a:spcPct val="105000"/>
              </a:lnSpc>
            </a:pPr>
            <a:r>
              <a:rPr sz="1800" b="0" i="0">
                <a:solidFill>
                  <a:srgbClr val="222222"/>
                </a:solidFill>
                <a:latin typeface="Segoe UI"/>
                <a:ea typeface="Segoe UI"/>
                <a:cs typeface="Segoe UI"/>
              </a:rPr>
              <a:t>mag = dt · r^-1.5</a:t>
            </a:r>
          </a:p>
        </p:txBody>
      </p:sp>
      <p:cxnSp>
        <p:nvCxnSpPr>
          <p:cNvPr id="21" name="Connector 20"/>
          <p:cNvCxnSpPr/>
          <p:nvPr/>
        </p:nvCxnSpPr>
        <p:spPr>
          <a:xfrm>
            <a:off x="7123176" y="5143500"/>
            <a:ext cx="201168" cy="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51776" y="4572000"/>
            <a:ext cx="2011680" cy="1143000"/>
          </a:xfrm>
          <a:prstGeom prst="roundRect">
            <a:avLst>
              <a:gd name="adj" fmla="val 8000"/>
            </a:avLst>
          </a:prstGeom>
          <a:solidFill>
            <a:srgbClr val="FDE7E4"/>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BODY"/>
          <p:cNvSpPr txBox="1"/>
          <p:nvPr/>
        </p:nvSpPr>
        <p:spPr>
          <a:xfrm>
            <a:off x="7397496" y="4645152"/>
            <a:ext cx="1920240" cy="996696"/>
          </a:xfrm>
          <a:prstGeom prst="rect">
            <a:avLst/>
          </a:prstGeom>
          <a:noFill/>
        </p:spPr>
        <p:txBody>
          <a:bodyPr wrap="square" lIns="45720" rIns="45720" anchor="ctr"/>
          <a:lstStyle/>
          <a:p>
            <a:pPr algn="ctr">
              <a:lnSpc>
                <a:spcPct val="105000"/>
              </a:lnSpc>
            </a:pPr>
            <a:r>
              <a:rPr sz="1800" b="1" i="0">
                <a:solidFill>
                  <a:srgbClr val="222222"/>
                </a:solidFill>
                <a:latin typeface="Segoe UI"/>
                <a:ea typeface="Segoe UI"/>
                <a:cs typeface="Segoe UI"/>
              </a:rPr>
              <a:t>Update velocities</a:t>
            </a:r>
          </a:p>
          <a:p>
            <a:pPr algn="ctr">
              <a:lnSpc>
                <a:spcPct val="105000"/>
              </a:lnSpc>
            </a:pPr>
            <a:r>
              <a:rPr sz="1800" b="0" i="0">
                <a:solidFill>
                  <a:srgbClr val="222222"/>
                </a:solidFill>
                <a:latin typeface="Segoe UI"/>
                <a:ea typeface="Segoe UI"/>
                <a:cs typeface="Segoe UI"/>
              </a:rPr>
              <a:t>6 list writes</a:t>
            </a:r>
          </a:p>
        </p:txBody>
      </p:sp>
      <p:cxnSp>
        <p:nvCxnSpPr>
          <p:cNvPr id="24" name="Connector 23"/>
          <p:cNvCxnSpPr/>
          <p:nvPr/>
        </p:nvCxnSpPr>
        <p:spPr>
          <a:xfrm>
            <a:off x="9390888" y="5143500"/>
            <a:ext cx="201168" cy="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619488" y="4572000"/>
            <a:ext cx="2011680" cy="1143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BODY"/>
          <p:cNvSpPr txBox="1"/>
          <p:nvPr/>
        </p:nvSpPr>
        <p:spPr>
          <a:xfrm>
            <a:off x="9665208" y="4645152"/>
            <a:ext cx="1920240" cy="996696"/>
          </a:xfrm>
          <a:prstGeom prst="rect">
            <a:avLst/>
          </a:prstGeom>
          <a:noFill/>
        </p:spPr>
        <p:txBody>
          <a:bodyPr wrap="square" lIns="45720" rIns="45720" anchor="ctr"/>
          <a:lstStyle/>
          <a:p>
            <a:pPr algn="ctr">
              <a:lnSpc>
                <a:spcPct val="105000"/>
              </a:lnSpc>
            </a:pPr>
            <a:r>
              <a:rPr sz="1800" b="1" i="0">
                <a:solidFill>
                  <a:srgbClr val="222222"/>
                </a:solidFill>
                <a:latin typeface="Segoe UI"/>
                <a:ea typeface="Segoe UI"/>
                <a:cs typeface="Segoe UI"/>
              </a:rPr>
              <a:t>5 bodies</a:t>
            </a:r>
          </a:p>
          <a:p>
            <a:pPr algn="ctr">
              <a:lnSpc>
                <a:spcPct val="105000"/>
              </a:lnSpc>
            </a:pPr>
            <a:r>
              <a:rPr sz="1800" b="0" i="0">
                <a:solidFill>
                  <a:srgbClr val="222222"/>
                </a:solidFill>
                <a:latin typeface="Segoe UI"/>
                <a:ea typeface="Segoe UI"/>
                <a:cs typeface="Segoe UI"/>
              </a:rPr>
              <a:t>pos += dt · vel</a:t>
            </a:r>
          </a:p>
        </p:txBody>
      </p:sp>
      <p:sp>
        <p:nvSpPr>
          <p:cNvPr id="27" name="BODY"/>
          <p:cNvSpPr txBox="1"/>
          <p:nvPr/>
        </p:nvSpPr>
        <p:spPr>
          <a:xfrm>
            <a:off x="548640" y="5806440"/>
            <a:ext cx="11094415" cy="411480"/>
          </a:xfrm>
          <a:prstGeom prst="rect">
            <a:avLst/>
          </a:prstGeom>
          <a:noFill/>
        </p:spPr>
        <p:txBody>
          <a:bodyPr wrap="square" lIns="45720" rIns="45720" anchor="t"/>
          <a:lstStyle/>
          <a:p>
            <a:pPr algn="l">
              <a:lnSpc>
                <a:spcPct val="105000"/>
              </a:lnSpc>
            </a:pPr>
            <a:r>
              <a:rPr sz="1800" b="0" i="0">
                <a:solidFill>
                  <a:srgbClr val="6B7280"/>
                </a:solidFill>
                <a:latin typeface="Segoe UI"/>
                <a:ea typeface="Segoe UI"/>
                <a:cs typeface="Segoe UI"/>
              </a:rPr>
              <a:t>Red = the power operator and the list writes, which the profile later points to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Profiling: hardware counters (perf stat)</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B · nbody</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17</a:t>
            </a:r>
          </a:p>
        </p:txBody>
      </p:sp>
      <p:graphicFrame>
        <p:nvGraphicFramePr>
          <p:cNvPr id="7" name="BODY_TABLE"/>
          <p:cNvGraphicFramePr>
            <a:graphicFrameLocks noGrp="1"/>
          </p:cNvGraphicFramePr>
          <p:nvPr/>
        </p:nvGraphicFramePr>
        <p:xfrm>
          <a:off x="548640" y="1325880"/>
          <a:ext cx="11091672" cy="2743200"/>
        </p:xfrm>
        <a:graphic>
          <a:graphicData uri="http://schemas.openxmlformats.org/drawingml/2006/table">
            <a:tbl>
              <a:tblPr firstRow="0" bandRow="0">
                <a:tableStyleId>{2D5ABB26-0587-4C30-8999-92F81FD0307C}</a:tableStyleId>
              </a:tblPr>
              <a:tblGrid>
                <a:gridCol w="2377440"/>
                <a:gridCol w="3017520"/>
                <a:gridCol w="5696712"/>
              </a:tblGrid>
              <a:tr h="457200">
                <a:tc>
                  <a:txBody>
                    <a:bodyPr wrap="square"/>
                    <a:lstStyle/>
                    <a:p>
                      <a:pPr algn="l"/>
                      <a:r>
                        <a:rPr sz="1800" b="1" i="0">
                          <a:solidFill>
                            <a:srgbClr val="FFFFFF"/>
                          </a:solidFill>
                          <a:latin typeface="Segoe UI"/>
                          <a:ea typeface="Segoe UI"/>
                          <a:cs typeface="Segoe UI"/>
                        </a:rPr>
                        <a:t>Counter</a:t>
                      </a:r>
                    </a:p>
                  </a:txBody>
                  <a:tcPr marL="91440" marR="91440" marT="27432" marB="27432" anchor="ctr">
                    <a:solidFill>
                      <a:srgbClr val="1F3A5F"/>
                    </a:solidFill>
                  </a:tcPr>
                </a:tc>
                <a:tc>
                  <a:txBody>
                    <a:bodyPr wrap="square"/>
                    <a:lstStyle/>
                    <a:p>
                      <a:pPr algn="r"/>
                      <a:r>
                        <a:rPr sz="1800" b="1" i="0">
                          <a:solidFill>
                            <a:srgbClr val="FFFFFF"/>
                          </a:solidFill>
                          <a:latin typeface="Segoe UI"/>
                          <a:ea typeface="Segoe UI"/>
                          <a:cs typeface="Segoe UI"/>
                        </a:rPr>
                        <a:t>Value</a:t>
                      </a:r>
                    </a:p>
                  </a:txBody>
                  <a:tcPr marL="91440" marR="91440" marT="27432" marB="27432" anchor="ctr">
                    <a:solidFill>
                      <a:srgbClr val="1F3A5F"/>
                    </a:solidFill>
                  </a:tcPr>
                </a:tc>
                <a:tc>
                  <a:txBody>
                    <a:bodyPr wrap="square"/>
                    <a:lstStyle/>
                    <a:p>
                      <a:pPr algn="l"/>
                      <a:r>
                        <a:rPr sz="1800" b="1" i="0">
                          <a:solidFill>
                            <a:srgbClr val="FFFFFF"/>
                          </a:solidFill>
                          <a:latin typeface="Segoe UI"/>
                          <a:ea typeface="Segoe UI"/>
                          <a:cs typeface="Segoe UI"/>
                        </a:rPr>
                        <a:t>What it tells us</a:t>
                      </a:r>
                    </a:p>
                  </a:txBody>
                  <a:tcPr marL="91440" marR="91440" marT="27432" marB="27432" anchor="ctr">
                    <a:solidFill>
                      <a:srgbClr val="1F3A5F"/>
                    </a:solidFill>
                  </a:tcPr>
                </a:tc>
              </a:tr>
              <a:tr h="457200">
                <a:tc>
                  <a:txBody>
                    <a:bodyPr wrap="square"/>
                    <a:lstStyle/>
                    <a:p>
                      <a:pPr algn="l"/>
                      <a:r>
                        <a:rPr sz="1800" b="0" i="0">
                          <a:solidFill>
                            <a:srgbClr val="222222"/>
                          </a:solidFill>
                          <a:latin typeface="Segoe UI"/>
                          <a:ea typeface="Segoe UI"/>
                          <a:cs typeface="Segoe UI"/>
                        </a:rPr>
                        <a:t>Instructions</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260,503,357,966</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~260 billion over the whole pyperf run</a:t>
                      </a:r>
                    </a:p>
                  </a:txBody>
                  <a:tcPr marL="91440" marR="91440" marT="27432" marB="27432" anchor="ctr">
                    <a:solidFill>
                      <a:srgbClr val="FFFFFF"/>
                    </a:solidFill>
                  </a:tcPr>
                </a:tc>
              </a:tr>
              <a:tr h="457200">
                <a:tc>
                  <a:txBody>
                    <a:bodyPr wrap="square"/>
                    <a:lstStyle/>
                    <a:p>
                      <a:pPr algn="l"/>
                      <a:r>
                        <a:rPr sz="1800" b="0" i="0">
                          <a:solidFill>
                            <a:srgbClr val="222222"/>
                          </a:solidFill>
                          <a:latin typeface="Segoe UI"/>
                          <a:ea typeface="Segoe UI"/>
                          <a:cs typeface="Segoe UI"/>
                        </a:rPr>
                        <a:t>Cycles</a:t>
                      </a:r>
                    </a:p>
                  </a:txBody>
                  <a:tcPr marL="91440" marR="91440" marT="27432" marB="27432" anchor="ctr">
                    <a:solidFill>
                      <a:srgbClr val="F3F4F6"/>
                    </a:solidFill>
                  </a:tcPr>
                </a:tc>
                <a:tc>
                  <a:txBody>
                    <a:bodyPr wrap="square"/>
                    <a:lstStyle/>
                    <a:p>
                      <a:pPr algn="r"/>
                      <a:r>
                        <a:rPr sz="1800" b="0" i="0">
                          <a:solidFill>
                            <a:srgbClr val="222222"/>
                          </a:solidFill>
                          <a:latin typeface="Segoe UI"/>
                          <a:ea typeface="Segoe UI"/>
                          <a:cs typeface="Segoe UI"/>
                        </a:rPr>
                        <a:t>107,660,144,120</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compute-bound, like pyflate</a:t>
                      </a:r>
                    </a:p>
                  </a:txBody>
                  <a:tcPr marL="91440" marR="91440" marT="27432" marB="27432" anchor="ctr">
                    <a:solidFill>
                      <a:srgbClr val="F3F4F6"/>
                    </a:solidFill>
                  </a:tcPr>
                </a:tc>
              </a:tr>
              <a:tr h="457200">
                <a:tc>
                  <a:txBody>
                    <a:bodyPr wrap="square"/>
                    <a:lstStyle/>
                    <a:p>
                      <a:pPr algn="l"/>
                      <a:r>
                        <a:rPr sz="1800" b="0" i="0">
                          <a:solidFill>
                            <a:srgbClr val="222222"/>
                          </a:solidFill>
                          <a:latin typeface="Segoe UI"/>
                          <a:ea typeface="Segoe UI"/>
                          <a:cs typeface="Segoe UI"/>
                        </a:rPr>
                        <a:t>IPC</a:t>
                      </a:r>
                    </a:p>
                  </a:txBody>
                  <a:tcPr marL="91440" marR="91440" marT="27432" marB="27432" anchor="ctr">
                    <a:solidFill>
                      <a:srgbClr val="FFFFFF"/>
                    </a:solidFill>
                  </a:tcPr>
                </a:tc>
                <a:tc>
                  <a:txBody>
                    <a:bodyPr wrap="square"/>
                    <a:lstStyle/>
                    <a:p>
                      <a:pPr algn="r"/>
                      <a:r>
                        <a:rPr sz="1800" b="1" i="0">
                          <a:solidFill>
                            <a:srgbClr val="1F3A5F"/>
                          </a:solidFill>
                          <a:latin typeface="Segoe UI"/>
                          <a:ea typeface="Segoe UI"/>
                          <a:cs typeface="Segoe UI"/>
                        </a:rPr>
                        <a:t>2.42 insn / cycle</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even higher than pyflate's 2.17</a:t>
                      </a:r>
                    </a:p>
                  </a:txBody>
                  <a:tcPr marL="91440" marR="91440" marT="27432" marB="27432" anchor="ctr">
                    <a:solidFill>
                      <a:srgbClr val="FFFFFF"/>
                    </a:solidFill>
                  </a:tcPr>
                </a:tc>
              </a:tr>
              <a:tr h="457200">
                <a:tc>
                  <a:txBody>
                    <a:bodyPr wrap="square"/>
                    <a:lstStyle/>
                    <a:p>
                      <a:pPr algn="l"/>
                      <a:r>
                        <a:rPr sz="1800" b="0" i="0">
                          <a:solidFill>
                            <a:srgbClr val="222222"/>
                          </a:solidFill>
                          <a:latin typeface="Segoe UI"/>
                          <a:ea typeface="Segoe UI"/>
                          <a:cs typeface="Segoe UI"/>
                        </a:rPr>
                        <a:t>Cache-miss rate</a:t>
                      </a:r>
                    </a:p>
                  </a:txBody>
                  <a:tcPr marL="91440" marR="91440" marT="27432" marB="27432" anchor="ctr">
                    <a:solidFill>
                      <a:srgbClr val="F3F4F6"/>
                    </a:solidFill>
                  </a:tcPr>
                </a:tc>
                <a:tc>
                  <a:txBody>
                    <a:bodyPr wrap="square"/>
                    <a:lstStyle/>
                    <a:p>
                      <a:pPr algn="r"/>
                      <a:r>
                        <a:rPr sz="1800" b="0" i="0">
                          <a:solidFill>
                            <a:srgbClr val="222222"/>
                          </a:solidFill>
                          <a:latin typeface="Segoe UI"/>
                          <a:ea typeface="Segoe UI"/>
                          <a:cs typeface="Segoe UI"/>
                        </a:rPr>
                        <a:t>2.83 %</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tiny working set: 5 bodies fit in L1</a:t>
                      </a:r>
                    </a:p>
                  </a:txBody>
                  <a:tcPr marL="91440" marR="91440" marT="27432" marB="27432" anchor="ctr">
                    <a:solidFill>
                      <a:srgbClr val="F3F4F6"/>
                    </a:solidFill>
                  </a:tcPr>
                </a:tc>
              </a:tr>
              <a:tr h="457200">
                <a:tc>
                  <a:txBody>
                    <a:bodyPr wrap="square"/>
                    <a:lstStyle/>
                    <a:p>
                      <a:pPr algn="l"/>
                      <a:r>
                        <a:rPr sz="1800" b="0" i="0">
                          <a:solidFill>
                            <a:srgbClr val="222222"/>
                          </a:solidFill>
                          <a:latin typeface="Segoe UI"/>
                          <a:ea typeface="Segoe UI"/>
                          <a:cs typeface="Segoe UI"/>
                        </a:rPr>
                        <a:t>Branch-miss rate</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0.49 %</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the interpreter loop predicts well</a:t>
                      </a:r>
                    </a:p>
                  </a:txBody>
                  <a:tcPr marL="91440" marR="91440" marT="27432" marB="27432" anchor="ctr">
                    <a:solidFill>
                      <a:srgbClr val="FFFFFF"/>
                    </a:solidFill>
                  </a:tcPr>
                </a:tc>
              </a:tr>
            </a:tbl>
          </a:graphicData>
        </a:graphic>
      </p:graphicFrame>
      <p:sp>
        <p:nvSpPr>
          <p:cNvPr id="8" name="Rounded Rectangle 7"/>
          <p:cNvSpPr/>
          <p:nvPr/>
        </p:nvSpPr>
        <p:spPr>
          <a:xfrm>
            <a:off x="548640" y="4206240"/>
            <a:ext cx="6675120" cy="1783080"/>
          </a:xfrm>
          <a:prstGeom prst="roundRect">
            <a:avLst>
              <a:gd name="adj" fmla="val 2500"/>
            </a:avLst>
          </a:prstGeom>
          <a:solidFill>
            <a:srgbClr val="F6F8FA"/>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57784" y="4535424"/>
            <a:ext cx="6656832" cy="9144"/>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ODEHEAD"/>
          <p:cNvSpPr txBox="1"/>
          <p:nvPr/>
        </p:nvSpPr>
        <p:spPr>
          <a:xfrm>
            <a:off x="658368" y="4242816"/>
            <a:ext cx="6455664" cy="274320"/>
          </a:xfrm>
          <a:prstGeom prst="rect">
            <a:avLst/>
          </a:prstGeom>
          <a:noFill/>
        </p:spPr>
        <p:txBody>
          <a:bodyPr wrap="none" lIns="45720" rIns="45720" anchor="ctr"/>
          <a:lstStyle/>
          <a:p>
            <a:r>
              <a:rPr sz="1100" b="0" i="0">
                <a:solidFill>
                  <a:srgbClr val="6B7280"/>
                </a:solidFill>
                <a:latin typeface="Consolas"/>
                <a:ea typeface="Consolas"/>
                <a:cs typeface="Consolas"/>
              </a:rPr>
              <a:t>same commands as pyflate</a:t>
            </a:r>
          </a:p>
        </p:txBody>
      </p:sp>
      <p:sp>
        <p:nvSpPr>
          <p:cNvPr id="11" name="CODE"/>
          <p:cNvSpPr txBox="1"/>
          <p:nvPr/>
        </p:nvSpPr>
        <p:spPr>
          <a:xfrm>
            <a:off x="694944" y="4626864"/>
            <a:ext cx="6455664" cy="975360"/>
          </a:xfrm>
          <a:prstGeom prst="rect">
            <a:avLst/>
          </a:prstGeom>
          <a:noFill/>
        </p:spPr>
        <p:txBody>
          <a:bodyPr wrap="none" lIns="0" rIns="0" tIns="0" bIns="0"/>
          <a:lstStyle/>
          <a:p>
            <a:pPr>
              <a:lnSpc>
                <a:spcPts val="1524"/>
              </a:lnSpc>
              <a:spcBef>
                <a:spcPts val="0"/>
              </a:spcBef>
              <a:spcAft>
                <a:spcPts val="0"/>
              </a:spcAft>
            </a:pPr>
            <a:r>
              <a:rPr sz="1200" b="0" i="0">
                <a:solidFill>
                  <a:srgbClr val="24292F"/>
                </a:solidFill>
                <a:latin typeface="Consolas"/>
                <a:ea typeface="Consolas"/>
                <a:cs typeface="Consolas"/>
              </a:rPr>
              <a:t>perf</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stat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-e</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cycles,instructions,cache-references,cache-misses,</a:t>
            </a:r>
            <a:r>
              <a:rPr sz="1200" b="0" i="0">
                <a:solidFill>
                  <a:srgbClr val="0A3069"/>
                </a:solidFill>
                <a:latin typeface="Consolas"/>
                <a:ea typeface="Consolas"/>
                <a:cs typeface="Consolas"/>
              </a:rPr>
              <a:t>\</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24292F"/>
                </a:solidFill>
                <a:latin typeface="Consolas"/>
                <a:ea typeface="Consolas"/>
                <a:cs typeface="Consolas"/>
              </a:rPr>
              <a:t>branch-instructions,branch-misses,bus-cycles,ref-cycles</a:t>
            </a:r>
            <a:r>
              <a:rPr sz="1200" b="0" i="0">
                <a:solidFill>
                  <a:srgbClr val="24292F"/>
                </a:solidFill>
                <a:latin typeface="Consolas"/>
                <a:ea typeface="Consolas"/>
                <a:cs typeface="Consolas"/>
              </a:rPr>
              <a:t> </a:t>
            </a:r>
            <a:r>
              <a:rPr sz="1200" b="0" i="0">
                <a:solidFill>
                  <a:srgbClr val="0A3069"/>
                </a:solidFill>
                <a:latin typeface="Consolas"/>
                <a:ea typeface="Consolas"/>
                <a:cs typeface="Consolas"/>
              </a:rPr>
              <a:t>\</a:t>
            </a:r>
          </a:p>
          <a:p>
            <a:pPr>
              <a:lnSpc>
                <a:spcPts val="1524"/>
              </a:lnSpc>
              <a:spcBef>
                <a:spcPts val="0"/>
              </a:spcBef>
              <a:spcAft>
                <a:spcPts val="0"/>
              </a:spcAft>
            </a:pP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python3-dbg</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run_benchmark.py</a:t>
            </a:r>
          </a:p>
          <a:p>
            <a:pPr>
              <a:lnSpc>
                <a:spcPts val="1524"/>
              </a:lnSpc>
              <a:spcBef>
                <a:spcPts val="0"/>
              </a:spcBef>
              <a:spcAft>
                <a:spcPts val="0"/>
              </a:spcAft>
            </a:pPr>
            <a:r>
              <a:rPr sz="1200" b="0" i="0">
                <a:solidFill>
                  <a:srgbClr val="24292F"/>
                </a:solidFill>
                <a:latin typeface="Consolas"/>
                <a:ea typeface="Consolas"/>
                <a:cs typeface="Consolas"/>
              </a:rPr>
              <a:t>perf</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record</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-F</a:t>
            </a:r>
            <a:r>
              <a:rPr sz="1200" b="0" i="0">
                <a:solidFill>
                  <a:srgbClr val="24292F"/>
                </a:solidFill>
                <a:latin typeface="Consolas"/>
                <a:ea typeface="Consolas"/>
                <a:cs typeface="Consolas"/>
              </a:rPr>
              <a:t> </a:t>
            </a:r>
            <a:r>
              <a:rPr sz="1200" b="0" i="0">
                <a:solidFill>
                  <a:srgbClr val="0550AE"/>
                </a:solidFill>
                <a:latin typeface="Consolas"/>
                <a:ea typeface="Consolas"/>
                <a:cs typeface="Consolas"/>
              </a:rPr>
              <a:t>999</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-g</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-e</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cpu-clock</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python3-dbg</a:t>
            </a:r>
            <a:r>
              <a:rPr sz="1200" b="0" i="0">
                <a:solidFill>
                  <a:srgbClr val="24292F"/>
                </a:solidFill>
                <a:latin typeface="Consolas"/>
                <a:ea typeface="Consolas"/>
                <a:cs typeface="Consolas"/>
              </a:rPr>
              <a:t> </a:t>
            </a:r>
            <a:r>
              <a:rPr sz="1200" b="0" i="0">
                <a:solidFill>
                  <a:srgbClr val="24292F"/>
                </a:solidFill>
                <a:latin typeface="Consolas"/>
                <a:ea typeface="Consolas"/>
                <a:cs typeface="Consolas"/>
              </a:rPr>
              <a:t>run_benchmark.py</a:t>
            </a:r>
          </a:p>
        </p:txBody>
      </p:sp>
      <p:sp>
        <p:nvSpPr>
          <p:cNvPr id="12" name="Rounded Rectangle 11"/>
          <p:cNvSpPr/>
          <p:nvPr/>
        </p:nvSpPr>
        <p:spPr>
          <a:xfrm>
            <a:off x="7452360" y="4206240"/>
            <a:ext cx="4187952" cy="178308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452360" y="4315968"/>
            <a:ext cx="54864" cy="156362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ODY"/>
          <p:cNvSpPr txBox="1"/>
          <p:nvPr/>
        </p:nvSpPr>
        <p:spPr>
          <a:xfrm>
            <a:off x="7680960" y="4334255"/>
            <a:ext cx="3822191" cy="411480"/>
          </a:xfrm>
          <a:prstGeom prst="rect">
            <a:avLst/>
          </a:prstGeom>
          <a:noFill/>
        </p:spPr>
        <p:txBody>
          <a:bodyPr wrap="square" lIns="45720" rIns="45720" anchor="t"/>
          <a:lstStyle/>
          <a:p>
            <a:pPr algn="l">
              <a:lnSpc>
                <a:spcPct val="105000"/>
              </a:lnSpc>
            </a:pPr>
            <a:r>
              <a:rPr sz="1800" b="1" i="0">
                <a:solidFill>
                  <a:srgbClr val="0F766E"/>
                </a:solidFill>
                <a:latin typeface="Segoe UI"/>
                <a:ea typeface="Segoe UI"/>
                <a:cs typeface="Segoe UI"/>
              </a:rPr>
              <a:t>Reading the numbers</a:t>
            </a:r>
          </a:p>
        </p:txBody>
      </p:sp>
      <p:sp>
        <p:nvSpPr>
          <p:cNvPr id="15" name="BODY"/>
          <p:cNvSpPr txBox="1"/>
          <p:nvPr/>
        </p:nvSpPr>
        <p:spPr>
          <a:xfrm>
            <a:off x="7635240" y="4773168"/>
            <a:ext cx="3867912" cy="1124712"/>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High IPC with low misses: the CPU is fast; it just has too many instructions to run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Profiling: flame graph of the original run</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B · nbody</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18</a:t>
            </a:r>
          </a:p>
        </p:txBody>
      </p:sp>
      <p:pic>
        <p:nvPicPr>
          <p:cNvPr id="7" name="Picture 6" descr="fg_nbody_original.png"/>
          <p:cNvPicPr>
            <a:picLocks noChangeAspect="1"/>
          </p:cNvPicPr>
          <p:nvPr/>
        </p:nvPicPr>
        <p:blipFill>
          <a:blip r:embed="rId2"/>
          <a:stretch>
            <a:fillRect/>
          </a:stretch>
        </p:blipFill>
        <p:spPr>
          <a:xfrm>
            <a:off x="548640" y="1760220"/>
            <a:ext cx="6492240" cy="2514600"/>
          </a:xfrm>
          <a:prstGeom prst="rect">
            <a:avLst/>
          </a:prstGeom>
          <a:ln w="12700">
            <a:solidFill>
              <a:srgbClr val="D9DDE3"/>
            </a:solidFill>
          </a:ln>
        </p:spPr>
      </p:pic>
      <p:sp>
        <p:nvSpPr>
          <p:cNvPr id="8" name="BODY"/>
          <p:cNvSpPr txBox="1"/>
          <p:nvPr/>
        </p:nvSpPr>
        <p:spPr>
          <a:xfrm>
            <a:off x="548640" y="4411980"/>
            <a:ext cx="6492240" cy="822960"/>
          </a:xfrm>
          <a:prstGeom prst="rect">
            <a:avLst/>
          </a:prstGeom>
          <a:noFill/>
        </p:spPr>
        <p:txBody>
          <a:bodyPr wrap="square" lIns="45720" rIns="45720" anchor="t"/>
          <a:lstStyle/>
          <a:p>
            <a:pPr algn="l">
              <a:lnSpc>
                <a:spcPct val="105000"/>
              </a:lnSpc>
            </a:pPr>
            <a:r>
              <a:rPr sz="1800" b="0" i="0">
                <a:solidFill>
                  <a:srgbClr val="6B7280"/>
                </a:solidFill>
                <a:latin typeface="Segoe UI"/>
                <a:ea typeface="Segoe UI"/>
                <a:cs typeface="Segoe UI"/>
              </a:rPr>
              <a:t>Bottom 5 stack levels of original/flamegraph_original.svg. Above them the stacks are ~129 levels of recursive interpreter frames.</a:t>
            </a:r>
          </a:p>
        </p:txBody>
      </p:sp>
      <p:sp>
        <p:nvSpPr>
          <p:cNvPr id="9" name="Rounded Rectangle 8"/>
          <p:cNvSpPr/>
          <p:nvPr/>
        </p:nvSpPr>
        <p:spPr>
          <a:xfrm>
            <a:off x="7223760" y="1371600"/>
            <a:ext cx="4416552" cy="466344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ODY"/>
          <p:cNvSpPr txBox="1"/>
          <p:nvPr/>
        </p:nvSpPr>
        <p:spPr>
          <a:xfrm>
            <a:off x="7406640" y="1490472"/>
            <a:ext cx="4114800" cy="411480"/>
          </a:xfrm>
          <a:prstGeom prst="rect">
            <a:avLst/>
          </a:prstGeom>
          <a:noFill/>
        </p:spPr>
        <p:txBody>
          <a:bodyPr wrap="square" lIns="45720" rIns="45720" anchor="t"/>
          <a:lstStyle/>
          <a:p>
            <a:pPr algn="l">
              <a:lnSpc>
                <a:spcPct val="105000"/>
              </a:lnSpc>
            </a:pPr>
            <a:r>
              <a:rPr sz="1800" b="1" i="0">
                <a:solidFill>
                  <a:srgbClr val="222222"/>
                </a:solidFill>
                <a:latin typeface="Segoe UI"/>
                <a:ea typeface="Segoe UI"/>
                <a:cs typeface="Segoe UI"/>
              </a:rPr>
              <a:t>Widest self-time frames</a:t>
            </a:r>
          </a:p>
        </p:txBody>
      </p:sp>
      <p:graphicFrame>
        <p:nvGraphicFramePr>
          <p:cNvPr id="11" name="BODY_TABLE"/>
          <p:cNvGraphicFramePr>
            <a:graphicFrameLocks noGrp="1"/>
          </p:cNvGraphicFramePr>
          <p:nvPr/>
        </p:nvGraphicFramePr>
        <p:xfrm>
          <a:off x="7315200" y="2011680"/>
          <a:ext cx="4233672" cy="3657600"/>
        </p:xfrm>
        <a:graphic>
          <a:graphicData uri="http://schemas.openxmlformats.org/drawingml/2006/table">
            <a:tbl>
              <a:tblPr firstRow="0" bandRow="0">
                <a:tableStyleId>{2D5ABB26-0587-4C30-8999-92F81FD0307C}</a:tableStyleId>
              </a:tblPr>
              <a:tblGrid>
                <a:gridCol w="868680"/>
                <a:gridCol w="3364992"/>
              </a:tblGrid>
              <a:tr h="457200">
                <a:tc>
                  <a:txBody>
                    <a:bodyPr wrap="square"/>
                    <a:lstStyle/>
                    <a:p>
                      <a:pPr algn="r"/>
                      <a:r>
                        <a:rPr sz="1800" b="0" i="0">
                          <a:solidFill>
                            <a:srgbClr val="1F3A5F"/>
                          </a:solidFill>
                          <a:latin typeface="Segoe UI"/>
                          <a:ea typeface="Segoe UI"/>
                          <a:cs typeface="Segoe UI"/>
                        </a:rPr>
                        <a:t>41.7 %</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_PyEval_EvalFrameDefault</a:t>
                      </a:r>
                    </a:p>
                  </a:txBody>
                  <a:tcPr marL="91440" marR="91440" marT="27432" marB="27432" anchor="ctr">
                    <a:solidFill>
                      <a:srgbClr val="F3F4F6"/>
                    </a:solidFill>
                  </a:tcPr>
                </a:tc>
              </a:tr>
              <a:tr h="457200">
                <a:tc>
                  <a:txBody>
                    <a:bodyPr wrap="square"/>
                    <a:lstStyle/>
                    <a:p>
                      <a:pPr algn="r"/>
                      <a:r>
                        <a:rPr sz="1800" b="0" i="0">
                          <a:solidFill>
                            <a:srgbClr val="1F3A5F"/>
                          </a:solidFill>
                          <a:latin typeface="Segoe UI"/>
                          <a:ea typeface="Segoe UI"/>
                          <a:cs typeface="Segoe UI"/>
                        </a:rPr>
                        <a:t>5.3 %</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binary_op1</a:t>
                      </a:r>
                    </a:p>
                  </a:txBody>
                  <a:tcPr marL="91440" marR="91440" marT="27432" marB="27432" anchor="ctr">
                    <a:solidFill>
                      <a:srgbClr val="FFFFFF"/>
                    </a:solidFill>
                  </a:tcPr>
                </a:tc>
              </a:tr>
              <a:tr h="457200">
                <a:tc>
                  <a:txBody>
                    <a:bodyPr wrap="square"/>
                    <a:lstStyle/>
                    <a:p>
                      <a:pPr algn="r"/>
                      <a:r>
                        <a:rPr sz="1800" b="0" i="0">
                          <a:solidFill>
                            <a:srgbClr val="B42318"/>
                          </a:solidFill>
                          <a:latin typeface="Segoe UI"/>
                          <a:ea typeface="Segoe UI"/>
                          <a:cs typeface="Segoe UI"/>
                        </a:rPr>
                        <a:t>3.6 %</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PyFloat_FromDouble</a:t>
                      </a:r>
                    </a:p>
                  </a:txBody>
                  <a:tcPr marL="91440" marR="91440" marT="27432" marB="27432" anchor="ctr">
                    <a:solidFill>
                      <a:srgbClr val="F3F4F6"/>
                    </a:solidFill>
                  </a:tcPr>
                </a:tc>
              </a:tr>
              <a:tr h="457200">
                <a:tc>
                  <a:txBody>
                    <a:bodyPr wrap="square"/>
                    <a:lstStyle/>
                    <a:p>
                      <a:pPr algn="r"/>
                      <a:r>
                        <a:rPr sz="1800" b="0" i="0">
                          <a:solidFill>
                            <a:srgbClr val="B42318"/>
                          </a:solidFill>
                          <a:latin typeface="Segoe UI"/>
                          <a:ea typeface="Segoe UI"/>
                          <a:cs typeface="Segoe UI"/>
                        </a:rPr>
                        <a:t>3.4 %</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float_mul</a:t>
                      </a:r>
                    </a:p>
                  </a:txBody>
                  <a:tcPr marL="91440" marR="91440" marT="27432" marB="27432" anchor="ctr">
                    <a:solidFill>
                      <a:srgbClr val="FFFFFF"/>
                    </a:solidFill>
                  </a:tcPr>
                </a:tc>
              </a:tr>
              <a:tr h="457200">
                <a:tc>
                  <a:txBody>
                    <a:bodyPr wrap="square"/>
                    <a:lstStyle/>
                    <a:p>
                      <a:pPr algn="r"/>
                      <a:r>
                        <a:rPr sz="1800" b="0" i="0">
                          <a:solidFill>
                            <a:srgbClr val="B42318"/>
                          </a:solidFill>
                          <a:latin typeface="Segoe UI"/>
                          <a:ea typeface="Segoe UI"/>
                          <a:cs typeface="Segoe UI"/>
                        </a:rPr>
                        <a:t>3.0 %</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float_dealloc</a:t>
                      </a:r>
                    </a:p>
                  </a:txBody>
                  <a:tcPr marL="91440" marR="91440" marT="27432" marB="27432" anchor="ctr">
                    <a:solidFill>
                      <a:srgbClr val="F3F4F6"/>
                    </a:solidFill>
                  </a:tcPr>
                </a:tc>
              </a:tr>
              <a:tr h="457200">
                <a:tc>
                  <a:txBody>
                    <a:bodyPr wrap="square"/>
                    <a:lstStyle/>
                    <a:p>
                      <a:pPr algn="r"/>
                      <a:r>
                        <a:rPr sz="1800" b="0" i="0">
                          <a:solidFill>
                            <a:srgbClr val="B45A09"/>
                          </a:solidFill>
                          <a:latin typeface="Segoe UI"/>
                          <a:ea typeface="Segoe UI"/>
                          <a:cs typeface="Segoe UI"/>
                        </a:rPr>
                        <a:t>2.5 %</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list_ass_item</a:t>
                      </a:r>
                    </a:p>
                  </a:txBody>
                  <a:tcPr marL="91440" marR="91440" marT="27432" marB="27432" anchor="ctr">
                    <a:solidFill>
                      <a:srgbClr val="FFFFFF"/>
                    </a:solidFill>
                  </a:tcPr>
                </a:tc>
              </a:tr>
              <a:tr h="457200">
                <a:tc>
                  <a:txBody>
                    <a:bodyPr wrap="square"/>
                    <a:lstStyle/>
                    <a:p>
                      <a:pPr algn="r"/>
                      <a:r>
                        <a:rPr sz="1800" b="0" i="0">
                          <a:solidFill>
                            <a:srgbClr val="B42318"/>
                          </a:solidFill>
                          <a:latin typeface="Segoe UI"/>
                          <a:ea typeface="Segoe UI"/>
                          <a:cs typeface="Segoe UI"/>
                        </a:rPr>
                        <a:t>1.9 %</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float_add</a:t>
                      </a:r>
                    </a:p>
                  </a:txBody>
                  <a:tcPr marL="91440" marR="91440" marT="27432" marB="27432" anchor="ctr">
                    <a:solidFill>
                      <a:srgbClr val="F3F4F6"/>
                    </a:solidFill>
                  </a:tcPr>
                </a:tc>
              </a:tr>
              <a:tr h="457200">
                <a:tc>
                  <a:txBody>
                    <a:bodyPr wrap="square"/>
                    <a:lstStyle/>
                    <a:p>
                      <a:pPr algn="r"/>
                      <a:r>
                        <a:rPr sz="1800" b="0" i="0">
                          <a:solidFill>
                            <a:srgbClr val="B45A09"/>
                          </a:solidFill>
                          <a:latin typeface="Segoe UI"/>
                          <a:ea typeface="Segoe UI"/>
                          <a:cs typeface="Segoe UI"/>
                        </a:rPr>
                        <a:t>1.7 %</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__ieee754_pow_fma</a:t>
                      </a:r>
                    </a:p>
                  </a:txBody>
                  <a:tcPr marL="91440" marR="91440" marT="27432" marB="27432"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Bottlenecks: where the self-time goes</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B · nbody</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19</a:t>
            </a:r>
          </a:p>
        </p:txBody>
      </p:sp>
      <p:graphicFrame>
        <p:nvGraphicFramePr>
          <p:cNvPr id="7" name="BODY_TABLE"/>
          <p:cNvGraphicFramePr>
            <a:graphicFrameLocks noGrp="1"/>
          </p:cNvGraphicFramePr>
          <p:nvPr/>
        </p:nvGraphicFramePr>
        <p:xfrm>
          <a:off x="548640" y="1325880"/>
          <a:ext cx="7406640" cy="4114800"/>
        </p:xfrm>
        <a:graphic>
          <a:graphicData uri="http://schemas.openxmlformats.org/drawingml/2006/table">
            <a:tbl>
              <a:tblPr firstRow="0" bandRow="0">
                <a:tableStyleId>{2D5ABB26-0587-4C30-8999-92F81FD0307C}</a:tableStyleId>
              </a:tblPr>
              <a:tblGrid>
                <a:gridCol w="1097280"/>
                <a:gridCol w="3931920"/>
                <a:gridCol w="2377440"/>
              </a:tblGrid>
              <a:tr h="457200">
                <a:tc>
                  <a:txBody>
                    <a:bodyPr wrap="square"/>
                    <a:lstStyle/>
                    <a:p>
                      <a:pPr algn="r"/>
                      <a:r>
                        <a:rPr sz="1800" b="1" i="0">
                          <a:solidFill>
                            <a:srgbClr val="FFFFFF"/>
                          </a:solidFill>
                          <a:latin typeface="Segoe UI"/>
                          <a:ea typeface="Segoe UI"/>
                          <a:cs typeface="Segoe UI"/>
                        </a:rPr>
                        <a:t>Self %</a:t>
                      </a:r>
                    </a:p>
                  </a:txBody>
                  <a:tcPr marL="91440" marR="91440" marT="27432" marB="27432" anchor="ctr">
                    <a:solidFill>
                      <a:srgbClr val="1F3A5F"/>
                    </a:solidFill>
                  </a:tcPr>
                </a:tc>
                <a:tc>
                  <a:txBody>
                    <a:bodyPr wrap="square"/>
                    <a:lstStyle/>
                    <a:p>
                      <a:pPr algn="l"/>
                      <a:r>
                        <a:rPr sz="1800" b="1" i="0">
                          <a:solidFill>
                            <a:srgbClr val="FFFFFF"/>
                          </a:solidFill>
                          <a:latin typeface="Segoe UI"/>
                          <a:ea typeface="Segoe UI"/>
                          <a:cs typeface="Segoe UI"/>
                        </a:rPr>
                        <a:t>Symbol</a:t>
                      </a:r>
                    </a:p>
                  </a:txBody>
                  <a:tcPr marL="91440" marR="91440" marT="27432" marB="27432" anchor="ctr">
                    <a:solidFill>
                      <a:srgbClr val="1F3A5F"/>
                    </a:solidFill>
                  </a:tcPr>
                </a:tc>
                <a:tc>
                  <a:txBody>
                    <a:bodyPr wrap="square"/>
                    <a:lstStyle/>
                    <a:p>
                      <a:pPr algn="l"/>
                      <a:r>
                        <a:rPr sz="1800" b="1" i="0">
                          <a:solidFill>
                            <a:srgbClr val="FFFFFF"/>
                          </a:solidFill>
                          <a:latin typeface="Segoe UI"/>
                          <a:ea typeface="Segoe UI"/>
                          <a:cs typeface="Segoe UI"/>
                        </a:rPr>
                        <a:t>Category</a:t>
                      </a:r>
                    </a:p>
                  </a:txBody>
                  <a:tcPr marL="91440" marR="91440" marT="27432" marB="27432" anchor="ctr">
                    <a:solidFill>
                      <a:srgbClr val="1F3A5F"/>
                    </a:solidFill>
                  </a:tcPr>
                </a:tc>
              </a:tr>
              <a:tr h="457200">
                <a:tc>
                  <a:txBody>
                    <a:bodyPr wrap="square"/>
                    <a:lstStyle/>
                    <a:p>
                      <a:pPr algn="r"/>
                      <a:r>
                        <a:rPr sz="1800" b="0" i="0">
                          <a:solidFill>
                            <a:srgbClr val="222222"/>
                          </a:solidFill>
                          <a:latin typeface="Segoe UI"/>
                          <a:ea typeface="Segoe UI"/>
                          <a:cs typeface="Segoe UI"/>
                        </a:rPr>
                        <a:t>29.40</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_PyEval_EvalFrameDefault</a:t>
                      </a:r>
                    </a:p>
                  </a:txBody>
                  <a:tcPr marL="91440" marR="91440" marT="27432" marB="27432" anchor="ctr">
                    <a:solidFill>
                      <a:srgbClr val="FFFFFF"/>
                    </a:solidFill>
                  </a:tcPr>
                </a:tc>
                <a:tc>
                  <a:txBody>
                    <a:bodyPr wrap="square"/>
                    <a:lstStyle/>
                    <a:p>
                      <a:pPr algn="l"/>
                      <a:r>
                        <a:rPr sz="1800" b="0" i="0">
                          <a:solidFill>
                            <a:srgbClr val="1F3A5F"/>
                          </a:solidFill>
                          <a:latin typeface="Segoe UI"/>
                          <a:ea typeface="Segoe UI"/>
                          <a:cs typeface="Segoe UI"/>
                        </a:rPr>
                        <a:t>Interpreter</a:t>
                      </a:r>
                    </a:p>
                  </a:txBody>
                  <a:tcPr marL="91440" marR="91440" marT="27432" marB="27432" anchor="ctr">
                    <a:solidFill>
                      <a:srgbClr val="FFFFFF"/>
                    </a:solidFill>
                  </a:tcPr>
                </a:tc>
              </a:tr>
              <a:tr h="457200">
                <a:tc>
                  <a:txBody>
                    <a:bodyPr wrap="square"/>
                    <a:lstStyle/>
                    <a:p>
                      <a:pPr algn="r"/>
                      <a:r>
                        <a:rPr sz="1800" b="0" i="0">
                          <a:solidFill>
                            <a:srgbClr val="222222"/>
                          </a:solidFill>
                          <a:latin typeface="Segoe UI"/>
                          <a:ea typeface="Segoe UI"/>
                          <a:cs typeface="Segoe UI"/>
                        </a:rPr>
                        <a:t>3.37</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binary_op1</a:t>
                      </a:r>
                    </a:p>
                  </a:txBody>
                  <a:tcPr marL="91440" marR="91440" marT="27432" marB="27432" anchor="ctr">
                    <a:solidFill>
                      <a:srgbClr val="F3F4F6"/>
                    </a:solidFill>
                  </a:tcPr>
                </a:tc>
                <a:tc>
                  <a:txBody>
                    <a:bodyPr wrap="square"/>
                    <a:lstStyle/>
                    <a:p>
                      <a:pPr algn="l"/>
                      <a:r>
                        <a:rPr sz="1800" b="0" i="0">
                          <a:solidFill>
                            <a:srgbClr val="1F3A5F"/>
                          </a:solidFill>
                          <a:latin typeface="Segoe UI"/>
                          <a:ea typeface="Segoe UI"/>
                          <a:cs typeface="Segoe UI"/>
                        </a:rPr>
                        <a:t>Interpreter</a:t>
                      </a:r>
                    </a:p>
                  </a:txBody>
                  <a:tcPr marL="91440" marR="91440" marT="27432" marB="27432" anchor="ctr">
                    <a:solidFill>
                      <a:srgbClr val="F3F4F6"/>
                    </a:solidFill>
                  </a:tcPr>
                </a:tc>
              </a:tr>
              <a:tr h="457200">
                <a:tc>
                  <a:txBody>
                    <a:bodyPr wrap="square"/>
                    <a:lstStyle/>
                    <a:p>
                      <a:pPr algn="r"/>
                      <a:r>
                        <a:rPr sz="1800" b="0" i="0">
                          <a:solidFill>
                            <a:srgbClr val="222222"/>
                          </a:solidFill>
                          <a:latin typeface="Segoe UI"/>
                          <a:ea typeface="Segoe UI"/>
                          <a:cs typeface="Segoe UI"/>
                        </a:rPr>
                        <a:t>2.51</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PyFloat_FromDouble</a:t>
                      </a:r>
                    </a:p>
                  </a:txBody>
                  <a:tcPr marL="91440" marR="91440" marT="27432" marB="27432" anchor="ctr">
                    <a:solidFill>
                      <a:srgbClr val="FFFFFF"/>
                    </a:solidFill>
                  </a:tcPr>
                </a:tc>
                <a:tc>
                  <a:txBody>
                    <a:bodyPr wrap="square"/>
                    <a:lstStyle/>
                    <a:p>
                      <a:pPr algn="l"/>
                      <a:r>
                        <a:rPr sz="1800" b="0" i="0">
                          <a:solidFill>
                            <a:srgbClr val="B42318"/>
                          </a:solidFill>
                          <a:latin typeface="Segoe UI"/>
                          <a:ea typeface="Segoe UI"/>
                          <a:cs typeface="Segoe UI"/>
                        </a:rPr>
                        <a:t>Float boxing</a:t>
                      </a:r>
                    </a:p>
                  </a:txBody>
                  <a:tcPr marL="91440" marR="91440" marT="27432" marB="27432" anchor="ctr">
                    <a:solidFill>
                      <a:srgbClr val="FFFFFF"/>
                    </a:solidFill>
                  </a:tcPr>
                </a:tc>
              </a:tr>
              <a:tr h="457200">
                <a:tc>
                  <a:txBody>
                    <a:bodyPr wrap="square"/>
                    <a:lstStyle/>
                    <a:p>
                      <a:pPr algn="r"/>
                      <a:r>
                        <a:rPr sz="1800" b="0" i="0">
                          <a:solidFill>
                            <a:srgbClr val="222222"/>
                          </a:solidFill>
                          <a:latin typeface="Segoe UI"/>
                          <a:ea typeface="Segoe UI"/>
                          <a:cs typeface="Segoe UI"/>
                        </a:rPr>
                        <a:t>2.35</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float_mul</a:t>
                      </a:r>
                    </a:p>
                  </a:txBody>
                  <a:tcPr marL="91440" marR="91440" marT="27432" marB="27432" anchor="ctr">
                    <a:solidFill>
                      <a:srgbClr val="F3F4F6"/>
                    </a:solidFill>
                  </a:tcPr>
                </a:tc>
                <a:tc>
                  <a:txBody>
                    <a:bodyPr wrap="square"/>
                    <a:lstStyle/>
                    <a:p>
                      <a:pPr algn="l"/>
                      <a:r>
                        <a:rPr sz="1800" b="0" i="0">
                          <a:solidFill>
                            <a:srgbClr val="B42318"/>
                          </a:solidFill>
                          <a:latin typeface="Segoe UI"/>
                          <a:ea typeface="Segoe UI"/>
                          <a:cs typeface="Segoe UI"/>
                        </a:rPr>
                        <a:t>Float boxing</a:t>
                      </a:r>
                    </a:p>
                  </a:txBody>
                  <a:tcPr marL="91440" marR="91440" marT="27432" marB="27432" anchor="ctr">
                    <a:solidFill>
                      <a:srgbClr val="F3F4F6"/>
                    </a:solidFill>
                  </a:tcPr>
                </a:tc>
              </a:tr>
              <a:tr h="457200">
                <a:tc>
                  <a:txBody>
                    <a:bodyPr wrap="square"/>
                    <a:lstStyle/>
                    <a:p>
                      <a:pPr algn="r"/>
                      <a:r>
                        <a:rPr sz="1800" b="0" i="0">
                          <a:solidFill>
                            <a:srgbClr val="222222"/>
                          </a:solidFill>
                          <a:latin typeface="Segoe UI"/>
                          <a:ea typeface="Segoe UI"/>
                          <a:cs typeface="Segoe UI"/>
                        </a:rPr>
                        <a:t>2.01</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float_dealloc</a:t>
                      </a:r>
                    </a:p>
                  </a:txBody>
                  <a:tcPr marL="91440" marR="91440" marT="27432" marB="27432" anchor="ctr">
                    <a:solidFill>
                      <a:srgbClr val="FFFFFF"/>
                    </a:solidFill>
                  </a:tcPr>
                </a:tc>
                <a:tc>
                  <a:txBody>
                    <a:bodyPr wrap="square"/>
                    <a:lstStyle/>
                    <a:p>
                      <a:pPr algn="l"/>
                      <a:r>
                        <a:rPr sz="1800" b="0" i="0">
                          <a:solidFill>
                            <a:srgbClr val="B42318"/>
                          </a:solidFill>
                          <a:latin typeface="Segoe UI"/>
                          <a:ea typeface="Segoe UI"/>
                          <a:cs typeface="Segoe UI"/>
                        </a:rPr>
                        <a:t>Float boxing</a:t>
                      </a:r>
                    </a:p>
                  </a:txBody>
                  <a:tcPr marL="91440" marR="91440" marT="27432" marB="27432" anchor="ctr">
                    <a:solidFill>
                      <a:srgbClr val="FFFFFF"/>
                    </a:solidFill>
                  </a:tcPr>
                </a:tc>
              </a:tr>
              <a:tr h="457200">
                <a:tc>
                  <a:txBody>
                    <a:bodyPr wrap="square"/>
                    <a:lstStyle/>
                    <a:p>
                      <a:pPr algn="r"/>
                      <a:r>
                        <a:rPr sz="1800" b="0" i="0">
                          <a:solidFill>
                            <a:srgbClr val="222222"/>
                          </a:solidFill>
                          <a:latin typeface="Segoe UI"/>
                          <a:ea typeface="Segoe UI"/>
                          <a:cs typeface="Segoe UI"/>
                        </a:rPr>
                        <a:t>1.65</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list_ass_item</a:t>
                      </a:r>
                    </a:p>
                  </a:txBody>
                  <a:tcPr marL="91440" marR="91440" marT="27432" marB="27432" anchor="ctr">
                    <a:solidFill>
                      <a:srgbClr val="F3F4F6"/>
                    </a:solidFill>
                  </a:tcPr>
                </a:tc>
                <a:tc>
                  <a:txBody>
                    <a:bodyPr wrap="square"/>
                    <a:lstStyle/>
                    <a:p>
                      <a:pPr algn="l"/>
                      <a:r>
                        <a:rPr sz="1800" b="0" i="0">
                          <a:solidFill>
                            <a:srgbClr val="B45A09"/>
                          </a:solidFill>
                          <a:latin typeface="Segoe UI"/>
                          <a:ea typeface="Segoe UI"/>
                          <a:cs typeface="Segoe UI"/>
                        </a:rPr>
                        <a:t>List writes</a:t>
                      </a:r>
                    </a:p>
                  </a:txBody>
                  <a:tcPr marL="91440" marR="91440" marT="27432" marB="27432" anchor="ctr">
                    <a:solidFill>
                      <a:srgbClr val="F3F4F6"/>
                    </a:solidFill>
                  </a:tcPr>
                </a:tc>
              </a:tr>
              <a:tr h="457200">
                <a:tc>
                  <a:txBody>
                    <a:bodyPr wrap="square"/>
                    <a:lstStyle/>
                    <a:p>
                      <a:pPr algn="r"/>
                      <a:r>
                        <a:rPr sz="1800" b="0" i="0">
                          <a:solidFill>
                            <a:srgbClr val="222222"/>
                          </a:solidFill>
                          <a:latin typeface="Segoe UI"/>
                          <a:ea typeface="Segoe UI"/>
                          <a:cs typeface="Segoe UI"/>
                        </a:rPr>
                        <a:t>1.44</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validate_list</a:t>
                      </a:r>
                    </a:p>
                  </a:txBody>
                  <a:tcPr marL="91440" marR="91440" marT="27432" marB="27432" anchor="ctr">
                    <a:solidFill>
                      <a:srgbClr val="FFFFFF"/>
                    </a:solidFill>
                  </a:tcPr>
                </a:tc>
                <a:tc>
                  <a:txBody>
                    <a:bodyPr wrap="square"/>
                    <a:lstStyle/>
                    <a:p>
                      <a:pPr algn="l"/>
                      <a:r>
                        <a:rPr sz="1800" b="0" i="0">
                          <a:solidFill>
                            <a:srgbClr val="B45A09"/>
                          </a:solidFill>
                          <a:latin typeface="Segoe UI"/>
                          <a:ea typeface="Segoe UI"/>
                          <a:cs typeface="Segoe UI"/>
                        </a:rPr>
                        <a:t>List writes</a:t>
                      </a:r>
                    </a:p>
                  </a:txBody>
                  <a:tcPr marL="91440" marR="91440" marT="27432" marB="27432" anchor="ctr">
                    <a:solidFill>
                      <a:srgbClr val="FFFFFF"/>
                    </a:solidFill>
                  </a:tcPr>
                </a:tc>
              </a:tr>
              <a:tr h="457200">
                <a:tc>
                  <a:txBody>
                    <a:bodyPr wrap="square"/>
                    <a:lstStyle/>
                    <a:p>
                      <a:pPr algn="r"/>
                      <a:r>
                        <a:rPr sz="1800" b="0" i="0">
                          <a:solidFill>
                            <a:srgbClr val="222222"/>
                          </a:solidFill>
                          <a:latin typeface="Segoe UI"/>
                          <a:ea typeface="Segoe UI"/>
                          <a:cs typeface="Segoe UI"/>
                        </a:rPr>
                        <a:t>1.33</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float_add</a:t>
                      </a:r>
                    </a:p>
                  </a:txBody>
                  <a:tcPr marL="91440" marR="91440" marT="27432" marB="27432" anchor="ctr">
                    <a:solidFill>
                      <a:srgbClr val="F3F4F6"/>
                    </a:solidFill>
                  </a:tcPr>
                </a:tc>
                <a:tc>
                  <a:txBody>
                    <a:bodyPr wrap="square"/>
                    <a:lstStyle/>
                    <a:p>
                      <a:pPr algn="l"/>
                      <a:r>
                        <a:rPr sz="1800" b="0" i="0">
                          <a:solidFill>
                            <a:srgbClr val="B42318"/>
                          </a:solidFill>
                          <a:latin typeface="Segoe UI"/>
                          <a:ea typeface="Segoe UI"/>
                          <a:cs typeface="Segoe UI"/>
                        </a:rPr>
                        <a:t>Float boxing</a:t>
                      </a:r>
                    </a:p>
                  </a:txBody>
                  <a:tcPr marL="91440" marR="91440" marT="27432" marB="27432" anchor="ctr">
                    <a:solidFill>
                      <a:srgbClr val="F3F4F6"/>
                    </a:solidFill>
                  </a:tcPr>
                </a:tc>
              </a:tr>
            </a:tbl>
          </a:graphicData>
        </a:graphic>
      </p:graphicFrame>
      <p:sp>
        <p:nvSpPr>
          <p:cNvPr id="8" name="BODY"/>
          <p:cNvSpPr txBox="1"/>
          <p:nvPr/>
        </p:nvSpPr>
        <p:spPr>
          <a:xfrm>
            <a:off x="548640" y="5532120"/>
            <a:ext cx="7406640" cy="411480"/>
          </a:xfrm>
          <a:prstGeom prst="rect">
            <a:avLst/>
          </a:prstGeom>
          <a:noFill/>
        </p:spPr>
        <p:txBody>
          <a:bodyPr wrap="square" lIns="45720" rIns="45720" anchor="t"/>
          <a:lstStyle/>
          <a:p>
            <a:pPr algn="l">
              <a:lnSpc>
                <a:spcPct val="105000"/>
              </a:lnSpc>
            </a:pPr>
            <a:r>
              <a:rPr sz="1800" b="0" i="0">
                <a:solidFill>
                  <a:srgbClr val="6B7280"/>
                </a:solidFill>
                <a:latin typeface="Segoe UI"/>
                <a:ea typeface="Segoe UI"/>
                <a:cs typeface="Segoe UI"/>
              </a:rPr>
              <a:t>perf report --stdio --no-children -g none  (self time only)</a:t>
            </a:r>
          </a:p>
        </p:txBody>
      </p:sp>
      <p:sp>
        <p:nvSpPr>
          <p:cNvPr id="9" name="Rounded Rectangle 8"/>
          <p:cNvSpPr/>
          <p:nvPr/>
        </p:nvSpPr>
        <p:spPr>
          <a:xfrm>
            <a:off x="8229600" y="1325880"/>
            <a:ext cx="3410712" cy="214884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229600" y="1435608"/>
            <a:ext cx="54864" cy="192938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ODY"/>
          <p:cNvSpPr txBox="1"/>
          <p:nvPr/>
        </p:nvSpPr>
        <p:spPr>
          <a:xfrm>
            <a:off x="8458200" y="1453896"/>
            <a:ext cx="3044952" cy="411480"/>
          </a:xfrm>
          <a:prstGeom prst="rect">
            <a:avLst/>
          </a:prstGeom>
          <a:noFill/>
        </p:spPr>
        <p:txBody>
          <a:bodyPr wrap="square" lIns="45720" rIns="45720" anchor="t"/>
          <a:lstStyle/>
          <a:p>
            <a:pPr algn="l">
              <a:lnSpc>
                <a:spcPct val="105000"/>
              </a:lnSpc>
            </a:pPr>
            <a:r>
              <a:rPr sz="1800" b="1" i="0">
                <a:solidFill>
                  <a:srgbClr val="B42318"/>
                </a:solidFill>
                <a:latin typeface="Segoe UI"/>
                <a:ea typeface="Segoe UI"/>
                <a:cs typeface="Segoe UI"/>
              </a:rPr>
              <a:t>Float boxing: ~9.3 %</a:t>
            </a:r>
          </a:p>
        </p:txBody>
      </p:sp>
      <p:sp>
        <p:nvSpPr>
          <p:cNvPr id="12" name="BODY"/>
          <p:cNvSpPr txBox="1"/>
          <p:nvPr/>
        </p:nvSpPr>
        <p:spPr>
          <a:xfrm>
            <a:off x="8412480" y="1892808"/>
            <a:ext cx="3090672" cy="1490472"/>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create, compute and free a heap object for every float result</a:t>
            </a:r>
          </a:p>
        </p:txBody>
      </p:sp>
      <p:sp>
        <p:nvSpPr>
          <p:cNvPr id="13" name="Rounded Rectangle 12"/>
          <p:cNvSpPr/>
          <p:nvPr/>
        </p:nvSpPr>
        <p:spPr>
          <a:xfrm>
            <a:off x="8229600" y="3657600"/>
            <a:ext cx="3410712" cy="214884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229600" y="3767328"/>
            <a:ext cx="54864" cy="1929384"/>
          </a:xfrm>
          <a:prstGeom prst="rect">
            <a:avLst/>
          </a:prstGeom>
          <a:solidFill>
            <a:srgbClr val="B45A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ODY"/>
          <p:cNvSpPr txBox="1"/>
          <p:nvPr/>
        </p:nvSpPr>
        <p:spPr>
          <a:xfrm>
            <a:off x="8458200" y="3785615"/>
            <a:ext cx="3044952" cy="411480"/>
          </a:xfrm>
          <a:prstGeom prst="rect">
            <a:avLst/>
          </a:prstGeom>
          <a:noFill/>
        </p:spPr>
        <p:txBody>
          <a:bodyPr wrap="square" lIns="45720" rIns="45720" anchor="t"/>
          <a:lstStyle/>
          <a:p>
            <a:pPr algn="l">
              <a:lnSpc>
                <a:spcPct val="105000"/>
              </a:lnSpc>
            </a:pPr>
            <a:r>
              <a:rPr sz="1800" b="1" i="0">
                <a:solidFill>
                  <a:srgbClr val="B45A09"/>
                </a:solidFill>
                <a:latin typeface="Segoe UI"/>
                <a:ea typeface="Segoe UI"/>
                <a:cs typeface="Segoe UI"/>
              </a:rPr>
              <a:t>List writes: 4.17 %</a:t>
            </a:r>
          </a:p>
        </p:txBody>
      </p:sp>
      <p:sp>
        <p:nvSpPr>
          <p:cNvPr id="16" name="BODY"/>
          <p:cNvSpPr txBox="1"/>
          <p:nvPr/>
        </p:nvSpPr>
        <p:spPr>
          <a:xfrm>
            <a:off x="8412480" y="4224528"/>
            <a:ext cx="3090672" cy="1490472"/>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v1[0] -= … goes through list_ass_item and debug checks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Bottlenecks: the code behind the hotspots</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B · nbody</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20</a:t>
            </a:r>
          </a:p>
        </p:txBody>
      </p:sp>
      <p:sp>
        <p:nvSpPr>
          <p:cNvPr id="7" name="Rounded Rectangle 6"/>
          <p:cNvSpPr/>
          <p:nvPr/>
        </p:nvSpPr>
        <p:spPr>
          <a:xfrm>
            <a:off x="548640" y="1234440"/>
            <a:ext cx="6812280" cy="4723892"/>
          </a:xfrm>
          <a:prstGeom prst="roundRect">
            <a:avLst>
              <a:gd name="adj" fmla="val 2500"/>
            </a:avLst>
          </a:prstGeom>
          <a:solidFill>
            <a:srgbClr val="F6F8FA"/>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57784" y="1563624"/>
            <a:ext cx="6793992" cy="9144"/>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HEAD"/>
          <p:cNvSpPr txBox="1"/>
          <p:nvPr/>
        </p:nvSpPr>
        <p:spPr>
          <a:xfrm>
            <a:off x="658368" y="1271016"/>
            <a:ext cx="6592824" cy="274320"/>
          </a:xfrm>
          <a:prstGeom prst="rect">
            <a:avLst/>
          </a:prstGeom>
          <a:noFill/>
        </p:spPr>
        <p:txBody>
          <a:bodyPr wrap="none" lIns="45720" rIns="45720" anchor="ctr"/>
          <a:lstStyle/>
          <a:p>
            <a:r>
              <a:rPr sz="1100" b="0" i="0">
                <a:solidFill>
                  <a:srgbClr val="6B7280"/>
                </a:solidFill>
                <a:latin typeface="Consolas"/>
                <a:ea typeface="Consolas"/>
                <a:cs typeface="Consolas"/>
              </a:rPr>
              <a:t>original/run_benchmark.py · advance() · lines 78-97</a:t>
            </a:r>
          </a:p>
        </p:txBody>
      </p:sp>
      <p:sp>
        <p:nvSpPr>
          <p:cNvPr id="10" name="CODEHEAD"/>
          <p:cNvSpPr txBox="1"/>
          <p:nvPr/>
        </p:nvSpPr>
        <p:spPr>
          <a:xfrm>
            <a:off x="4185666" y="1271016"/>
            <a:ext cx="3065526" cy="274320"/>
          </a:xfrm>
          <a:prstGeom prst="rect">
            <a:avLst/>
          </a:prstGeom>
          <a:noFill/>
        </p:spPr>
        <p:txBody>
          <a:bodyPr wrap="square" lIns="45720" rIns="45720" anchor="ctr"/>
          <a:lstStyle/>
          <a:p>
            <a:pPr algn="r"/>
            <a:r>
              <a:rPr sz="1200" b="1" i="0">
                <a:solidFill>
                  <a:srgbClr val="B42318"/>
                </a:solidFill>
                <a:latin typeface="Segoe UI"/>
                <a:ea typeface="Segoe UI"/>
                <a:cs typeface="Segoe UI"/>
              </a:rPr>
              <a:t>runs 200,000× per loop</a:t>
            </a:r>
          </a:p>
        </p:txBody>
      </p:sp>
      <p:sp>
        <p:nvSpPr>
          <p:cNvPr id="11" name="Rectangle 10"/>
          <p:cNvSpPr/>
          <p:nvPr/>
        </p:nvSpPr>
        <p:spPr>
          <a:xfrm>
            <a:off x="603503" y="2493772"/>
            <a:ext cx="6702552" cy="209677"/>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03503" y="2703449"/>
            <a:ext cx="6702552" cy="209677"/>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03503" y="2913126"/>
            <a:ext cx="6702552" cy="209677"/>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03503" y="3122803"/>
            <a:ext cx="6702552" cy="209677"/>
          </a:xfrm>
          <a:prstGeom prst="rect">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03503" y="3332480"/>
            <a:ext cx="6702552" cy="209677"/>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03503" y="3542157"/>
            <a:ext cx="6702552" cy="209677"/>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03503" y="3751834"/>
            <a:ext cx="6702552" cy="209677"/>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03503" y="3961511"/>
            <a:ext cx="6702552" cy="209677"/>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03503" y="4171188"/>
            <a:ext cx="6702552" cy="209677"/>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03503" y="4380865"/>
            <a:ext cx="6702552" cy="209677"/>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03503" y="4590542"/>
            <a:ext cx="6702552" cy="209677"/>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03503" y="4800219"/>
            <a:ext cx="6702552" cy="209677"/>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ODE"/>
          <p:cNvSpPr txBox="1"/>
          <p:nvPr/>
        </p:nvSpPr>
        <p:spPr>
          <a:xfrm>
            <a:off x="694944" y="1655064"/>
            <a:ext cx="6592824" cy="4394708"/>
          </a:xfrm>
          <a:prstGeom prst="rect">
            <a:avLst/>
          </a:prstGeom>
          <a:noFill/>
        </p:spPr>
        <p:txBody>
          <a:bodyPr wrap="none" lIns="0" rIns="0" tIns="0" bIns="0"/>
          <a:lstStyle/>
          <a:p>
            <a:pPr>
              <a:lnSpc>
                <a:spcPts val="1651"/>
              </a:lnSpc>
              <a:spcBef>
                <a:spcPts val="0"/>
              </a:spcBef>
              <a:spcAft>
                <a:spcPts val="0"/>
              </a:spcAft>
            </a:pPr>
            <a:r>
              <a:rPr sz="1300" b="0" i="0">
                <a:solidFill>
                  <a:srgbClr val="CF222E"/>
                </a:solidFill>
                <a:latin typeface="Consolas"/>
                <a:ea typeface="Consolas"/>
                <a:cs typeface="Consolas"/>
              </a:rPr>
              <a:t>def</a:t>
            </a:r>
            <a:r>
              <a:rPr sz="1300" b="0" i="0">
                <a:solidFill>
                  <a:srgbClr val="24292F"/>
                </a:solidFill>
                <a:latin typeface="Consolas"/>
                <a:ea typeface="Consolas"/>
                <a:cs typeface="Consolas"/>
              </a:rPr>
              <a:t> </a:t>
            </a:r>
            <a:r>
              <a:rPr sz="1300" b="0" i="0">
                <a:solidFill>
                  <a:srgbClr val="8250DF"/>
                </a:solidFill>
                <a:latin typeface="Consolas"/>
                <a:ea typeface="Consolas"/>
                <a:cs typeface="Consolas"/>
              </a:rPr>
              <a:t>advance</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dt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n</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bodies</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SYSTEM</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pairs</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PAIRS</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CF222E"/>
                </a:solidFill>
                <a:latin typeface="Consolas"/>
                <a:ea typeface="Consolas"/>
                <a:cs typeface="Consolas"/>
              </a:rPr>
              <a:t>for</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i</a:t>
            </a:r>
            <a:r>
              <a:rPr sz="1300" b="0" i="0">
                <a:solidFill>
                  <a:srgbClr val="24292F"/>
                </a:solidFill>
                <a:latin typeface="Consolas"/>
                <a:ea typeface="Consolas"/>
                <a:cs typeface="Consolas"/>
              </a:rPr>
              <a:t> </a:t>
            </a:r>
            <a:r>
              <a:rPr sz="1300" b="0" i="0">
                <a:solidFill>
                  <a:srgbClr val="CF222E"/>
                </a:solidFill>
                <a:latin typeface="Consolas"/>
                <a:ea typeface="Consolas"/>
                <a:cs typeface="Consolas"/>
              </a:rPr>
              <a:t>in</a:t>
            </a:r>
            <a:r>
              <a:rPr sz="1300" b="0" i="0">
                <a:solidFill>
                  <a:srgbClr val="24292F"/>
                </a:solidFill>
                <a:latin typeface="Consolas"/>
                <a:ea typeface="Consolas"/>
                <a:cs typeface="Consolas"/>
              </a:rPr>
              <a:t> </a:t>
            </a:r>
            <a:r>
              <a:rPr sz="1300" b="0" i="0">
                <a:solidFill>
                  <a:srgbClr val="8250DF"/>
                </a:solidFill>
                <a:latin typeface="Consolas"/>
                <a:ea typeface="Consolas"/>
                <a:cs typeface="Consolas"/>
              </a:rPr>
              <a:t>range</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n</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CF222E"/>
                </a:solidFill>
                <a:latin typeface="Consolas"/>
                <a:ea typeface="Consolas"/>
                <a:cs typeface="Consolas"/>
              </a:rPr>
              <a:t>for</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x1</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y1</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z1</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v1</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m1</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x2</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y2</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z2</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v2</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m2</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CF222E"/>
                </a:solidFill>
                <a:latin typeface="Consolas"/>
                <a:ea typeface="Consolas"/>
                <a:cs typeface="Consolas"/>
              </a:rPr>
              <a:t>in</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pairs</a:t>
            </a:r>
            <a:r>
              <a:rPr sz="1300" b="0" i="0">
                <a:solidFill>
                  <a:srgbClr val="24292F"/>
                </a:solidFill>
                <a:latin typeface="Consolas"/>
                <a:ea typeface="Consolas"/>
                <a:cs typeface="Consolas"/>
              </a:rPr>
              <a:t>:</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24292F"/>
                </a:solidFill>
                <a:latin typeface="Consolas"/>
                <a:ea typeface="Consolas"/>
                <a:cs typeface="Consolas"/>
              </a:rPr>
              <a:t>dx</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x1</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x2</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24292F"/>
                </a:solidFill>
                <a:latin typeface="Consolas"/>
                <a:ea typeface="Consolas"/>
                <a:cs typeface="Consolas"/>
              </a:rPr>
              <a:t>dy</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y1</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y2</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24292F"/>
                </a:solidFill>
                <a:latin typeface="Consolas"/>
                <a:ea typeface="Consolas"/>
                <a:cs typeface="Consolas"/>
              </a:rPr>
              <a:t>dz</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z1</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z2</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24292F"/>
                </a:solidFill>
                <a:latin typeface="Consolas"/>
                <a:ea typeface="Consolas"/>
                <a:cs typeface="Consolas"/>
              </a:rPr>
              <a:t>mag</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dt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dx</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dx</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dy</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dy</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dz</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dz</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0550AE"/>
                </a:solidFill>
                <a:latin typeface="Consolas"/>
                <a:ea typeface="Consolas"/>
                <a:cs typeface="Consolas"/>
              </a:rPr>
              <a:t>1.5</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24292F"/>
                </a:solidFill>
                <a:latin typeface="Consolas"/>
                <a:ea typeface="Consolas"/>
                <a:cs typeface="Consolas"/>
              </a:rPr>
              <a:t>b1m</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m1</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mag</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24292F"/>
                </a:solidFill>
                <a:latin typeface="Consolas"/>
                <a:ea typeface="Consolas"/>
                <a:cs typeface="Consolas"/>
              </a:rPr>
              <a:t>b2m</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m2</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mag</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24292F"/>
                </a:solidFill>
                <a:latin typeface="Consolas"/>
                <a:ea typeface="Consolas"/>
                <a:cs typeface="Consolas"/>
              </a:rPr>
              <a:t>v1</a:t>
            </a:r>
            <a:r>
              <a:rPr sz="1300" b="0" i="0">
                <a:solidFill>
                  <a:srgbClr val="24292F"/>
                </a:solidFill>
                <a:latin typeface="Consolas"/>
                <a:ea typeface="Consolas"/>
                <a:cs typeface="Consolas"/>
              </a:rPr>
              <a:t>[</a:t>
            </a:r>
            <a:r>
              <a:rPr sz="1300" b="0" i="0">
                <a:solidFill>
                  <a:srgbClr val="0550AE"/>
                </a:solidFill>
                <a:latin typeface="Consolas"/>
                <a:ea typeface="Consolas"/>
                <a:cs typeface="Consolas"/>
              </a:rPr>
              <a:t>0</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dx</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b2m</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24292F"/>
                </a:solidFill>
                <a:latin typeface="Consolas"/>
                <a:ea typeface="Consolas"/>
                <a:cs typeface="Consolas"/>
              </a:rPr>
              <a:t>v1</a:t>
            </a:r>
            <a:r>
              <a:rPr sz="1300" b="0" i="0">
                <a:solidFill>
                  <a:srgbClr val="24292F"/>
                </a:solidFill>
                <a:latin typeface="Consolas"/>
                <a:ea typeface="Consolas"/>
                <a:cs typeface="Consolas"/>
              </a:rPr>
              <a:t>[</a:t>
            </a:r>
            <a:r>
              <a:rPr sz="1300" b="0" i="0">
                <a:solidFill>
                  <a:srgbClr val="0550AE"/>
                </a:solidFill>
                <a:latin typeface="Consolas"/>
                <a:ea typeface="Consolas"/>
                <a:cs typeface="Consolas"/>
              </a:rPr>
              <a:t>1</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dy</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b2m</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24292F"/>
                </a:solidFill>
                <a:latin typeface="Consolas"/>
                <a:ea typeface="Consolas"/>
                <a:cs typeface="Consolas"/>
              </a:rPr>
              <a:t>v1</a:t>
            </a:r>
            <a:r>
              <a:rPr sz="1300" b="0" i="0">
                <a:solidFill>
                  <a:srgbClr val="24292F"/>
                </a:solidFill>
                <a:latin typeface="Consolas"/>
                <a:ea typeface="Consolas"/>
                <a:cs typeface="Consolas"/>
              </a:rPr>
              <a:t>[</a:t>
            </a:r>
            <a:r>
              <a:rPr sz="1300" b="0" i="0">
                <a:solidFill>
                  <a:srgbClr val="0550AE"/>
                </a:solidFill>
                <a:latin typeface="Consolas"/>
                <a:ea typeface="Consolas"/>
                <a:cs typeface="Consolas"/>
              </a:rPr>
              <a:t>2</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dz</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b2m</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24292F"/>
                </a:solidFill>
                <a:latin typeface="Consolas"/>
                <a:ea typeface="Consolas"/>
                <a:cs typeface="Consolas"/>
              </a:rPr>
              <a:t>v2</a:t>
            </a:r>
            <a:r>
              <a:rPr sz="1300" b="0" i="0">
                <a:solidFill>
                  <a:srgbClr val="24292F"/>
                </a:solidFill>
                <a:latin typeface="Consolas"/>
                <a:ea typeface="Consolas"/>
                <a:cs typeface="Consolas"/>
              </a:rPr>
              <a:t>[</a:t>
            </a:r>
            <a:r>
              <a:rPr sz="1300" b="0" i="0">
                <a:solidFill>
                  <a:srgbClr val="0550AE"/>
                </a:solidFill>
                <a:latin typeface="Consolas"/>
                <a:ea typeface="Consolas"/>
                <a:cs typeface="Consolas"/>
              </a:rPr>
              <a:t>0</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dx</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b1m</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24292F"/>
                </a:solidFill>
                <a:latin typeface="Consolas"/>
                <a:ea typeface="Consolas"/>
                <a:cs typeface="Consolas"/>
              </a:rPr>
              <a:t>v2</a:t>
            </a:r>
            <a:r>
              <a:rPr sz="1300" b="0" i="0">
                <a:solidFill>
                  <a:srgbClr val="24292F"/>
                </a:solidFill>
                <a:latin typeface="Consolas"/>
                <a:ea typeface="Consolas"/>
                <a:cs typeface="Consolas"/>
              </a:rPr>
              <a:t>[</a:t>
            </a:r>
            <a:r>
              <a:rPr sz="1300" b="0" i="0">
                <a:solidFill>
                  <a:srgbClr val="0550AE"/>
                </a:solidFill>
                <a:latin typeface="Consolas"/>
                <a:ea typeface="Consolas"/>
                <a:cs typeface="Consolas"/>
              </a:rPr>
              <a:t>1</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dy</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b1m</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24292F"/>
                </a:solidFill>
                <a:latin typeface="Consolas"/>
                <a:ea typeface="Consolas"/>
                <a:cs typeface="Consolas"/>
              </a:rPr>
              <a:t>v2</a:t>
            </a:r>
            <a:r>
              <a:rPr sz="1300" b="0" i="0">
                <a:solidFill>
                  <a:srgbClr val="24292F"/>
                </a:solidFill>
                <a:latin typeface="Consolas"/>
                <a:ea typeface="Consolas"/>
                <a:cs typeface="Consolas"/>
              </a:rPr>
              <a:t>[</a:t>
            </a:r>
            <a:r>
              <a:rPr sz="1300" b="0" i="0">
                <a:solidFill>
                  <a:srgbClr val="0550AE"/>
                </a:solidFill>
                <a:latin typeface="Consolas"/>
                <a:ea typeface="Consolas"/>
                <a:cs typeface="Consolas"/>
              </a:rPr>
              <a:t>2</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dz</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b1m</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CF222E"/>
                </a:solidFill>
                <a:latin typeface="Consolas"/>
                <a:ea typeface="Consolas"/>
                <a:cs typeface="Consolas"/>
              </a:rPr>
              <a:t>for</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r</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vx</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vy</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vz</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m</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CF222E"/>
                </a:solidFill>
                <a:latin typeface="Consolas"/>
                <a:ea typeface="Consolas"/>
                <a:cs typeface="Consolas"/>
              </a:rPr>
              <a:t>in</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bodies</a:t>
            </a:r>
            <a:r>
              <a:rPr sz="1300" b="0" i="0">
                <a:solidFill>
                  <a:srgbClr val="24292F"/>
                </a:solidFill>
                <a:latin typeface="Consolas"/>
                <a:ea typeface="Consolas"/>
                <a:cs typeface="Consolas"/>
              </a:rPr>
              <a:t>:</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24292F"/>
                </a:solidFill>
                <a:latin typeface="Consolas"/>
                <a:ea typeface="Consolas"/>
                <a:cs typeface="Consolas"/>
              </a:rPr>
              <a:t>r</a:t>
            </a:r>
            <a:r>
              <a:rPr sz="1300" b="0" i="0">
                <a:solidFill>
                  <a:srgbClr val="24292F"/>
                </a:solidFill>
                <a:latin typeface="Consolas"/>
                <a:ea typeface="Consolas"/>
                <a:cs typeface="Consolas"/>
              </a:rPr>
              <a:t>[</a:t>
            </a:r>
            <a:r>
              <a:rPr sz="1300" b="0" i="0">
                <a:solidFill>
                  <a:srgbClr val="0550AE"/>
                </a:solidFill>
                <a:latin typeface="Consolas"/>
                <a:ea typeface="Consolas"/>
                <a:cs typeface="Consolas"/>
              </a:rPr>
              <a:t>0</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dt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vx</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24292F"/>
                </a:solidFill>
                <a:latin typeface="Consolas"/>
                <a:ea typeface="Consolas"/>
                <a:cs typeface="Consolas"/>
              </a:rPr>
              <a:t>r</a:t>
            </a:r>
            <a:r>
              <a:rPr sz="1300" b="0" i="0">
                <a:solidFill>
                  <a:srgbClr val="24292F"/>
                </a:solidFill>
                <a:latin typeface="Consolas"/>
                <a:ea typeface="Consolas"/>
                <a:cs typeface="Consolas"/>
              </a:rPr>
              <a:t>[</a:t>
            </a:r>
            <a:r>
              <a:rPr sz="1300" b="0" i="0">
                <a:solidFill>
                  <a:srgbClr val="0550AE"/>
                </a:solidFill>
                <a:latin typeface="Consolas"/>
                <a:ea typeface="Consolas"/>
                <a:cs typeface="Consolas"/>
              </a:rPr>
              <a:t>1</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dt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vy</a:t>
            </a:r>
          </a:p>
          <a:p>
            <a:pPr>
              <a:lnSpc>
                <a:spcPts val="1651"/>
              </a:lnSpc>
              <a:spcBef>
                <a:spcPts val="0"/>
              </a:spcBef>
              <a:spcAft>
                <a:spcPts val="0"/>
              </a:spcAft>
            </a:pPr>
            <a:r>
              <a:rPr sz="1300" b="0" i="0">
                <a:solidFill>
                  <a:srgbClr val="24292F"/>
                </a:solidFill>
                <a:latin typeface="Consolas"/>
                <a:ea typeface="Consolas"/>
                <a:cs typeface="Consolas"/>
              </a:rPr>
              <a:t>            </a:t>
            </a:r>
            <a:r>
              <a:rPr sz="1300" b="0" i="0">
                <a:solidFill>
                  <a:srgbClr val="24292F"/>
                </a:solidFill>
                <a:latin typeface="Consolas"/>
                <a:ea typeface="Consolas"/>
                <a:cs typeface="Consolas"/>
              </a:rPr>
              <a:t>r</a:t>
            </a:r>
            <a:r>
              <a:rPr sz="1300" b="0" i="0">
                <a:solidFill>
                  <a:srgbClr val="24292F"/>
                </a:solidFill>
                <a:latin typeface="Consolas"/>
                <a:ea typeface="Consolas"/>
                <a:cs typeface="Consolas"/>
              </a:rPr>
              <a:t>[</a:t>
            </a:r>
            <a:r>
              <a:rPr sz="1300" b="0" i="0">
                <a:solidFill>
                  <a:srgbClr val="0550AE"/>
                </a:solidFill>
                <a:latin typeface="Consolas"/>
                <a:ea typeface="Consolas"/>
                <a:cs typeface="Consolas"/>
              </a:rPr>
              <a:t>2</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dt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a:t>
            </a:r>
            <a:r>
              <a:rPr sz="1300" b="0" i="0">
                <a:solidFill>
                  <a:srgbClr val="24292F"/>
                </a:solidFill>
                <a:latin typeface="Consolas"/>
                <a:ea typeface="Consolas"/>
                <a:cs typeface="Consolas"/>
              </a:rPr>
              <a:t> </a:t>
            </a:r>
            <a:r>
              <a:rPr sz="1300" b="0" i="0">
                <a:solidFill>
                  <a:srgbClr val="24292F"/>
                </a:solidFill>
                <a:latin typeface="Consolas"/>
                <a:ea typeface="Consolas"/>
                <a:cs typeface="Consolas"/>
              </a:rPr>
              <a:t>vz</a:t>
            </a:r>
          </a:p>
        </p:txBody>
      </p:sp>
      <p:sp>
        <p:nvSpPr>
          <p:cNvPr id="24" name="Rounded Rectangle 23"/>
          <p:cNvSpPr/>
          <p:nvPr/>
        </p:nvSpPr>
        <p:spPr>
          <a:xfrm>
            <a:off x="7589520" y="1234440"/>
            <a:ext cx="4053535" cy="150876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589520" y="1344168"/>
            <a:ext cx="54864" cy="1289304"/>
          </a:xfrm>
          <a:prstGeom prst="rect">
            <a:avLst/>
          </a:prstGeom>
          <a:solidFill>
            <a:srgbClr val="B45A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BODY"/>
          <p:cNvSpPr txBox="1"/>
          <p:nvPr/>
        </p:nvSpPr>
        <p:spPr>
          <a:xfrm>
            <a:off x="7818120" y="1362456"/>
            <a:ext cx="3687775" cy="411480"/>
          </a:xfrm>
          <a:prstGeom prst="rect">
            <a:avLst/>
          </a:prstGeom>
          <a:noFill/>
        </p:spPr>
        <p:txBody>
          <a:bodyPr wrap="square" lIns="45720" rIns="45720" anchor="t"/>
          <a:lstStyle/>
          <a:p>
            <a:pPr algn="l">
              <a:lnSpc>
                <a:spcPct val="105000"/>
              </a:lnSpc>
            </a:pPr>
            <a:r>
              <a:rPr sz="1800" b="1" i="0">
                <a:solidFill>
                  <a:srgbClr val="B45A09"/>
                </a:solidFill>
                <a:latin typeface="Segoe UI"/>
                <a:ea typeface="Segoe UI"/>
                <a:cs typeface="Segoe UI"/>
              </a:rPr>
              <a:t>Line 85: ** (-1.5)</a:t>
            </a:r>
          </a:p>
        </p:txBody>
      </p:sp>
      <p:sp>
        <p:nvSpPr>
          <p:cNvPr id="27" name="BODY"/>
          <p:cNvSpPr txBox="1"/>
          <p:nvPr/>
        </p:nvSpPr>
        <p:spPr>
          <a:xfrm>
            <a:off x="7772400" y="1801368"/>
            <a:ext cx="3733495" cy="850392"/>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a pow() call per pair</a:t>
            </a:r>
          </a:p>
        </p:txBody>
      </p:sp>
      <p:sp>
        <p:nvSpPr>
          <p:cNvPr id="28" name="Rounded Rectangle 27"/>
          <p:cNvSpPr/>
          <p:nvPr/>
        </p:nvSpPr>
        <p:spPr>
          <a:xfrm>
            <a:off x="7589520" y="2880360"/>
            <a:ext cx="4053535" cy="178308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589520" y="2990088"/>
            <a:ext cx="54864" cy="156362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BODY"/>
          <p:cNvSpPr txBox="1"/>
          <p:nvPr/>
        </p:nvSpPr>
        <p:spPr>
          <a:xfrm>
            <a:off x="7818120" y="3008376"/>
            <a:ext cx="3687775" cy="411480"/>
          </a:xfrm>
          <a:prstGeom prst="rect">
            <a:avLst/>
          </a:prstGeom>
          <a:noFill/>
        </p:spPr>
        <p:txBody>
          <a:bodyPr wrap="square" lIns="45720" rIns="45720" anchor="t"/>
          <a:lstStyle/>
          <a:p>
            <a:pPr algn="l">
              <a:lnSpc>
                <a:spcPct val="105000"/>
              </a:lnSpc>
            </a:pPr>
            <a:r>
              <a:rPr sz="1800" b="1" i="0">
                <a:solidFill>
                  <a:srgbClr val="B42318"/>
                </a:solidFill>
                <a:latin typeface="Segoe UI"/>
                <a:ea typeface="Segoe UI"/>
                <a:cs typeface="Segoe UI"/>
              </a:rPr>
              <a:t>Lines 82-93</a:t>
            </a:r>
          </a:p>
        </p:txBody>
      </p:sp>
      <p:sp>
        <p:nvSpPr>
          <p:cNvPr id="31" name="BODY"/>
          <p:cNvSpPr txBox="1"/>
          <p:nvPr/>
        </p:nvSpPr>
        <p:spPr>
          <a:xfrm>
            <a:off x="7772400" y="3447288"/>
            <a:ext cx="3733495" cy="1124712"/>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~24 float operations per pair; each result is a new heap object</a:t>
            </a:r>
          </a:p>
        </p:txBody>
      </p:sp>
      <p:sp>
        <p:nvSpPr>
          <p:cNvPr id="32" name="Rounded Rectangle 31"/>
          <p:cNvSpPr/>
          <p:nvPr/>
        </p:nvSpPr>
        <p:spPr>
          <a:xfrm>
            <a:off x="7589520" y="4800600"/>
            <a:ext cx="4053535" cy="146304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589520" y="4910328"/>
            <a:ext cx="54864" cy="124358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BODY"/>
          <p:cNvSpPr txBox="1"/>
          <p:nvPr/>
        </p:nvSpPr>
        <p:spPr>
          <a:xfrm>
            <a:off x="7818120" y="4928616"/>
            <a:ext cx="3687775" cy="411480"/>
          </a:xfrm>
          <a:prstGeom prst="rect">
            <a:avLst/>
          </a:prstGeom>
          <a:noFill/>
        </p:spPr>
        <p:txBody>
          <a:bodyPr wrap="square" lIns="45720" rIns="45720" anchor="t"/>
          <a:lstStyle/>
          <a:p>
            <a:pPr algn="l">
              <a:lnSpc>
                <a:spcPct val="105000"/>
              </a:lnSpc>
            </a:pPr>
            <a:r>
              <a:rPr sz="1800" b="1" i="0">
                <a:solidFill>
                  <a:srgbClr val="B42318"/>
                </a:solidFill>
                <a:latin typeface="Segoe UI"/>
                <a:ea typeface="Segoe UI"/>
                <a:cs typeface="Segoe UI"/>
              </a:rPr>
              <a:t>Lines 88-93</a:t>
            </a:r>
          </a:p>
        </p:txBody>
      </p:sp>
      <p:sp>
        <p:nvSpPr>
          <p:cNvPr id="35" name="BODY"/>
          <p:cNvSpPr txBox="1"/>
          <p:nvPr/>
        </p:nvSpPr>
        <p:spPr>
          <a:xfrm>
            <a:off x="7772400" y="5367528"/>
            <a:ext cx="3733495" cy="804672"/>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6 list item writes per pair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Bottlenecks: root cause</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B · nbody</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21</a:t>
            </a:r>
          </a:p>
        </p:txBody>
      </p:sp>
      <p:sp>
        <p:nvSpPr>
          <p:cNvPr id="7" name="Rounded Rectangle 6"/>
          <p:cNvSpPr/>
          <p:nvPr/>
        </p:nvSpPr>
        <p:spPr>
          <a:xfrm>
            <a:off x="548640" y="1325880"/>
            <a:ext cx="5440680" cy="283464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435608"/>
            <a:ext cx="54864" cy="261518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ODY"/>
          <p:cNvSpPr txBox="1"/>
          <p:nvPr/>
        </p:nvSpPr>
        <p:spPr>
          <a:xfrm>
            <a:off x="777240" y="1453896"/>
            <a:ext cx="5074920" cy="411480"/>
          </a:xfrm>
          <a:prstGeom prst="rect">
            <a:avLst/>
          </a:prstGeom>
          <a:noFill/>
        </p:spPr>
        <p:txBody>
          <a:bodyPr wrap="square" lIns="45720" rIns="45720" anchor="t"/>
          <a:lstStyle/>
          <a:p>
            <a:pPr algn="l">
              <a:lnSpc>
                <a:spcPct val="105000"/>
              </a:lnSpc>
            </a:pPr>
            <a:r>
              <a:rPr sz="1800" b="1" i="0">
                <a:solidFill>
                  <a:srgbClr val="B42318"/>
                </a:solidFill>
                <a:latin typeface="Segoe UI"/>
                <a:ea typeface="Segoe UI"/>
                <a:cs typeface="Segoe UI"/>
              </a:rPr>
              <a:t>1 · Float boxing and operator dispatch</a:t>
            </a:r>
          </a:p>
        </p:txBody>
      </p:sp>
      <p:sp>
        <p:nvSpPr>
          <p:cNvPr id="10" name="BODY"/>
          <p:cNvSpPr txBox="1"/>
          <p:nvPr/>
        </p:nvSpPr>
        <p:spPr>
          <a:xfrm>
            <a:off x="731520" y="1892808"/>
            <a:ext cx="5120640" cy="2176272"/>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Every float result is a heap object: PyFloat_FromDouble 2.51 %, float_mul/add/sub 4.82 %, float_dealloc 2.01 %</a:t>
            </a:r>
          </a:p>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Every operator is a generic, type-checked call: binary_op1 3.37 %</a:t>
            </a:r>
          </a:p>
        </p:txBody>
      </p:sp>
      <p:sp>
        <p:nvSpPr>
          <p:cNvPr id="11" name="Rounded Rectangle 10"/>
          <p:cNvSpPr/>
          <p:nvPr/>
        </p:nvSpPr>
        <p:spPr>
          <a:xfrm>
            <a:off x="6199631" y="1325880"/>
            <a:ext cx="5440680" cy="283464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199631" y="1435608"/>
            <a:ext cx="54864" cy="261518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ODY"/>
          <p:cNvSpPr txBox="1"/>
          <p:nvPr/>
        </p:nvSpPr>
        <p:spPr>
          <a:xfrm>
            <a:off x="6428231" y="1453896"/>
            <a:ext cx="5074920" cy="411480"/>
          </a:xfrm>
          <a:prstGeom prst="rect">
            <a:avLst/>
          </a:prstGeom>
          <a:noFill/>
        </p:spPr>
        <p:txBody>
          <a:bodyPr wrap="square" lIns="45720" rIns="45720" anchor="t"/>
          <a:lstStyle/>
          <a:p>
            <a:pPr algn="l">
              <a:lnSpc>
                <a:spcPct val="105000"/>
              </a:lnSpc>
            </a:pPr>
            <a:r>
              <a:rPr sz="1800" b="1" i="0">
                <a:solidFill>
                  <a:srgbClr val="1F3A5F"/>
                </a:solidFill>
                <a:latin typeface="Segoe UI"/>
                <a:ea typeface="Segoe UI"/>
                <a:cs typeface="Segoe UI"/>
              </a:rPr>
              <a:t>2 · Interpreter work per operation</a:t>
            </a:r>
          </a:p>
        </p:txBody>
      </p:sp>
      <p:sp>
        <p:nvSpPr>
          <p:cNvPr id="14" name="BODY"/>
          <p:cNvSpPr txBox="1"/>
          <p:nvPr/>
        </p:nvSpPr>
        <p:spPr>
          <a:xfrm>
            <a:off x="6382512" y="1892808"/>
            <a:ext cx="5120640" cy="2176272"/>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_PyEval_EvalFrameDefault 29.40 %: bytecode dispatch for each step</a:t>
            </a:r>
          </a:p>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List writes 4.17 %, pow() 1.08 %</a:t>
            </a:r>
          </a:p>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The algorithm is already optimal: O(pairs) per step</a:t>
            </a:r>
          </a:p>
        </p:txBody>
      </p:sp>
      <p:sp>
        <p:nvSpPr>
          <p:cNvPr id="15" name="Rounded Rectangle 14"/>
          <p:cNvSpPr/>
          <p:nvPr/>
        </p:nvSpPr>
        <p:spPr>
          <a:xfrm>
            <a:off x="548640" y="4434840"/>
            <a:ext cx="11094415" cy="868680"/>
          </a:xfrm>
          <a:prstGeom prst="roundRect">
            <a:avLst>
              <a:gd name="adj" fmla="val 6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ODY"/>
          <p:cNvSpPr txBox="1"/>
          <p:nvPr/>
        </p:nvSpPr>
        <p:spPr>
          <a:xfrm>
            <a:off x="822959" y="4480560"/>
            <a:ext cx="10545775" cy="777240"/>
          </a:xfrm>
          <a:prstGeom prst="rect">
            <a:avLst/>
          </a:prstGeom>
          <a:noFill/>
        </p:spPr>
        <p:txBody>
          <a:bodyPr wrap="square" lIns="45720" rIns="45720" anchor="ctr"/>
          <a:lstStyle/>
          <a:p>
            <a:pPr algn="l">
              <a:lnSpc>
                <a:spcPct val="105000"/>
              </a:lnSpc>
            </a:pPr>
            <a:r>
              <a:rPr sz="1800" b="1" i="0">
                <a:solidFill>
                  <a:srgbClr val="FFFFFF"/>
                </a:solidFill>
                <a:latin typeface="Segoe UI"/>
                <a:ea typeface="Segoe UI"/>
                <a:cs typeface="Segoe UI"/>
              </a:rPr>
              <a:t>The arithmetic is trivial for a CPU. The cost is CPython's object model around every single operation.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Optimization: four attempts</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B · nbody</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22</a:t>
            </a:r>
          </a:p>
        </p:txBody>
      </p:sp>
      <p:graphicFrame>
        <p:nvGraphicFramePr>
          <p:cNvPr id="7" name="BODY_TABLE"/>
          <p:cNvGraphicFramePr>
            <a:graphicFrameLocks noGrp="1"/>
          </p:cNvGraphicFramePr>
          <p:nvPr/>
        </p:nvGraphicFramePr>
        <p:xfrm>
          <a:off x="548640" y="1325880"/>
          <a:ext cx="11091672" cy="2743200"/>
        </p:xfrm>
        <a:graphic>
          <a:graphicData uri="http://schemas.openxmlformats.org/drawingml/2006/table">
            <a:tbl>
              <a:tblPr firstRow="0" bandRow="0">
                <a:tableStyleId>{2D5ABB26-0587-4C30-8999-92F81FD0307C}</a:tableStyleId>
              </a:tblPr>
              <a:tblGrid>
                <a:gridCol w="2011680"/>
                <a:gridCol w="5577840"/>
                <a:gridCol w="1463040"/>
                <a:gridCol w="2039112"/>
              </a:tblGrid>
              <a:tr h="548640">
                <a:tc>
                  <a:txBody>
                    <a:bodyPr wrap="square"/>
                    <a:lstStyle/>
                    <a:p>
                      <a:pPr algn="l"/>
                      <a:r>
                        <a:rPr sz="1800" b="1" i="0">
                          <a:solidFill>
                            <a:srgbClr val="FFFFFF"/>
                          </a:solidFill>
                          <a:latin typeface="Segoe UI"/>
                          <a:ea typeface="Segoe UI"/>
                          <a:cs typeface="Segoe UI"/>
                        </a:rPr>
                        <a:t>Attempt</a:t>
                      </a:r>
                    </a:p>
                  </a:txBody>
                  <a:tcPr marL="91440" marR="91440" marT="27432" marB="27432" anchor="ctr">
                    <a:solidFill>
                      <a:srgbClr val="1F3A5F"/>
                    </a:solidFill>
                  </a:tcPr>
                </a:tc>
                <a:tc>
                  <a:txBody>
                    <a:bodyPr wrap="square"/>
                    <a:lstStyle/>
                    <a:p>
                      <a:pPr algn="l"/>
                      <a:r>
                        <a:rPr sz="1800" b="1" i="0">
                          <a:solidFill>
                            <a:srgbClr val="FFFFFF"/>
                          </a:solidFill>
                          <a:latin typeface="Segoe UI"/>
                          <a:ea typeface="Segoe UI"/>
                          <a:cs typeface="Segoe UI"/>
                        </a:rPr>
                        <a:t>Change</a:t>
                      </a:r>
                    </a:p>
                  </a:txBody>
                  <a:tcPr marL="91440" marR="91440" marT="27432" marB="27432" anchor="ctr">
                    <a:solidFill>
                      <a:srgbClr val="1F3A5F"/>
                    </a:solidFill>
                  </a:tcPr>
                </a:tc>
                <a:tc>
                  <a:txBody>
                    <a:bodyPr wrap="square"/>
                    <a:lstStyle/>
                    <a:p>
                      <a:pPr algn="r"/>
                      <a:r>
                        <a:rPr sz="1800" b="1" i="0">
                          <a:solidFill>
                            <a:srgbClr val="FFFFFF"/>
                          </a:solidFill>
                          <a:latin typeface="Segoe UI"/>
                          <a:ea typeface="Segoe UI"/>
                          <a:cs typeface="Segoe UI"/>
                        </a:rPr>
                        <a:t>Result</a:t>
                      </a:r>
                    </a:p>
                  </a:txBody>
                  <a:tcPr marL="91440" marR="91440" marT="27432" marB="27432" anchor="ctr">
                    <a:solidFill>
                      <a:srgbClr val="1F3A5F"/>
                    </a:solidFill>
                  </a:tcPr>
                </a:tc>
                <a:tc>
                  <a:txBody>
                    <a:bodyPr wrap="square"/>
                    <a:lstStyle/>
                    <a:p>
                      <a:pPr algn="l"/>
                      <a:r>
                        <a:rPr sz="1800" b="1" i="0">
                          <a:solidFill>
                            <a:srgbClr val="FFFFFF"/>
                          </a:solidFill>
                          <a:latin typeface="Segoe UI"/>
                          <a:ea typeface="Segoe UI"/>
                          <a:cs typeface="Segoe UI"/>
                        </a:rPr>
                        <a:t>Verdict</a:t>
                      </a:r>
                    </a:p>
                  </a:txBody>
                  <a:tcPr marL="91440" marR="91440" marT="27432" marB="27432" anchor="ctr">
                    <a:solidFill>
                      <a:srgbClr val="1F3A5F"/>
                    </a:solidFill>
                  </a:tcPr>
                </a:tc>
              </a:tr>
              <a:tr h="548640">
                <a:tc>
                  <a:txBody>
                    <a:bodyPr wrap="square"/>
                    <a:lstStyle/>
                    <a:p>
                      <a:pPr algn="l"/>
                      <a:r>
                        <a:rPr sz="1800" b="0" i="0">
                          <a:solidFill>
                            <a:srgbClr val="222222"/>
                          </a:solidFill>
                          <a:latin typeface="Segoe UI"/>
                          <a:ea typeface="Segoe UI"/>
                          <a:cs typeface="Segoe UI"/>
                        </a:rPr>
                        <a:t>1 · numpy</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numpy arrays, vectorized over the 10 pairs</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848 ms</a:t>
                      </a:r>
                    </a:p>
                  </a:txBody>
                  <a:tcPr marL="91440" marR="91440" marT="27432" marB="27432" anchor="ctr">
                    <a:solidFill>
                      <a:srgbClr val="FFFFFF"/>
                    </a:solidFill>
                  </a:tcPr>
                </a:tc>
                <a:tc>
                  <a:txBody>
                    <a:bodyPr wrap="square"/>
                    <a:lstStyle/>
                    <a:p>
                      <a:pPr algn="l"/>
                      <a:r>
                        <a:rPr sz="1800" b="0" i="0">
                          <a:solidFill>
                            <a:srgbClr val="B42318"/>
                          </a:solidFill>
                          <a:latin typeface="Segoe UI"/>
                          <a:ea typeface="Segoe UI"/>
                          <a:cs typeface="Segoe UI"/>
                        </a:rPr>
                        <a:t>75 % slower</a:t>
                      </a:r>
                    </a:p>
                  </a:txBody>
                  <a:tcPr marL="91440" marR="91440" marT="27432" marB="27432" anchor="ctr">
                    <a:solidFill>
                      <a:srgbClr val="FFFFFF"/>
                    </a:solidFill>
                  </a:tcPr>
                </a:tc>
              </a:tr>
              <a:tr h="548640">
                <a:tc>
                  <a:txBody>
                    <a:bodyPr wrap="square"/>
                    <a:lstStyle/>
                    <a:p>
                      <a:pPr algn="l"/>
                      <a:r>
                        <a:rPr sz="1800" b="0" i="0">
                          <a:solidFill>
                            <a:srgbClr val="222222"/>
                          </a:solidFill>
                          <a:latin typeface="Segoe UI"/>
                          <a:ea typeface="Segoe UI"/>
                          <a:cs typeface="Segoe UI"/>
                        </a:rPr>
                        <a:t>2 · sqrt()</a:t>
                      </a:r>
                    </a:p>
                  </a:txBody>
                  <a:tcPr marL="91440" marR="91440" marT="27432" marB="27432" anchor="ctr">
                    <a:solidFill>
                      <a:srgbClr val="F3F4F6"/>
                    </a:solidFill>
                  </a:tcPr>
                </a:tc>
                <a:tc>
                  <a:txBody>
                    <a:bodyPr wrap="square"/>
                    <a:lstStyle/>
                    <a:p>
                      <a:pPr algn="l"/>
                      <a:r>
                        <a:rPr sz="1800" b="0" i="0">
                          <a:solidFill>
                            <a:srgbClr val="222222"/>
                          </a:solidFill>
                          <a:latin typeface="Segoe UI"/>
                          <a:ea typeface="Segoe UI"/>
                          <a:cs typeface="Segoe UI"/>
                        </a:rPr>
                        <a:t>r2 ** -1.5 → dt / (r2 * sqrt(r2))</a:t>
                      </a:r>
                    </a:p>
                  </a:txBody>
                  <a:tcPr marL="91440" marR="91440" marT="27432" marB="27432" anchor="ctr">
                    <a:solidFill>
                      <a:srgbClr val="F3F4F6"/>
                    </a:solidFill>
                  </a:tcPr>
                </a:tc>
                <a:tc>
                  <a:txBody>
                    <a:bodyPr wrap="square"/>
                    <a:lstStyle/>
                    <a:p>
                      <a:pPr algn="r"/>
                      <a:r>
                        <a:rPr sz="1800" b="0" i="0">
                          <a:solidFill>
                            <a:srgbClr val="222222"/>
                          </a:solidFill>
                          <a:latin typeface="Segoe UI"/>
                          <a:ea typeface="Segoe UI"/>
                          <a:cs typeface="Segoe UI"/>
                        </a:rPr>
                        <a:t>495 ms</a:t>
                      </a:r>
                    </a:p>
                  </a:txBody>
                  <a:tcPr marL="91440" marR="91440" marT="27432" marB="27432" anchor="ctr">
                    <a:solidFill>
                      <a:srgbClr val="F3F4F6"/>
                    </a:solidFill>
                  </a:tcPr>
                </a:tc>
                <a:tc>
                  <a:txBody>
                    <a:bodyPr wrap="square"/>
                    <a:lstStyle/>
                    <a:p>
                      <a:pPr algn="l"/>
                      <a:r>
                        <a:rPr sz="1800" b="0" i="0">
                          <a:solidFill>
                            <a:srgbClr val="B42318"/>
                          </a:solidFill>
                          <a:latin typeface="Segoe UI"/>
                          <a:ea typeface="Segoe UI"/>
                          <a:cs typeface="Segoe UI"/>
                        </a:rPr>
                        <a:t>2.5 % slower</a:t>
                      </a:r>
                    </a:p>
                  </a:txBody>
                  <a:tcPr marL="91440" marR="91440" marT="27432" marB="27432" anchor="ctr">
                    <a:solidFill>
                      <a:srgbClr val="F3F4F6"/>
                    </a:solidFill>
                  </a:tcPr>
                </a:tc>
              </a:tr>
              <a:tr h="548640">
                <a:tc>
                  <a:txBody>
                    <a:bodyPr wrap="square"/>
                    <a:lstStyle/>
                    <a:p>
                      <a:pPr algn="l"/>
                      <a:r>
                        <a:rPr sz="1800" b="0" i="0">
                          <a:solidFill>
                            <a:srgbClr val="222222"/>
                          </a:solidFill>
                          <a:latin typeface="Segoe UI"/>
                          <a:ea typeface="Segoe UI"/>
                          <a:cs typeface="Segoe UI"/>
                        </a:rPr>
                        <a:t>3 · flat indices</a:t>
                      </a:r>
                    </a:p>
                  </a:txBody>
                  <a:tcPr marL="91440" marR="91440" marT="27432" marB="27432" anchor="ctr">
                    <a:solidFill>
                      <a:srgbClr val="FFFFFF"/>
                    </a:solidFill>
                  </a:tcPr>
                </a:tc>
                <a:tc>
                  <a:txBody>
                    <a:bodyPr wrap="square"/>
                    <a:lstStyle/>
                    <a:p>
                      <a:pPr algn="l"/>
                      <a:r>
                        <a:rPr sz="1800" b="0" i="0">
                          <a:solidFill>
                            <a:srgbClr val="222222"/>
                          </a:solidFill>
                          <a:latin typeface="Segoe UI"/>
                          <a:ea typeface="Segoe UI"/>
                          <a:cs typeface="Segoe UI"/>
                        </a:rPr>
                        <a:t>integer indices into flat tuples</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579 ms</a:t>
                      </a:r>
                    </a:p>
                  </a:txBody>
                  <a:tcPr marL="91440" marR="91440" marT="27432" marB="27432" anchor="ctr">
                    <a:solidFill>
                      <a:srgbClr val="FFFFFF"/>
                    </a:solidFill>
                  </a:tcPr>
                </a:tc>
                <a:tc>
                  <a:txBody>
                    <a:bodyPr wrap="square"/>
                    <a:lstStyle/>
                    <a:p>
                      <a:pPr algn="l"/>
                      <a:r>
                        <a:rPr sz="1800" b="0" i="0">
                          <a:solidFill>
                            <a:srgbClr val="B42318"/>
                          </a:solidFill>
                          <a:latin typeface="Segoe UI"/>
                          <a:ea typeface="Segoe UI"/>
                          <a:cs typeface="Segoe UI"/>
                        </a:rPr>
                        <a:t>20 % slower</a:t>
                      </a:r>
                    </a:p>
                  </a:txBody>
                  <a:tcPr marL="91440" marR="91440" marT="27432" marB="27432" anchor="ctr">
                    <a:solidFill>
                      <a:srgbClr val="FFFFFF"/>
                    </a:solidFill>
                  </a:tcPr>
                </a:tc>
              </a:tr>
              <a:tr h="548640">
                <a:tc>
                  <a:txBody>
                    <a:bodyPr wrap="square"/>
                    <a:lstStyle/>
                    <a:p>
                      <a:pPr algn="l"/>
                      <a:r>
                        <a:rPr sz="1800" b="1" i="0">
                          <a:solidFill>
                            <a:srgbClr val="222222"/>
                          </a:solidFill>
                          <a:latin typeface="Segoe UI"/>
                          <a:ea typeface="Segoe UI"/>
                          <a:cs typeface="Segoe UI"/>
                        </a:rPr>
                        <a:t>4 · unroll</a:t>
                      </a:r>
                    </a:p>
                  </a:txBody>
                  <a:tcPr marL="91440" marR="91440" marT="27432" marB="27432" anchor="ctr">
                    <a:solidFill>
                      <a:srgbClr val="DCF3E3"/>
                    </a:solidFill>
                  </a:tcPr>
                </a:tc>
                <a:tc>
                  <a:txBody>
                    <a:bodyPr wrap="square"/>
                    <a:lstStyle/>
                    <a:p>
                      <a:pPr algn="l"/>
                      <a:r>
                        <a:rPr sz="1800" b="1" i="0">
                          <a:solidFill>
                            <a:srgbClr val="222222"/>
                          </a:solidFill>
                          <a:latin typeface="Segoe UI"/>
                          <a:ea typeface="Segoe UI"/>
                          <a:cs typeface="Segoe UI"/>
                        </a:rPr>
                        <a:t>unpack bodies once, write out all 10 pairs</a:t>
                      </a:r>
                    </a:p>
                  </a:txBody>
                  <a:tcPr marL="91440" marR="91440" marT="27432" marB="27432" anchor="ctr">
                    <a:solidFill>
                      <a:srgbClr val="DCF3E3"/>
                    </a:solidFill>
                  </a:tcPr>
                </a:tc>
                <a:tc>
                  <a:txBody>
                    <a:bodyPr wrap="square"/>
                    <a:lstStyle/>
                    <a:p>
                      <a:pPr algn="r"/>
                      <a:r>
                        <a:rPr sz="1800" b="1" i="0">
                          <a:solidFill>
                            <a:srgbClr val="222222"/>
                          </a:solidFill>
                          <a:latin typeface="Segoe UI"/>
                          <a:ea typeface="Segoe UI"/>
                          <a:cs typeface="Segoe UI"/>
                        </a:rPr>
                        <a:t>439 ms</a:t>
                      </a:r>
                    </a:p>
                  </a:txBody>
                  <a:tcPr marL="91440" marR="91440" marT="27432" marB="27432" anchor="ctr">
                    <a:solidFill>
                      <a:srgbClr val="DCF3E3"/>
                    </a:solidFill>
                  </a:tcPr>
                </a:tc>
                <a:tc>
                  <a:txBody>
                    <a:bodyPr wrap="square"/>
                    <a:lstStyle/>
                    <a:p>
                      <a:pPr algn="l"/>
                      <a:r>
                        <a:rPr sz="1800" b="1" i="0">
                          <a:solidFill>
                            <a:srgbClr val="1A7F37"/>
                          </a:solidFill>
                          <a:latin typeface="Segoe UI"/>
                          <a:ea typeface="Segoe UI"/>
                          <a:cs typeface="Segoe UI"/>
                        </a:rPr>
                        <a:t>9.1 % faster</a:t>
                      </a:r>
                    </a:p>
                  </a:txBody>
                  <a:tcPr marL="91440" marR="91440" marT="27432" marB="27432" anchor="ctr">
                    <a:solidFill>
                      <a:srgbClr val="DCF3E3"/>
                    </a:solidFill>
                  </a:tcPr>
                </a:tc>
              </a:tr>
            </a:tbl>
          </a:graphicData>
        </a:graphic>
      </p:graphicFrame>
      <p:sp>
        <p:nvSpPr>
          <p:cNvPr id="8" name="BODY"/>
          <p:cNvSpPr txBox="1"/>
          <p:nvPr/>
        </p:nvSpPr>
        <p:spPr>
          <a:xfrm>
            <a:off x="548640" y="4069080"/>
            <a:ext cx="11094415" cy="411480"/>
          </a:xfrm>
          <a:prstGeom prst="rect">
            <a:avLst/>
          </a:prstGeom>
          <a:noFill/>
        </p:spPr>
        <p:txBody>
          <a:bodyPr wrap="square" lIns="45720" rIns="45720" anchor="t"/>
          <a:lstStyle/>
          <a:p>
            <a:pPr algn="l">
              <a:lnSpc>
                <a:spcPct val="105000"/>
              </a:lnSpc>
            </a:pPr>
            <a:r>
              <a:rPr sz="1800" b="0" i="0">
                <a:solidFill>
                  <a:srgbClr val="6B7280"/>
                </a:solidFill>
                <a:latin typeface="Segoe UI"/>
                <a:ea typeface="Segoe UI"/>
                <a:cs typeface="Segoe UI"/>
              </a:rPr>
              <a:t>Baseline 483 ms ± 4 ms. All results are full calibrated pyperf runs.</a:t>
            </a:r>
          </a:p>
        </p:txBody>
      </p:sp>
      <p:sp>
        <p:nvSpPr>
          <p:cNvPr id="9" name="Rounded Rectangle 8"/>
          <p:cNvSpPr/>
          <p:nvPr/>
        </p:nvSpPr>
        <p:spPr>
          <a:xfrm>
            <a:off x="548640" y="4526280"/>
            <a:ext cx="11094415" cy="169164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4636008"/>
            <a:ext cx="54864" cy="147218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ODY"/>
          <p:cNvSpPr txBox="1"/>
          <p:nvPr/>
        </p:nvSpPr>
        <p:spPr>
          <a:xfrm>
            <a:off x="777240" y="4654296"/>
            <a:ext cx="10728655" cy="411480"/>
          </a:xfrm>
          <a:prstGeom prst="rect">
            <a:avLst/>
          </a:prstGeom>
          <a:noFill/>
        </p:spPr>
        <p:txBody>
          <a:bodyPr wrap="square" lIns="45720" rIns="45720" anchor="t"/>
          <a:lstStyle/>
          <a:p>
            <a:pPr algn="l">
              <a:lnSpc>
                <a:spcPct val="105000"/>
              </a:lnSpc>
            </a:pPr>
            <a:r>
              <a:rPr sz="1800" b="1" i="0">
                <a:solidFill>
                  <a:srgbClr val="B42318"/>
                </a:solidFill>
                <a:latin typeface="Segoe UI"/>
                <a:ea typeface="Segoe UI"/>
                <a:cs typeface="Segoe UI"/>
              </a:rPr>
              <a:t>Why the first three lost</a:t>
            </a:r>
          </a:p>
        </p:txBody>
      </p:sp>
      <p:sp>
        <p:nvSpPr>
          <p:cNvPr id="12" name="BODY"/>
          <p:cNvSpPr txBox="1"/>
          <p:nvPr/>
        </p:nvSpPr>
        <p:spPr>
          <a:xfrm>
            <a:off x="731520" y="5093208"/>
            <a:ext cx="10774375" cy="1033272"/>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numpy: per-call dispatch and scatter-add overhead is far larger than the math for only 5 bodies</a:t>
            </a:r>
          </a:p>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sqrt(): the global lookup and function call cost as much as the pow() it replaced; flat indices add more subscripts than they save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Optimization: original vs. unrolled code</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B · nbody</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23</a:t>
            </a:r>
          </a:p>
        </p:txBody>
      </p:sp>
      <p:sp>
        <p:nvSpPr>
          <p:cNvPr id="7" name="Rounded Rectangle 6"/>
          <p:cNvSpPr/>
          <p:nvPr/>
        </p:nvSpPr>
        <p:spPr>
          <a:xfrm>
            <a:off x="548640" y="1234440"/>
            <a:ext cx="5239663" cy="4078731"/>
          </a:xfrm>
          <a:prstGeom prst="roundRect">
            <a:avLst>
              <a:gd name="adj" fmla="val 2500"/>
            </a:avLst>
          </a:prstGeom>
          <a:solidFill>
            <a:srgbClr val="F6F8FA"/>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57784" y="1563624"/>
            <a:ext cx="5221375" cy="9144"/>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HEAD"/>
          <p:cNvSpPr txBox="1"/>
          <p:nvPr/>
        </p:nvSpPr>
        <p:spPr>
          <a:xfrm>
            <a:off x="658368" y="1271016"/>
            <a:ext cx="5020207" cy="274320"/>
          </a:xfrm>
          <a:prstGeom prst="rect">
            <a:avLst/>
          </a:prstGeom>
          <a:noFill/>
        </p:spPr>
        <p:txBody>
          <a:bodyPr wrap="none" lIns="45720" rIns="45720" anchor="ctr"/>
          <a:lstStyle/>
          <a:p>
            <a:r>
              <a:rPr sz="1100" b="0" i="0">
                <a:solidFill>
                  <a:srgbClr val="6B7280"/>
                </a:solidFill>
                <a:latin typeface="Consolas"/>
                <a:ea typeface="Consolas"/>
                <a:cs typeface="Consolas"/>
              </a:rPr>
              <a:t>original · lines 78-97</a:t>
            </a:r>
          </a:p>
        </p:txBody>
      </p:sp>
      <p:sp>
        <p:nvSpPr>
          <p:cNvPr id="10" name="CODEHEAD"/>
          <p:cNvSpPr txBox="1"/>
          <p:nvPr/>
        </p:nvSpPr>
        <p:spPr>
          <a:xfrm>
            <a:off x="3320726" y="1271016"/>
            <a:ext cx="2357848" cy="274320"/>
          </a:xfrm>
          <a:prstGeom prst="rect">
            <a:avLst/>
          </a:prstGeom>
          <a:noFill/>
        </p:spPr>
        <p:txBody>
          <a:bodyPr wrap="square" lIns="45720" rIns="45720" anchor="ctr"/>
          <a:lstStyle/>
          <a:p>
            <a:pPr algn="r"/>
            <a:r>
              <a:rPr sz="1200" b="1" i="0">
                <a:solidFill>
                  <a:srgbClr val="B42318"/>
                </a:solidFill>
                <a:latin typeface="Segoe UI"/>
                <a:ea typeface="Segoe UI"/>
                <a:cs typeface="Segoe UI"/>
              </a:rPr>
              <a:t>generic loops</a:t>
            </a:r>
          </a:p>
        </p:txBody>
      </p:sp>
      <p:sp>
        <p:nvSpPr>
          <p:cNvPr id="11" name="Rectangle 10"/>
          <p:cNvSpPr/>
          <p:nvPr/>
        </p:nvSpPr>
        <p:spPr>
          <a:xfrm>
            <a:off x="603503" y="1832483"/>
            <a:ext cx="5129935" cy="177419"/>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03503" y="2009902"/>
            <a:ext cx="5129935" cy="177419"/>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03503" y="4493768"/>
            <a:ext cx="5129935" cy="177419"/>
          </a:xfrm>
          <a:prstGeom prst="rect">
            <a:avLst/>
          </a:prstGeom>
          <a:solidFill>
            <a:srgbClr val="FD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ODE"/>
          <p:cNvSpPr txBox="1"/>
          <p:nvPr/>
        </p:nvSpPr>
        <p:spPr>
          <a:xfrm>
            <a:off x="694944" y="1655064"/>
            <a:ext cx="5020207" cy="3749548"/>
          </a:xfrm>
          <a:prstGeom prst="rect">
            <a:avLst/>
          </a:prstGeom>
          <a:noFill/>
        </p:spPr>
        <p:txBody>
          <a:bodyPr wrap="none" lIns="0" rIns="0" tIns="0" bIns="0"/>
          <a:lstStyle/>
          <a:p>
            <a:pPr>
              <a:lnSpc>
                <a:spcPts val="1397"/>
              </a:lnSpc>
              <a:spcBef>
                <a:spcPts val="0"/>
              </a:spcBef>
              <a:spcAft>
                <a:spcPts val="0"/>
              </a:spcAft>
            </a:pPr>
            <a:r>
              <a:rPr sz="1100" b="0" i="0">
                <a:solidFill>
                  <a:srgbClr val="CF222E"/>
                </a:solidFill>
                <a:latin typeface="Consolas"/>
                <a:ea typeface="Consolas"/>
                <a:cs typeface="Consolas"/>
              </a:rPr>
              <a:t>def</a:t>
            </a:r>
            <a:r>
              <a:rPr sz="1100" b="0" i="0">
                <a:solidFill>
                  <a:srgbClr val="24292F"/>
                </a:solidFill>
                <a:latin typeface="Consolas"/>
                <a:ea typeface="Consolas"/>
                <a:cs typeface="Consolas"/>
              </a:rPr>
              <a:t> </a:t>
            </a:r>
            <a:r>
              <a:rPr sz="1100" b="0" i="0">
                <a:solidFill>
                  <a:srgbClr val="8250DF"/>
                </a:solidFill>
                <a:latin typeface="Consolas"/>
                <a:ea typeface="Consolas"/>
                <a:cs typeface="Consolas"/>
              </a:rPr>
              <a:t>advance</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n</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bodies</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SYSTEM</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pairs</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PAIRS</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CF222E"/>
                </a:solidFill>
                <a:latin typeface="Consolas"/>
                <a:ea typeface="Consolas"/>
                <a:cs typeface="Consolas"/>
              </a:rPr>
              <a:t>for</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i</a:t>
            </a:r>
            <a:r>
              <a:rPr sz="1100" b="0" i="0">
                <a:solidFill>
                  <a:srgbClr val="24292F"/>
                </a:solidFill>
                <a:latin typeface="Consolas"/>
                <a:ea typeface="Consolas"/>
                <a:cs typeface="Consolas"/>
              </a:rPr>
              <a:t> </a:t>
            </a:r>
            <a:r>
              <a:rPr sz="1100" b="0" i="0">
                <a:solidFill>
                  <a:srgbClr val="CF222E"/>
                </a:solidFill>
                <a:latin typeface="Consolas"/>
                <a:ea typeface="Consolas"/>
                <a:cs typeface="Consolas"/>
              </a:rPr>
              <a:t>in</a:t>
            </a:r>
            <a:r>
              <a:rPr sz="1100" b="0" i="0">
                <a:solidFill>
                  <a:srgbClr val="24292F"/>
                </a:solidFill>
                <a:latin typeface="Consolas"/>
                <a:ea typeface="Consolas"/>
                <a:cs typeface="Consolas"/>
              </a:rPr>
              <a:t> </a:t>
            </a:r>
            <a:r>
              <a:rPr sz="1100" b="0" i="0">
                <a:solidFill>
                  <a:srgbClr val="8250DF"/>
                </a:solidFill>
                <a:latin typeface="Consolas"/>
                <a:ea typeface="Consolas"/>
                <a:cs typeface="Consolas"/>
              </a:rPr>
              <a:t>range</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n</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CF222E"/>
                </a:solidFill>
                <a:latin typeface="Consolas"/>
                <a:ea typeface="Consolas"/>
                <a:cs typeface="Consolas"/>
              </a:rPr>
              <a:t>for</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x1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y1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z1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m1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x2</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y2</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z2</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v2</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m2</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CF222E"/>
                </a:solidFill>
                <a:latin typeface="Consolas"/>
                <a:ea typeface="Consolas"/>
                <a:cs typeface="Consolas"/>
              </a:rPr>
              <a:t>in</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pairs</a:t>
            </a:r>
            <a:r>
              <a:rPr sz="1100" b="0" i="0">
                <a:solidFill>
                  <a:srgbClr val="24292F"/>
                </a:solidFill>
                <a:latin typeface="Consolas"/>
                <a:ea typeface="Consolas"/>
                <a:cs typeface="Consolas"/>
              </a:rPr>
              <a:t>:</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dx</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x1</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x2</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dy</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y1</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y2</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dz</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z1</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z2</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mag</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dx</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dx</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dy</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dy</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dz</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dz</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1.5</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b1m</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m1</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mag</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b2m</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m2</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mag</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v1</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0</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dx</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b2m</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v1</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dy</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b2m</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v1</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2</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dz</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b2m</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v2</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0</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dx</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b1m</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v2</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dy</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b1m</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v2</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2</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dz</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b1m</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CF222E"/>
                </a:solidFill>
                <a:latin typeface="Consolas"/>
                <a:ea typeface="Consolas"/>
                <a:cs typeface="Consolas"/>
              </a:rPr>
              <a:t>for</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r</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vx</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vy</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vz</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m</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CF222E"/>
                </a:solidFill>
                <a:latin typeface="Consolas"/>
                <a:ea typeface="Consolas"/>
                <a:cs typeface="Consolas"/>
              </a:rPr>
              <a:t>in</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bodies</a:t>
            </a:r>
            <a:r>
              <a:rPr sz="1100" b="0" i="0">
                <a:solidFill>
                  <a:srgbClr val="24292F"/>
                </a:solidFill>
                <a:latin typeface="Consolas"/>
                <a:ea typeface="Consolas"/>
                <a:cs typeface="Consolas"/>
              </a:rPr>
              <a:t>:</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r</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0</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vx</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r</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vy</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r</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2</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vz</a:t>
            </a:r>
          </a:p>
        </p:txBody>
      </p:sp>
      <p:sp>
        <p:nvSpPr>
          <p:cNvPr id="15" name="Rounded Rectangle 14"/>
          <p:cNvSpPr/>
          <p:nvPr/>
        </p:nvSpPr>
        <p:spPr>
          <a:xfrm>
            <a:off x="6016903" y="1234440"/>
            <a:ext cx="5626151" cy="4078731"/>
          </a:xfrm>
          <a:prstGeom prst="roundRect">
            <a:avLst>
              <a:gd name="adj" fmla="val 2500"/>
            </a:avLst>
          </a:prstGeom>
          <a:solidFill>
            <a:srgbClr val="F6F8FA"/>
          </a:solidFill>
          <a:ln w="12700">
            <a:solidFill>
              <a:srgbClr val="D9DD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026047" y="1563624"/>
            <a:ext cx="5607863" cy="9144"/>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ODEHEAD"/>
          <p:cNvSpPr txBox="1"/>
          <p:nvPr/>
        </p:nvSpPr>
        <p:spPr>
          <a:xfrm>
            <a:off x="6126631" y="1271016"/>
            <a:ext cx="5406695" cy="274320"/>
          </a:xfrm>
          <a:prstGeom prst="rect">
            <a:avLst/>
          </a:prstGeom>
          <a:noFill/>
        </p:spPr>
        <p:txBody>
          <a:bodyPr wrap="none" lIns="45720" rIns="45720" anchor="ctr"/>
          <a:lstStyle/>
          <a:p>
            <a:r>
              <a:rPr sz="1100" b="0" i="0">
                <a:solidFill>
                  <a:srgbClr val="6B7280"/>
                </a:solidFill>
                <a:latin typeface="Consolas"/>
                <a:ea typeface="Consolas"/>
                <a:cs typeface="Consolas"/>
              </a:rPr>
              <a:t>optimized_unroll_experiment · lines 94-175</a:t>
            </a:r>
          </a:p>
        </p:txBody>
      </p:sp>
      <p:sp>
        <p:nvSpPr>
          <p:cNvPr id="18" name="CODEHEAD"/>
          <p:cNvSpPr txBox="1"/>
          <p:nvPr/>
        </p:nvSpPr>
        <p:spPr>
          <a:xfrm>
            <a:off x="9001558" y="1271016"/>
            <a:ext cx="2531768" cy="274320"/>
          </a:xfrm>
          <a:prstGeom prst="rect">
            <a:avLst/>
          </a:prstGeom>
          <a:noFill/>
        </p:spPr>
        <p:txBody>
          <a:bodyPr wrap="square" lIns="45720" rIns="45720" anchor="ctr"/>
          <a:lstStyle/>
          <a:p>
            <a:pPr algn="r"/>
            <a:r>
              <a:rPr sz="1200" b="1" i="0">
                <a:solidFill>
                  <a:srgbClr val="1A7F37"/>
                </a:solidFill>
                <a:latin typeface="Segoe UI"/>
                <a:ea typeface="Segoe UI"/>
                <a:cs typeface="Segoe UI"/>
              </a:rPr>
              <a:t>10 pairs written out</a:t>
            </a:r>
          </a:p>
        </p:txBody>
      </p:sp>
      <p:sp>
        <p:nvSpPr>
          <p:cNvPr id="19" name="Rectangle 18"/>
          <p:cNvSpPr/>
          <p:nvPr/>
        </p:nvSpPr>
        <p:spPr>
          <a:xfrm>
            <a:off x="6071767" y="1832483"/>
            <a:ext cx="5516423" cy="177419"/>
          </a:xfrm>
          <a:prstGeom prst="rect">
            <a:avLst/>
          </a:prstGeom>
          <a:solidFill>
            <a:srgbClr val="D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071767" y="2009902"/>
            <a:ext cx="5516423" cy="177419"/>
          </a:xfrm>
          <a:prstGeom prst="rect">
            <a:avLst/>
          </a:prstGeom>
          <a:solidFill>
            <a:srgbClr val="D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071767" y="2187321"/>
            <a:ext cx="5516423" cy="177419"/>
          </a:xfrm>
          <a:prstGeom prst="rect">
            <a:avLst/>
          </a:prstGeom>
          <a:solidFill>
            <a:srgbClr val="D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071767" y="2364740"/>
            <a:ext cx="5516423" cy="177419"/>
          </a:xfrm>
          <a:prstGeom prst="rect">
            <a:avLst/>
          </a:prstGeom>
          <a:solidFill>
            <a:srgbClr val="D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071767" y="2542159"/>
            <a:ext cx="5516423" cy="177419"/>
          </a:xfrm>
          <a:prstGeom prst="rect">
            <a:avLst/>
          </a:prstGeom>
          <a:solidFill>
            <a:srgbClr val="D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071767" y="4138929"/>
            <a:ext cx="5516423" cy="177419"/>
          </a:xfrm>
          <a:prstGeom prst="rect">
            <a:avLst/>
          </a:prstGeom>
          <a:solidFill>
            <a:srgbClr val="D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071767" y="4316349"/>
            <a:ext cx="5516423" cy="177419"/>
          </a:xfrm>
          <a:prstGeom prst="rect">
            <a:avLst/>
          </a:prstGeom>
          <a:solidFill>
            <a:srgbClr val="D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071767" y="4493768"/>
            <a:ext cx="5516423" cy="177419"/>
          </a:xfrm>
          <a:prstGeom prst="rect">
            <a:avLst/>
          </a:prstGeom>
          <a:solidFill>
            <a:srgbClr val="D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071767" y="4671187"/>
            <a:ext cx="5516423" cy="177419"/>
          </a:xfrm>
          <a:prstGeom prst="rect">
            <a:avLst/>
          </a:prstGeom>
          <a:solidFill>
            <a:srgbClr val="D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071767" y="4848606"/>
            <a:ext cx="5516423" cy="177419"/>
          </a:xfrm>
          <a:prstGeom prst="rect">
            <a:avLst/>
          </a:prstGeom>
          <a:solidFill>
            <a:srgbClr val="D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CODE"/>
          <p:cNvSpPr txBox="1"/>
          <p:nvPr/>
        </p:nvSpPr>
        <p:spPr>
          <a:xfrm>
            <a:off x="6163207" y="1655064"/>
            <a:ext cx="5406695" cy="3572129"/>
          </a:xfrm>
          <a:prstGeom prst="rect">
            <a:avLst/>
          </a:prstGeom>
          <a:noFill/>
        </p:spPr>
        <p:txBody>
          <a:bodyPr wrap="none" lIns="0" rIns="0" tIns="0" bIns="0"/>
          <a:lstStyle/>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CF222E"/>
                </a:solidFill>
                <a:latin typeface="Consolas"/>
                <a:ea typeface="Consolas"/>
                <a:cs typeface="Consolas"/>
              </a:rPr>
              <a:t>for</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i</a:t>
            </a:r>
            <a:r>
              <a:rPr sz="1100" b="0" i="0">
                <a:solidFill>
                  <a:srgbClr val="24292F"/>
                </a:solidFill>
                <a:latin typeface="Consolas"/>
                <a:ea typeface="Consolas"/>
                <a:cs typeface="Consolas"/>
              </a:rPr>
              <a:t> </a:t>
            </a:r>
            <a:r>
              <a:rPr sz="1100" b="0" i="0">
                <a:solidFill>
                  <a:srgbClr val="CF222E"/>
                </a:solidFill>
                <a:latin typeface="Consolas"/>
                <a:ea typeface="Consolas"/>
                <a:cs typeface="Consolas"/>
              </a:rPr>
              <a:t>in</a:t>
            </a:r>
            <a:r>
              <a:rPr sz="1100" b="0" i="0">
                <a:solidFill>
                  <a:srgbClr val="24292F"/>
                </a:solidFill>
                <a:latin typeface="Consolas"/>
                <a:ea typeface="Consolas"/>
                <a:cs typeface="Consolas"/>
              </a:rPr>
              <a:t> </a:t>
            </a:r>
            <a:r>
              <a:rPr sz="1100" b="0" i="0">
                <a:solidFill>
                  <a:srgbClr val="8250DF"/>
                </a:solidFill>
                <a:latin typeface="Consolas"/>
                <a:ea typeface="Consolas"/>
                <a:cs typeface="Consolas"/>
              </a:rPr>
              <a:t>range</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n</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x0</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y0</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z0</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p0</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x1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y1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z1</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p1</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x2</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y2</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z2</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p2</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x3</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y3</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z3</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p3</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x4</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y4</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z4</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p4</a:t>
            </a:r>
          </a:p>
          <a:p>
            <a:pPr>
              <a:lnSpc>
                <a:spcPts val="1397"/>
              </a:lnSpc>
              <a:spcBef>
                <a:spcPts val="0"/>
              </a:spcBef>
              <a:spcAft>
                <a:spcPts val="0"/>
              </a:spcAft>
            </a:pPr>
            <a:r>
              <a:rPr sz="1100" b="0" i="0">
                <a:solidFill>
                  <a:srgbClr val="24292F"/>
                </a:solidFill>
                <a:latin typeface="Consolas"/>
                <a:ea typeface="Consolas"/>
                <a:cs typeface="Consolas"/>
              </a:rPr>
              <a:t> </a:t>
            </a:r>
          </a:p>
          <a:p>
            <a:pPr>
              <a:lnSpc>
                <a:spcPts val="1397"/>
              </a:lnSpc>
              <a:spcBef>
                <a:spcPts val="0"/>
              </a:spcBef>
              <a:spcAft>
                <a:spcPts val="0"/>
              </a:spcAft>
            </a:pPr>
            <a:r>
              <a:rPr sz="1100" b="0" i="0">
                <a:solidFill>
                  <a:srgbClr val="24292F"/>
                </a:solidFill>
                <a:latin typeface="Consolas"/>
                <a:ea typeface="Consolas"/>
                <a:cs typeface="Consolas"/>
              </a:rPr>
              <a:t>        </a:t>
            </a:r>
            <a:r>
              <a:rPr sz="1100" b="0" i="1">
                <a:solidFill>
                  <a:srgbClr val="6E7781"/>
                </a:solidFill>
                <a:latin typeface="Consolas"/>
                <a:ea typeface="Consolas"/>
                <a:cs typeface="Consolas"/>
              </a:rPr>
              <a:t># pair (0, 1)</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dx</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x0</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x1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dy</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y0</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y1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dz</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z0</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z1</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mag</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dx</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dx</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dy</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dy</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dz</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dz</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1.5</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b1m</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m0</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mag</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b2m</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m1</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mag</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v0</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0</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dx</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b2m</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v0</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dy</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b2m</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v0</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2</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dz</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b2m</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v1</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0</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dx</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b1m</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v1</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dy</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b1m</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v1</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2</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dz</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b1m</a:t>
            </a:r>
          </a:p>
          <a:p>
            <a:pPr>
              <a:lnSpc>
                <a:spcPts val="1397"/>
              </a:lnSpc>
              <a:spcBef>
                <a:spcPts val="0"/>
              </a:spcBef>
              <a:spcAft>
                <a:spcPts val="0"/>
              </a:spcAft>
            </a:pPr>
            <a:r>
              <a:rPr sz="1100" b="0" i="0">
                <a:solidFill>
                  <a:srgbClr val="6B7280"/>
                </a:solidFill>
                <a:latin typeface="Consolas"/>
                <a:ea typeface="Consolas"/>
                <a:cs typeface="Consolas"/>
              </a:rPr>
              <a:t>...</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p0</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0</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v0</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0</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p0</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v0</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p0</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2</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v0</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2</a:t>
            </a:r>
            <a:r>
              <a:rPr sz="1100" b="0" i="0">
                <a:solidFill>
                  <a:srgbClr val="24292F"/>
                </a:solidFill>
                <a:latin typeface="Consolas"/>
                <a:ea typeface="Consolas"/>
                <a:cs typeface="Consolas"/>
              </a:rPr>
              <a:t>]</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p1</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0</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v1</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0</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p1</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v1</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p1</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2</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v1</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2</a:t>
            </a:r>
            <a:r>
              <a:rPr sz="1100" b="0" i="0">
                <a:solidFill>
                  <a:srgbClr val="24292F"/>
                </a:solidFill>
                <a:latin typeface="Consolas"/>
                <a:ea typeface="Consolas"/>
                <a:cs typeface="Consolas"/>
              </a:rPr>
              <a:t>]</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p2</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0</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v2</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0</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p2</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v2</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p2</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2</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v2</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2</a:t>
            </a:r>
            <a:r>
              <a:rPr sz="1100" b="0" i="0">
                <a:solidFill>
                  <a:srgbClr val="24292F"/>
                </a:solidFill>
                <a:latin typeface="Consolas"/>
                <a:ea typeface="Consolas"/>
                <a:cs typeface="Consolas"/>
              </a:rPr>
              <a:t>]</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p3</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0</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v3</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0</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p3</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v3</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p3</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2</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v3</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2</a:t>
            </a:r>
            <a:r>
              <a:rPr sz="1100" b="0" i="0">
                <a:solidFill>
                  <a:srgbClr val="24292F"/>
                </a:solidFill>
                <a:latin typeface="Consolas"/>
                <a:ea typeface="Consolas"/>
                <a:cs typeface="Consolas"/>
              </a:rPr>
              <a:t>]</a:t>
            </a:r>
          </a:p>
          <a:p>
            <a:pPr>
              <a:lnSpc>
                <a:spcPts val="1397"/>
              </a:lnSpc>
              <a:spcBef>
                <a:spcPts val="0"/>
              </a:spcBef>
              <a:spcAft>
                <a:spcPts val="0"/>
              </a:spcAft>
            </a:pP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p4</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0</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v4</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0</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p4</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v4</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1</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p4</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2</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dt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a:t>
            </a:r>
            <a:r>
              <a:rPr sz="1100" b="0" i="0">
                <a:solidFill>
                  <a:srgbClr val="24292F"/>
                </a:solidFill>
                <a:latin typeface="Consolas"/>
                <a:ea typeface="Consolas"/>
                <a:cs typeface="Consolas"/>
              </a:rPr>
              <a:t> </a:t>
            </a:r>
            <a:r>
              <a:rPr sz="1100" b="0" i="0">
                <a:solidFill>
                  <a:srgbClr val="24292F"/>
                </a:solidFill>
                <a:latin typeface="Consolas"/>
                <a:ea typeface="Consolas"/>
                <a:cs typeface="Consolas"/>
              </a:rPr>
              <a:t>v4</a:t>
            </a:r>
            <a:r>
              <a:rPr sz="1100" b="0" i="0">
                <a:solidFill>
                  <a:srgbClr val="24292F"/>
                </a:solidFill>
                <a:latin typeface="Consolas"/>
                <a:ea typeface="Consolas"/>
                <a:cs typeface="Consolas"/>
              </a:rPr>
              <a:t>[</a:t>
            </a:r>
            <a:r>
              <a:rPr sz="1100" b="0" i="0">
                <a:solidFill>
                  <a:srgbClr val="0550AE"/>
                </a:solidFill>
                <a:latin typeface="Consolas"/>
                <a:ea typeface="Consolas"/>
                <a:cs typeface="Consolas"/>
              </a:rPr>
              <a:t>2</a:t>
            </a:r>
            <a:r>
              <a:rPr sz="1100" b="0" i="0">
                <a:solidFill>
                  <a:srgbClr val="24292F"/>
                </a:solidFill>
                <a:latin typeface="Consolas"/>
                <a:ea typeface="Consolas"/>
                <a:cs typeface="Consolas"/>
              </a:rPr>
              <a:t>]</a:t>
            </a:r>
          </a:p>
        </p:txBody>
      </p:sp>
      <p:sp>
        <p:nvSpPr>
          <p:cNvPr id="30" name="BODY"/>
          <p:cNvSpPr txBox="1"/>
          <p:nvPr/>
        </p:nvSpPr>
        <p:spPr>
          <a:xfrm>
            <a:off x="548640" y="5450331"/>
            <a:ext cx="11094415" cy="731520"/>
          </a:xfrm>
          <a:prstGeom prst="rect">
            <a:avLst/>
          </a:prstGeom>
          <a:noFill/>
        </p:spPr>
        <p:txBody>
          <a:bodyPr wrap="square" lIns="45720" rIns="45720" anchor="t"/>
          <a:lstStyle/>
          <a:p>
            <a:pPr algn="l">
              <a:lnSpc>
                <a:spcPct val="105000"/>
              </a:lnSpc>
            </a:pPr>
            <a:r>
              <a:rPr sz="1800" b="0" i="0">
                <a:solidFill>
                  <a:srgbClr val="222222"/>
                </a:solidFill>
                <a:latin typeface="Segoe UI"/>
                <a:ea typeface="Segoe UI"/>
                <a:cs typeface="Segoe UI"/>
              </a:rPr>
              <a:t>Before the loop, all bodies are unpacked once (line 92: (p0, v0, m0), …, (p4, v4, m4) = bodies). The ** power call is unchanged.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Results: 9.1 % faster</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B · nbody</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24</a:t>
            </a:r>
          </a:p>
        </p:txBody>
      </p:sp>
      <p:sp>
        <p:nvSpPr>
          <p:cNvPr id="7" name="Rounded Rectangle 6"/>
          <p:cNvSpPr/>
          <p:nvPr/>
        </p:nvSpPr>
        <p:spPr>
          <a:xfrm>
            <a:off x="548640" y="1325880"/>
            <a:ext cx="3749039" cy="3246120"/>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731520" y="1463040"/>
            <a:ext cx="3383280" cy="365760"/>
          </a:xfrm>
          <a:prstGeom prst="rect">
            <a:avLst/>
          </a:prstGeom>
          <a:noFill/>
        </p:spPr>
        <p:txBody>
          <a:bodyPr wrap="square" lIns="45720" rIns="45720" anchor="t"/>
          <a:lstStyle/>
          <a:p>
            <a:pPr algn="ctr">
              <a:lnSpc>
                <a:spcPct val="105000"/>
              </a:lnSpc>
            </a:pPr>
            <a:r>
              <a:rPr sz="1800" b="0" i="0">
                <a:solidFill>
                  <a:srgbClr val="6B7280"/>
                </a:solidFill>
                <a:latin typeface="Segoe UI"/>
                <a:ea typeface="Segoe UI"/>
                <a:cs typeface="Segoe UI"/>
              </a:rPr>
              <a:t>Mean ± std dev (pyperf)</a:t>
            </a:r>
          </a:p>
        </p:txBody>
      </p:sp>
      <p:sp>
        <p:nvSpPr>
          <p:cNvPr id="9" name="STAT"/>
          <p:cNvSpPr txBox="1"/>
          <p:nvPr/>
        </p:nvSpPr>
        <p:spPr>
          <a:xfrm>
            <a:off x="731520" y="1920240"/>
            <a:ext cx="3383280" cy="685800"/>
          </a:xfrm>
          <a:prstGeom prst="rect">
            <a:avLst/>
          </a:prstGeom>
          <a:noFill/>
        </p:spPr>
        <p:txBody>
          <a:bodyPr wrap="square" lIns="45720" rIns="45720"/>
          <a:lstStyle/>
          <a:p>
            <a:pPr algn="ctr"/>
            <a:r>
              <a:rPr sz="4000" b="0" i="0">
                <a:solidFill>
                  <a:srgbClr val="222222"/>
                </a:solidFill>
                <a:latin typeface="Segoe UI Semibold"/>
                <a:ea typeface="Segoe UI Semibold"/>
                <a:cs typeface="Segoe UI Semibold"/>
              </a:rPr>
              <a:t>483 ms</a:t>
            </a:r>
          </a:p>
        </p:txBody>
      </p:sp>
      <p:sp>
        <p:nvSpPr>
          <p:cNvPr id="10" name="BODY"/>
          <p:cNvSpPr txBox="1"/>
          <p:nvPr/>
        </p:nvSpPr>
        <p:spPr>
          <a:xfrm>
            <a:off x="731520" y="2578608"/>
            <a:ext cx="3383280" cy="365760"/>
          </a:xfrm>
          <a:prstGeom prst="rect">
            <a:avLst/>
          </a:prstGeom>
          <a:noFill/>
        </p:spPr>
        <p:txBody>
          <a:bodyPr wrap="square" lIns="45720" rIns="45720" anchor="t"/>
          <a:lstStyle/>
          <a:p>
            <a:pPr algn="ctr">
              <a:lnSpc>
                <a:spcPct val="105000"/>
              </a:lnSpc>
            </a:pPr>
            <a:r>
              <a:rPr sz="1800" b="0" i="0">
                <a:solidFill>
                  <a:srgbClr val="6B7280"/>
                </a:solidFill>
                <a:latin typeface="Segoe UI"/>
                <a:ea typeface="Segoe UI"/>
                <a:cs typeface="Segoe UI"/>
              </a:rPr>
              <a:t>original, ± 4 ms</a:t>
            </a:r>
          </a:p>
        </p:txBody>
      </p:sp>
      <p:sp>
        <p:nvSpPr>
          <p:cNvPr id="11" name="STAT"/>
          <p:cNvSpPr txBox="1"/>
          <p:nvPr/>
        </p:nvSpPr>
        <p:spPr>
          <a:xfrm>
            <a:off x="731520" y="3154680"/>
            <a:ext cx="3383280" cy="685800"/>
          </a:xfrm>
          <a:prstGeom prst="rect">
            <a:avLst/>
          </a:prstGeom>
          <a:noFill/>
        </p:spPr>
        <p:txBody>
          <a:bodyPr wrap="square" lIns="45720" rIns="45720"/>
          <a:lstStyle/>
          <a:p>
            <a:pPr algn="ctr"/>
            <a:r>
              <a:rPr sz="4000" b="0" i="0">
                <a:solidFill>
                  <a:srgbClr val="1A7F37"/>
                </a:solidFill>
                <a:latin typeface="Segoe UI Semibold"/>
                <a:ea typeface="Segoe UI Semibold"/>
                <a:cs typeface="Segoe UI Semibold"/>
              </a:rPr>
              <a:t>439 ms</a:t>
            </a:r>
          </a:p>
        </p:txBody>
      </p:sp>
      <p:sp>
        <p:nvSpPr>
          <p:cNvPr id="12" name="BODY"/>
          <p:cNvSpPr txBox="1"/>
          <p:nvPr/>
        </p:nvSpPr>
        <p:spPr>
          <a:xfrm>
            <a:off x="731520" y="3813048"/>
            <a:ext cx="3383280" cy="365760"/>
          </a:xfrm>
          <a:prstGeom prst="rect">
            <a:avLst/>
          </a:prstGeom>
          <a:noFill/>
        </p:spPr>
        <p:txBody>
          <a:bodyPr wrap="square" lIns="45720" rIns="45720" anchor="t"/>
          <a:lstStyle/>
          <a:p>
            <a:pPr algn="ctr">
              <a:lnSpc>
                <a:spcPct val="105000"/>
              </a:lnSpc>
            </a:pPr>
            <a:r>
              <a:rPr sz="1800" b="0" i="0">
                <a:solidFill>
                  <a:srgbClr val="6B7280"/>
                </a:solidFill>
                <a:latin typeface="Segoe UI"/>
                <a:ea typeface="Segoe UI"/>
                <a:cs typeface="Segoe UI"/>
              </a:rPr>
              <a:t>unrolled, ± 2 ms</a:t>
            </a:r>
          </a:p>
        </p:txBody>
      </p:sp>
      <p:graphicFrame>
        <p:nvGraphicFramePr>
          <p:cNvPr id="13" name="BODY_TABLE"/>
          <p:cNvGraphicFramePr>
            <a:graphicFrameLocks noGrp="1"/>
          </p:cNvGraphicFramePr>
          <p:nvPr/>
        </p:nvGraphicFramePr>
        <p:xfrm>
          <a:off x="4526279" y="1325880"/>
          <a:ext cx="7114032" cy="3236976"/>
        </p:xfrm>
        <a:graphic>
          <a:graphicData uri="http://schemas.openxmlformats.org/drawingml/2006/table">
            <a:tbl>
              <a:tblPr firstRow="0" bandRow="0">
                <a:tableStyleId>{2D5ABB26-0587-4C30-8999-92F81FD0307C}</a:tableStyleId>
              </a:tblPr>
              <a:tblGrid>
                <a:gridCol w="2194560"/>
                <a:gridCol w="1417320"/>
                <a:gridCol w="1463040"/>
                <a:gridCol w="2039112"/>
              </a:tblGrid>
              <a:tr h="539496">
                <a:tc>
                  <a:txBody>
                    <a:bodyPr wrap="square"/>
                    <a:lstStyle/>
                    <a:p>
                      <a:pPr algn="l"/>
                      <a:r>
                        <a:rPr sz="1800" b="1" i="0">
                          <a:solidFill>
                            <a:srgbClr val="FFFFFF"/>
                          </a:solidFill>
                          <a:latin typeface="Segoe UI"/>
                          <a:ea typeface="Segoe UI"/>
                          <a:cs typeface="Segoe UI"/>
                        </a:rPr>
                        <a:t>Counter</a:t>
                      </a:r>
                    </a:p>
                  </a:txBody>
                  <a:tcPr marL="91440" marR="91440" marT="27432" marB="27432" anchor="ctr">
                    <a:solidFill>
                      <a:srgbClr val="1F3A5F"/>
                    </a:solidFill>
                  </a:tcPr>
                </a:tc>
                <a:tc>
                  <a:txBody>
                    <a:bodyPr wrap="square"/>
                    <a:lstStyle/>
                    <a:p>
                      <a:pPr algn="r"/>
                      <a:r>
                        <a:rPr sz="1800" b="1" i="0">
                          <a:solidFill>
                            <a:srgbClr val="FFFFFF"/>
                          </a:solidFill>
                          <a:latin typeface="Segoe UI"/>
                          <a:ea typeface="Segoe UI"/>
                          <a:cs typeface="Segoe UI"/>
                        </a:rPr>
                        <a:t>Original</a:t>
                      </a:r>
                    </a:p>
                  </a:txBody>
                  <a:tcPr marL="91440" marR="91440" marT="27432" marB="27432" anchor="ctr">
                    <a:solidFill>
                      <a:srgbClr val="1F3A5F"/>
                    </a:solidFill>
                  </a:tcPr>
                </a:tc>
                <a:tc>
                  <a:txBody>
                    <a:bodyPr wrap="square"/>
                    <a:lstStyle/>
                    <a:p>
                      <a:pPr algn="r"/>
                      <a:r>
                        <a:rPr sz="1800" b="1" i="0">
                          <a:solidFill>
                            <a:srgbClr val="FFFFFF"/>
                          </a:solidFill>
                          <a:latin typeface="Segoe UI"/>
                          <a:ea typeface="Segoe UI"/>
                          <a:cs typeface="Segoe UI"/>
                        </a:rPr>
                        <a:t>Unrolled</a:t>
                      </a:r>
                    </a:p>
                  </a:txBody>
                  <a:tcPr marL="91440" marR="91440" marT="27432" marB="27432" anchor="ctr">
                    <a:solidFill>
                      <a:srgbClr val="1F3A5F"/>
                    </a:solidFill>
                  </a:tcPr>
                </a:tc>
                <a:tc>
                  <a:txBody>
                    <a:bodyPr wrap="square"/>
                    <a:lstStyle/>
                    <a:p>
                      <a:pPr algn="l"/>
                      <a:r>
                        <a:rPr sz="1800" b="1" i="0">
                          <a:solidFill>
                            <a:srgbClr val="FFFFFF"/>
                          </a:solidFill>
                          <a:latin typeface="Segoe UI"/>
                          <a:ea typeface="Segoe UI"/>
                          <a:cs typeface="Segoe UI"/>
                        </a:rPr>
                        <a:t>Change</a:t>
                      </a:r>
                    </a:p>
                  </a:txBody>
                  <a:tcPr marL="91440" marR="91440" marT="27432" marB="27432" anchor="ctr">
                    <a:solidFill>
                      <a:srgbClr val="1F3A5F"/>
                    </a:solidFill>
                  </a:tcPr>
                </a:tc>
              </a:tr>
              <a:tr h="539496">
                <a:tc>
                  <a:txBody>
                    <a:bodyPr wrap="square"/>
                    <a:lstStyle/>
                    <a:p>
                      <a:pPr algn="l"/>
                      <a:r>
                        <a:rPr sz="1800" b="0" i="0">
                          <a:solidFill>
                            <a:srgbClr val="222222"/>
                          </a:solidFill>
                          <a:latin typeface="Segoe UI"/>
                          <a:ea typeface="Segoe UI"/>
                          <a:cs typeface="Segoe UI"/>
                        </a:rPr>
                        <a:t>Instructions</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260.5 G</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244.0 G</a:t>
                      </a:r>
                    </a:p>
                  </a:txBody>
                  <a:tcPr marL="91440" marR="91440" marT="27432" marB="27432" anchor="ctr">
                    <a:solidFill>
                      <a:srgbClr val="FFFFFF"/>
                    </a:solidFill>
                  </a:tcPr>
                </a:tc>
                <a:tc>
                  <a:txBody>
                    <a:bodyPr wrap="square"/>
                    <a:lstStyle/>
                    <a:p>
                      <a:pPr algn="l"/>
                      <a:r>
                        <a:rPr sz="1800" b="0" i="0">
                          <a:solidFill>
                            <a:srgbClr val="1A7F37"/>
                          </a:solidFill>
                          <a:latin typeface="Segoe UI"/>
                          <a:ea typeface="Segoe UI"/>
                          <a:cs typeface="Segoe UI"/>
                        </a:rPr>
                        <a:t>6.8 % fewer</a:t>
                      </a:r>
                    </a:p>
                  </a:txBody>
                  <a:tcPr marL="91440" marR="91440" marT="27432" marB="27432" anchor="ctr">
                    <a:solidFill>
                      <a:srgbClr val="FFFFFF"/>
                    </a:solidFill>
                  </a:tcPr>
                </a:tc>
              </a:tr>
              <a:tr h="539496">
                <a:tc>
                  <a:txBody>
                    <a:bodyPr wrap="square"/>
                    <a:lstStyle/>
                    <a:p>
                      <a:pPr algn="l"/>
                      <a:r>
                        <a:rPr sz="1800" b="0" i="0">
                          <a:solidFill>
                            <a:srgbClr val="222222"/>
                          </a:solidFill>
                          <a:latin typeface="Segoe UI"/>
                          <a:ea typeface="Segoe UI"/>
                          <a:cs typeface="Segoe UI"/>
                        </a:rPr>
                        <a:t>Cycles</a:t>
                      </a:r>
                    </a:p>
                  </a:txBody>
                  <a:tcPr marL="91440" marR="91440" marT="27432" marB="27432" anchor="ctr">
                    <a:solidFill>
                      <a:srgbClr val="F3F4F6"/>
                    </a:solidFill>
                  </a:tcPr>
                </a:tc>
                <a:tc>
                  <a:txBody>
                    <a:bodyPr wrap="square"/>
                    <a:lstStyle/>
                    <a:p>
                      <a:pPr algn="r"/>
                      <a:r>
                        <a:rPr sz="1800" b="0" i="0">
                          <a:solidFill>
                            <a:srgbClr val="222222"/>
                          </a:solidFill>
                          <a:latin typeface="Segoe UI"/>
                          <a:ea typeface="Segoe UI"/>
                          <a:cs typeface="Segoe UI"/>
                        </a:rPr>
                        <a:t>107.7 G</a:t>
                      </a:r>
                    </a:p>
                  </a:txBody>
                  <a:tcPr marL="91440" marR="91440" marT="27432" marB="27432" anchor="ctr">
                    <a:solidFill>
                      <a:srgbClr val="F3F4F6"/>
                    </a:solidFill>
                  </a:tcPr>
                </a:tc>
                <a:tc>
                  <a:txBody>
                    <a:bodyPr wrap="square"/>
                    <a:lstStyle/>
                    <a:p>
                      <a:pPr algn="r"/>
                      <a:r>
                        <a:rPr sz="1800" b="0" i="0">
                          <a:solidFill>
                            <a:srgbClr val="222222"/>
                          </a:solidFill>
                          <a:latin typeface="Segoe UI"/>
                          <a:ea typeface="Segoe UI"/>
                          <a:cs typeface="Segoe UI"/>
                        </a:rPr>
                        <a:t>100.0 G</a:t>
                      </a:r>
                    </a:p>
                  </a:txBody>
                  <a:tcPr marL="91440" marR="91440" marT="27432" marB="27432" anchor="ctr">
                    <a:solidFill>
                      <a:srgbClr val="F3F4F6"/>
                    </a:solidFill>
                  </a:tcPr>
                </a:tc>
                <a:tc>
                  <a:txBody>
                    <a:bodyPr wrap="square"/>
                    <a:lstStyle/>
                    <a:p>
                      <a:pPr algn="l"/>
                      <a:r>
                        <a:rPr sz="1800" b="0" i="0">
                          <a:solidFill>
                            <a:srgbClr val="1A7F37"/>
                          </a:solidFill>
                          <a:latin typeface="Segoe UI"/>
                          <a:ea typeface="Segoe UI"/>
                          <a:cs typeface="Segoe UI"/>
                        </a:rPr>
                        <a:t>7.7 % fewer</a:t>
                      </a:r>
                    </a:p>
                  </a:txBody>
                  <a:tcPr marL="91440" marR="91440" marT="27432" marB="27432" anchor="ctr">
                    <a:solidFill>
                      <a:srgbClr val="F3F4F6"/>
                    </a:solidFill>
                  </a:tcPr>
                </a:tc>
              </a:tr>
              <a:tr h="539496">
                <a:tc>
                  <a:txBody>
                    <a:bodyPr wrap="square"/>
                    <a:lstStyle/>
                    <a:p>
                      <a:pPr algn="l"/>
                      <a:r>
                        <a:rPr sz="1800" b="0" i="0">
                          <a:solidFill>
                            <a:srgbClr val="222222"/>
                          </a:solidFill>
                          <a:latin typeface="Segoe UI"/>
                          <a:ea typeface="Segoe UI"/>
                          <a:cs typeface="Segoe UI"/>
                        </a:rPr>
                        <a:t>IPC</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2.42</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2.44</a:t>
                      </a:r>
                    </a:p>
                  </a:txBody>
                  <a:tcPr marL="91440" marR="91440" marT="27432" marB="27432" anchor="ctr">
                    <a:solidFill>
                      <a:srgbClr val="FFFFFF"/>
                    </a:solidFill>
                  </a:tcPr>
                </a:tc>
                <a:tc>
                  <a:txBody>
                    <a:bodyPr wrap="square"/>
                    <a:lstStyle/>
                    <a:p>
                      <a:pPr algn="l"/>
                      <a:r>
                        <a:rPr sz="1800" b="0" i="0">
                          <a:solidFill>
                            <a:srgbClr val="6B7280"/>
                          </a:solidFill>
                          <a:latin typeface="Segoe UI"/>
                          <a:ea typeface="Segoe UI"/>
                          <a:cs typeface="Segoe UI"/>
                        </a:rPr>
                        <a:t>about the same</a:t>
                      </a:r>
                    </a:p>
                  </a:txBody>
                  <a:tcPr marL="91440" marR="91440" marT="27432" marB="27432" anchor="ctr">
                    <a:solidFill>
                      <a:srgbClr val="FFFFFF"/>
                    </a:solidFill>
                  </a:tcPr>
                </a:tc>
              </a:tr>
              <a:tr h="539496">
                <a:tc>
                  <a:txBody>
                    <a:bodyPr wrap="square"/>
                    <a:lstStyle/>
                    <a:p>
                      <a:pPr algn="l"/>
                      <a:r>
                        <a:rPr sz="1800" b="0" i="0">
                          <a:solidFill>
                            <a:srgbClr val="222222"/>
                          </a:solidFill>
                          <a:latin typeface="Segoe UI"/>
                          <a:ea typeface="Segoe UI"/>
                          <a:cs typeface="Segoe UI"/>
                        </a:rPr>
                        <a:t>Cache-miss rate</a:t>
                      </a:r>
                    </a:p>
                  </a:txBody>
                  <a:tcPr marL="91440" marR="91440" marT="27432" marB="27432" anchor="ctr">
                    <a:solidFill>
                      <a:srgbClr val="F3F4F6"/>
                    </a:solidFill>
                  </a:tcPr>
                </a:tc>
                <a:tc>
                  <a:txBody>
                    <a:bodyPr wrap="square"/>
                    <a:lstStyle/>
                    <a:p>
                      <a:pPr algn="r"/>
                      <a:r>
                        <a:rPr sz="1800" b="0" i="0">
                          <a:solidFill>
                            <a:srgbClr val="222222"/>
                          </a:solidFill>
                          <a:latin typeface="Segoe UI"/>
                          <a:ea typeface="Segoe UI"/>
                          <a:cs typeface="Segoe UI"/>
                        </a:rPr>
                        <a:t>2.83 %</a:t>
                      </a:r>
                    </a:p>
                  </a:txBody>
                  <a:tcPr marL="91440" marR="91440" marT="27432" marB="27432" anchor="ctr">
                    <a:solidFill>
                      <a:srgbClr val="F3F4F6"/>
                    </a:solidFill>
                  </a:tcPr>
                </a:tc>
                <a:tc>
                  <a:txBody>
                    <a:bodyPr wrap="square"/>
                    <a:lstStyle/>
                    <a:p>
                      <a:pPr algn="r"/>
                      <a:r>
                        <a:rPr sz="1800" b="0" i="0">
                          <a:solidFill>
                            <a:srgbClr val="222222"/>
                          </a:solidFill>
                          <a:latin typeface="Segoe UI"/>
                          <a:ea typeface="Segoe UI"/>
                          <a:cs typeface="Segoe UI"/>
                        </a:rPr>
                        <a:t>3.25 %</a:t>
                      </a:r>
                    </a:p>
                  </a:txBody>
                  <a:tcPr marL="91440" marR="91440" marT="27432" marB="27432" anchor="ctr">
                    <a:solidFill>
                      <a:srgbClr val="F3F4F6"/>
                    </a:solidFill>
                  </a:tcPr>
                </a:tc>
                <a:tc>
                  <a:txBody>
                    <a:bodyPr wrap="square"/>
                    <a:lstStyle/>
                    <a:p>
                      <a:pPr algn="l"/>
                      <a:r>
                        <a:rPr sz="1800" b="0" i="0">
                          <a:solidFill>
                            <a:srgbClr val="B42318"/>
                          </a:solidFill>
                          <a:latin typeface="Segoe UI"/>
                          <a:ea typeface="Segoe UI"/>
                          <a:cs typeface="Segoe UI"/>
                        </a:rPr>
                        <a:t>slightly worse</a:t>
                      </a:r>
                    </a:p>
                  </a:txBody>
                  <a:tcPr marL="91440" marR="91440" marT="27432" marB="27432" anchor="ctr">
                    <a:solidFill>
                      <a:srgbClr val="F3F4F6"/>
                    </a:solidFill>
                  </a:tcPr>
                </a:tc>
              </a:tr>
              <a:tr h="539496">
                <a:tc>
                  <a:txBody>
                    <a:bodyPr wrap="square"/>
                    <a:lstStyle/>
                    <a:p>
                      <a:pPr algn="l"/>
                      <a:r>
                        <a:rPr sz="1800" b="0" i="0">
                          <a:solidFill>
                            <a:srgbClr val="222222"/>
                          </a:solidFill>
                          <a:latin typeface="Segoe UI"/>
                          <a:ea typeface="Segoe UI"/>
                          <a:cs typeface="Segoe UI"/>
                        </a:rPr>
                        <a:t>Branch-miss rate</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0.49 %</a:t>
                      </a:r>
                    </a:p>
                  </a:txBody>
                  <a:tcPr marL="91440" marR="91440" marT="27432" marB="27432" anchor="ctr">
                    <a:solidFill>
                      <a:srgbClr val="FFFFFF"/>
                    </a:solidFill>
                  </a:tcPr>
                </a:tc>
                <a:tc>
                  <a:txBody>
                    <a:bodyPr wrap="square"/>
                    <a:lstStyle/>
                    <a:p>
                      <a:pPr algn="r"/>
                      <a:r>
                        <a:rPr sz="1800" b="0" i="0">
                          <a:solidFill>
                            <a:srgbClr val="222222"/>
                          </a:solidFill>
                          <a:latin typeface="Segoe UI"/>
                          <a:ea typeface="Segoe UI"/>
                          <a:cs typeface="Segoe UI"/>
                        </a:rPr>
                        <a:t>0.49 %</a:t>
                      </a:r>
                    </a:p>
                  </a:txBody>
                  <a:tcPr marL="91440" marR="91440" marT="27432" marB="27432" anchor="ctr">
                    <a:solidFill>
                      <a:srgbClr val="FFFFFF"/>
                    </a:solidFill>
                  </a:tcPr>
                </a:tc>
                <a:tc>
                  <a:txBody>
                    <a:bodyPr wrap="square"/>
                    <a:lstStyle/>
                    <a:p>
                      <a:pPr algn="l"/>
                      <a:r>
                        <a:rPr sz="1800" b="0" i="0">
                          <a:solidFill>
                            <a:srgbClr val="6B7280"/>
                          </a:solidFill>
                          <a:latin typeface="Segoe UI"/>
                          <a:ea typeface="Segoe UI"/>
                          <a:cs typeface="Segoe UI"/>
                        </a:rPr>
                        <a:t>unchanged</a:t>
                      </a:r>
                    </a:p>
                  </a:txBody>
                  <a:tcPr marL="91440" marR="91440" marT="27432" marB="27432" anchor="ctr">
                    <a:solidFill>
                      <a:srgbClr val="FFFFFF"/>
                    </a:solidFill>
                  </a:tcPr>
                </a:tc>
              </a:tr>
            </a:tbl>
          </a:graphicData>
        </a:graphic>
      </p:graphicFrame>
      <p:sp>
        <p:nvSpPr>
          <p:cNvPr id="14" name="Rounded Rectangle 13"/>
          <p:cNvSpPr/>
          <p:nvPr/>
        </p:nvSpPr>
        <p:spPr>
          <a:xfrm>
            <a:off x="548640" y="4800600"/>
            <a:ext cx="11094415" cy="137160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48640" y="4910328"/>
            <a:ext cx="54864" cy="115214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ODY"/>
          <p:cNvSpPr txBox="1"/>
          <p:nvPr/>
        </p:nvSpPr>
        <p:spPr>
          <a:xfrm>
            <a:off x="777240" y="4928616"/>
            <a:ext cx="10728655" cy="411480"/>
          </a:xfrm>
          <a:prstGeom prst="rect">
            <a:avLst/>
          </a:prstGeom>
          <a:noFill/>
        </p:spPr>
        <p:txBody>
          <a:bodyPr wrap="square" lIns="45720" rIns="45720" anchor="t"/>
          <a:lstStyle/>
          <a:p>
            <a:pPr algn="l">
              <a:lnSpc>
                <a:spcPct val="105000"/>
              </a:lnSpc>
            </a:pPr>
            <a:r>
              <a:rPr sz="1800" b="1" i="0">
                <a:solidFill>
                  <a:srgbClr val="0F766E"/>
                </a:solidFill>
                <a:latin typeface="Segoe UI"/>
                <a:ea typeface="Segoe UI"/>
                <a:cs typeface="Segoe UI"/>
              </a:rPr>
              <a:t>Above the ≥ 7 % target, but only just</a:t>
            </a:r>
          </a:p>
        </p:txBody>
      </p:sp>
      <p:sp>
        <p:nvSpPr>
          <p:cNvPr id="17" name="BODY"/>
          <p:cNvSpPr txBox="1"/>
          <p:nvPr/>
        </p:nvSpPr>
        <p:spPr>
          <a:xfrm>
            <a:off x="731520" y="5367528"/>
            <a:ext cx="10774375" cy="713232"/>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Cache misses rose slightly because the unrolled function body is much larger. The 7-8 % drop in instructions and cycles still wins overall.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Results: flame graphs before and after</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B · nbody</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25</a:t>
            </a:r>
          </a:p>
        </p:txBody>
      </p:sp>
      <p:sp>
        <p:nvSpPr>
          <p:cNvPr id="7" name="BODY"/>
          <p:cNvSpPr txBox="1"/>
          <p:nvPr/>
        </p:nvSpPr>
        <p:spPr>
          <a:xfrm>
            <a:off x="548640" y="1280160"/>
            <a:ext cx="5410047" cy="411480"/>
          </a:xfrm>
          <a:prstGeom prst="rect">
            <a:avLst/>
          </a:prstGeom>
          <a:noFill/>
        </p:spPr>
        <p:txBody>
          <a:bodyPr wrap="square" lIns="45720" rIns="45720" anchor="t"/>
          <a:lstStyle/>
          <a:p>
            <a:pPr algn="l">
              <a:lnSpc>
                <a:spcPct val="105000"/>
              </a:lnSpc>
            </a:pPr>
            <a:r>
              <a:rPr sz="1800" b="1" i="0">
                <a:solidFill>
                  <a:srgbClr val="222222"/>
                </a:solidFill>
                <a:latin typeface="Segoe UI"/>
                <a:ea typeface="Segoe UI"/>
                <a:cs typeface="Segoe UI"/>
              </a:rPr>
              <a:t>Before</a:t>
            </a:r>
            <a:r>
              <a:rPr sz="1800" b="0" i="0">
                <a:solidFill>
                  <a:srgbClr val="222222"/>
                </a:solidFill>
                <a:latin typeface="Segoe UI"/>
                <a:ea typeface="Segoe UI"/>
                <a:cs typeface="Segoe UI"/>
              </a:rPr>
              <a:t>: original</a:t>
            </a:r>
          </a:p>
        </p:txBody>
      </p:sp>
      <p:pic>
        <p:nvPicPr>
          <p:cNvPr id="8" name="Picture 7" descr="fg_nbody_original_half.png"/>
          <p:cNvPicPr>
            <a:picLocks noChangeAspect="1"/>
          </p:cNvPicPr>
          <p:nvPr/>
        </p:nvPicPr>
        <p:blipFill>
          <a:blip r:embed="rId2"/>
          <a:stretch>
            <a:fillRect/>
          </a:stretch>
        </p:blipFill>
        <p:spPr>
          <a:xfrm>
            <a:off x="548640" y="1962891"/>
            <a:ext cx="5410047" cy="2200697"/>
          </a:xfrm>
          <a:prstGeom prst="rect">
            <a:avLst/>
          </a:prstGeom>
          <a:ln w="12700">
            <a:solidFill>
              <a:srgbClr val="D9DDE3"/>
            </a:solidFill>
          </a:ln>
        </p:spPr>
      </p:pic>
      <p:sp>
        <p:nvSpPr>
          <p:cNvPr id="9" name="Rectangle 8"/>
          <p:cNvSpPr/>
          <p:nvPr/>
        </p:nvSpPr>
        <p:spPr>
          <a:xfrm>
            <a:off x="548640" y="4346468"/>
            <a:ext cx="54864" cy="12801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ODY"/>
          <p:cNvSpPr txBox="1"/>
          <p:nvPr/>
        </p:nvSpPr>
        <p:spPr>
          <a:xfrm>
            <a:off x="685800" y="4300748"/>
            <a:ext cx="5227167" cy="1463040"/>
          </a:xfrm>
          <a:prstGeom prst="rect">
            <a:avLst/>
          </a:prstGeom>
          <a:noFill/>
        </p:spPr>
        <p:txBody>
          <a:bodyPr wrap="square" lIns="45720" rIns="45720"/>
          <a:lstStyle/>
          <a:p>
            <a:pPr marL="256032" indent="-237744">
              <a:lnSpc>
                <a:spcPct val="108000"/>
              </a:lnSpc>
              <a:spcAft>
                <a:spcPts val="400"/>
              </a:spcAft>
              <a:buClr>
                <a:srgbClr val="0F766E"/>
              </a:buClr>
              <a:buFont typeface="Arial"/>
              <a:buChar char="•"/>
            </a:pPr>
            <a:r>
              <a:rPr sz="1800" b="0" i="0">
                <a:solidFill>
                  <a:srgbClr val="222222"/>
                </a:solidFill>
                <a:latin typeface="Segoe UI"/>
                <a:ea typeface="Segoe UI"/>
                <a:cs typeface="Segoe UI"/>
              </a:rPr>
              <a:t>41.7 %  _PyEval_EvalFrameDefault</a:t>
            </a:r>
          </a:p>
          <a:p>
            <a:pPr marL="256032" indent="-237744">
              <a:lnSpc>
                <a:spcPct val="108000"/>
              </a:lnSpc>
              <a:spcAft>
                <a:spcPts val="400"/>
              </a:spcAft>
              <a:buClr>
                <a:srgbClr val="0F766E"/>
              </a:buClr>
              <a:buFont typeface="Arial"/>
              <a:buChar char="•"/>
            </a:pPr>
            <a:r>
              <a:rPr sz="1800" b="0" i="0">
                <a:solidFill>
                  <a:srgbClr val="222222"/>
                </a:solidFill>
                <a:latin typeface="Segoe UI"/>
                <a:ea typeface="Segoe UI"/>
                <a:cs typeface="Segoe UI"/>
              </a:rPr>
              <a:t>5.3 %  binary_op1</a:t>
            </a:r>
          </a:p>
          <a:p>
            <a:pPr marL="256032" indent="-237744">
              <a:lnSpc>
                <a:spcPct val="108000"/>
              </a:lnSpc>
              <a:spcAft>
                <a:spcPts val="400"/>
              </a:spcAft>
              <a:buClr>
                <a:srgbClr val="0F766E"/>
              </a:buClr>
              <a:buFont typeface="Arial"/>
              <a:buChar char="•"/>
            </a:pPr>
            <a:r>
              <a:rPr sz="1800" b="0" i="0">
                <a:solidFill>
                  <a:srgbClr val="222222"/>
                </a:solidFill>
                <a:latin typeface="Segoe UI"/>
                <a:ea typeface="Segoe UI"/>
                <a:cs typeface="Segoe UI"/>
              </a:rPr>
              <a:t>3.6 %  PyFloat_FromDouble</a:t>
            </a:r>
          </a:p>
        </p:txBody>
      </p:sp>
      <p:sp>
        <p:nvSpPr>
          <p:cNvPr id="11" name="BODY"/>
          <p:cNvSpPr txBox="1"/>
          <p:nvPr/>
        </p:nvSpPr>
        <p:spPr>
          <a:xfrm>
            <a:off x="6233007" y="1280160"/>
            <a:ext cx="5410047" cy="411480"/>
          </a:xfrm>
          <a:prstGeom prst="rect">
            <a:avLst/>
          </a:prstGeom>
          <a:noFill/>
        </p:spPr>
        <p:txBody>
          <a:bodyPr wrap="square" lIns="45720" rIns="45720" anchor="t"/>
          <a:lstStyle/>
          <a:p>
            <a:pPr algn="l">
              <a:lnSpc>
                <a:spcPct val="105000"/>
              </a:lnSpc>
            </a:pPr>
            <a:r>
              <a:rPr sz="1800" b="1" i="0">
                <a:solidFill>
                  <a:srgbClr val="222222"/>
                </a:solidFill>
                <a:latin typeface="Segoe UI"/>
                <a:ea typeface="Segoe UI"/>
                <a:cs typeface="Segoe UI"/>
              </a:rPr>
              <a:t>After</a:t>
            </a:r>
            <a:r>
              <a:rPr sz="1800" b="0" i="0">
                <a:solidFill>
                  <a:srgbClr val="222222"/>
                </a:solidFill>
                <a:latin typeface="Segoe UI"/>
                <a:ea typeface="Segoe UI"/>
                <a:cs typeface="Segoe UI"/>
              </a:rPr>
              <a:t>: unrolled</a:t>
            </a:r>
          </a:p>
        </p:txBody>
      </p:sp>
      <p:pic>
        <p:nvPicPr>
          <p:cNvPr id="12" name="Picture 11" descr="fg_nbody_unroll_half.png"/>
          <p:cNvPicPr>
            <a:picLocks noChangeAspect="1"/>
          </p:cNvPicPr>
          <p:nvPr/>
        </p:nvPicPr>
        <p:blipFill>
          <a:blip r:embed="rId3"/>
          <a:stretch>
            <a:fillRect/>
          </a:stretch>
        </p:blipFill>
        <p:spPr>
          <a:xfrm>
            <a:off x="6233007" y="1962891"/>
            <a:ext cx="5410047" cy="2200697"/>
          </a:xfrm>
          <a:prstGeom prst="rect">
            <a:avLst/>
          </a:prstGeom>
          <a:ln w="12700">
            <a:solidFill>
              <a:srgbClr val="D9DDE3"/>
            </a:solidFill>
          </a:ln>
        </p:spPr>
      </p:pic>
      <p:sp>
        <p:nvSpPr>
          <p:cNvPr id="13" name="Rectangle 12"/>
          <p:cNvSpPr/>
          <p:nvPr/>
        </p:nvSpPr>
        <p:spPr>
          <a:xfrm>
            <a:off x="6233007" y="4346468"/>
            <a:ext cx="54864" cy="1280160"/>
          </a:xfrm>
          <a:prstGeom prst="rect">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ODY"/>
          <p:cNvSpPr txBox="1"/>
          <p:nvPr/>
        </p:nvSpPr>
        <p:spPr>
          <a:xfrm>
            <a:off x="6370167" y="4300748"/>
            <a:ext cx="5227167" cy="1463040"/>
          </a:xfrm>
          <a:prstGeom prst="rect">
            <a:avLst/>
          </a:prstGeom>
          <a:noFill/>
        </p:spPr>
        <p:txBody>
          <a:bodyPr wrap="square" lIns="45720" rIns="45720"/>
          <a:lstStyle/>
          <a:p>
            <a:pPr marL="256032" indent="-237744">
              <a:lnSpc>
                <a:spcPct val="108000"/>
              </a:lnSpc>
              <a:spcAft>
                <a:spcPts val="400"/>
              </a:spcAft>
              <a:buClr>
                <a:srgbClr val="0F766E"/>
              </a:buClr>
              <a:buFont typeface="Arial"/>
              <a:buChar char="•"/>
            </a:pPr>
            <a:r>
              <a:rPr sz="1800" b="0" i="0">
                <a:solidFill>
                  <a:srgbClr val="222222"/>
                </a:solidFill>
                <a:latin typeface="Segoe UI"/>
                <a:ea typeface="Segoe UI"/>
                <a:cs typeface="Segoe UI"/>
              </a:rPr>
              <a:t>36.2 %  _PyEval_EvalFrameDefault</a:t>
            </a:r>
          </a:p>
          <a:p>
            <a:pPr marL="256032" indent="-237744">
              <a:lnSpc>
                <a:spcPct val="108000"/>
              </a:lnSpc>
              <a:spcAft>
                <a:spcPts val="400"/>
              </a:spcAft>
              <a:buClr>
                <a:srgbClr val="0F766E"/>
              </a:buClr>
              <a:buFont typeface="Arial"/>
              <a:buChar char="•"/>
            </a:pPr>
            <a:r>
              <a:rPr sz="1800" b="0" i="0">
                <a:solidFill>
                  <a:srgbClr val="222222"/>
                </a:solidFill>
                <a:latin typeface="Segoe UI"/>
                <a:ea typeface="Segoe UI"/>
                <a:cs typeface="Segoe UI"/>
              </a:rPr>
              <a:t>5.7 %  binary_op1</a:t>
            </a:r>
          </a:p>
          <a:p>
            <a:pPr marL="256032" indent="-237744">
              <a:lnSpc>
                <a:spcPct val="108000"/>
              </a:lnSpc>
              <a:spcAft>
                <a:spcPts val="400"/>
              </a:spcAft>
              <a:buClr>
                <a:srgbClr val="0F766E"/>
              </a:buClr>
              <a:buFont typeface="Arial"/>
              <a:buChar char="•"/>
            </a:pPr>
            <a:r>
              <a:rPr sz="1800" b="0" i="0">
                <a:solidFill>
                  <a:srgbClr val="222222"/>
                </a:solidFill>
                <a:latin typeface="Segoe UI"/>
                <a:ea typeface="Segoe UI"/>
                <a:cs typeface="Segoe UI"/>
              </a:rPr>
              <a:t>3.8 %  PyFloat_FromDouble</a:t>
            </a:r>
          </a:p>
        </p:txBody>
      </p:sp>
      <p:sp>
        <p:nvSpPr>
          <p:cNvPr id="15" name="BODY"/>
          <p:cNvSpPr txBox="1"/>
          <p:nvPr/>
        </p:nvSpPr>
        <p:spPr>
          <a:xfrm>
            <a:off x="548640" y="5806440"/>
            <a:ext cx="11094415" cy="411480"/>
          </a:xfrm>
          <a:prstGeom prst="rect">
            <a:avLst/>
          </a:prstGeom>
          <a:noFill/>
        </p:spPr>
        <p:txBody>
          <a:bodyPr wrap="square" lIns="45720" rIns="45720" anchor="t"/>
          <a:lstStyle/>
          <a:p>
            <a:pPr algn="l">
              <a:lnSpc>
                <a:spcPct val="105000"/>
              </a:lnSpc>
            </a:pPr>
            <a:r>
              <a:rPr sz="1800" b="0" i="0">
                <a:solidFill>
                  <a:srgbClr val="6B7280"/>
                </a:solidFill>
                <a:latin typeface="Segoe UI"/>
                <a:ea typeface="Segoe UI"/>
                <a:cs typeface="Segoe UI"/>
              </a:rPr>
              <a:t>Same shape: unrolling cut the amount of work (~45K → ~42K samples), not the kind of work.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Hardware proposal: Gravity Force Pipeline (GFP)</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B · nbody</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26</a:t>
            </a:r>
          </a:p>
        </p:txBody>
      </p:sp>
      <p:pic>
        <p:nvPicPr>
          <p:cNvPr id="7" name="Picture 6" descr="block_nbody.png"/>
          <p:cNvPicPr>
            <a:picLocks noChangeAspect="1"/>
          </p:cNvPicPr>
          <p:nvPr/>
        </p:nvPicPr>
        <p:blipFill>
          <a:blip r:embed="rId2"/>
          <a:stretch>
            <a:fillRect/>
          </a:stretch>
        </p:blipFill>
        <p:spPr>
          <a:xfrm>
            <a:off x="548640" y="1375085"/>
            <a:ext cx="8351215" cy="4793629"/>
          </a:xfrm>
          <a:prstGeom prst="rect">
            <a:avLst/>
          </a:prstGeom>
          <a:ln w="12700">
            <a:solidFill>
              <a:srgbClr val="D9DDE3"/>
            </a:solidFill>
          </a:ln>
        </p:spPr>
      </p:pic>
      <p:sp>
        <p:nvSpPr>
          <p:cNvPr id="8" name="Rounded Rectangle 7"/>
          <p:cNvSpPr/>
          <p:nvPr/>
        </p:nvSpPr>
        <p:spPr>
          <a:xfrm>
            <a:off x="9128455" y="1375085"/>
            <a:ext cx="2514600" cy="1506436"/>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128455" y="1484813"/>
            <a:ext cx="54864" cy="12869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STAT"/>
          <p:cNvSpPr txBox="1"/>
          <p:nvPr/>
        </p:nvSpPr>
        <p:spPr>
          <a:xfrm>
            <a:off x="9311335" y="1484813"/>
            <a:ext cx="2240280" cy="548640"/>
          </a:xfrm>
          <a:prstGeom prst="rect">
            <a:avLst/>
          </a:prstGeom>
          <a:noFill/>
        </p:spPr>
        <p:txBody>
          <a:bodyPr wrap="square" lIns="45720" rIns="45720"/>
          <a:lstStyle/>
          <a:p>
            <a:r>
              <a:rPr sz="2600" b="0" i="0">
                <a:solidFill>
                  <a:srgbClr val="1F3A5F"/>
                </a:solidFill>
                <a:latin typeface="Segoe UI Semibold"/>
                <a:ea typeface="Segoe UI Semibold"/>
                <a:cs typeface="Segoe UI Semibold"/>
              </a:rPr>
              <a:t>10 lanes</a:t>
            </a:r>
          </a:p>
        </p:txBody>
      </p:sp>
      <p:sp>
        <p:nvSpPr>
          <p:cNvPr id="11" name="BODY"/>
          <p:cNvSpPr txBox="1"/>
          <p:nvPr/>
        </p:nvSpPr>
        <p:spPr>
          <a:xfrm>
            <a:off x="9311335" y="2033453"/>
            <a:ext cx="2240280" cy="774916"/>
          </a:xfrm>
          <a:prstGeom prst="rect">
            <a:avLst/>
          </a:prstGeom>
          <a:noFill/>
        </p:spPr>
        <p:txBody>
          <a:bodyPr wrap="square" lIns="45720" rIns="45720" anchor="t"/>
          <a:lstStyle/>
          <a:p>
            <a:pPr algn="l">
              <a:lnSpc>
                <a:spcPct val="105000"/>
              </a:lnSpc>
            </a:pPr>
            <a:r>
              <a:rPr sz="1800" b="0" i="0">
                <a:solidFill>
                  <a:srgbClr val="222222"/>
                </a:solidFill>
                <a:latin typeface="Segoe UI"/>
                <a:ea typeface="Segoe UI"/>
                <a:cs typeface="Segoe UI"/>
              </a:rPr>
              <a:t>one per body pair, all in parallel</a:t>
            </a:r>
          </a:p>
        </p:txBody>
      </p:sp>
      <p:sp>
        <p:nvSpPr>
          <p:cNvPr id="12" name="Rounded Rectangle 11"/>
          <p:cNvSpPr/>
          <p:nvPr/>
        </p:nvSpPr>
        <p:spPr>
          <a:xfrm>
            <a:off x="9128455" y="3018681"/>
            <a:ext cx="2514600" cy="1506436"/>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128455" y="3128409"/>
            <a:ext cx="54864" cy="12869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TAT"/>
          <p:cNvSpPr txBox="1"/>
          <p:nvPr/>
        </p:nvSpPr>
        <p:spPr>
          <a:xfrm>
            <a:off x="9311335" y="3128409"/>
            <a:ext cx="2240280" cy="548640"/>
          </a:xfrm>
          <a:prstGeom prst="rect">
            <a:avLst/>
          </a:prstGeom>
          <a:noFill/>
        </p:spPr>
        <p:txBody>
          <a:bodyPr wrap="square" lIns="45720" rIns="45720"/>
          <a:lstStyle/>
          <a:p>
            <a:r>
              <a:rPr sz="2600" b="0" i="0">
                <a:solidFill>
                  <a:srgbClr val="1F3A5F"/>
                </a:solidFill>
                <a:latin typeface="Segoe UI Semibold"/>
                <a:ea typeface="Segoe UI Semibold"/>
                <a:cs typeface="Segoe UI Semibold"/>
              </a:rPr>
              <a:t>35 doubles</a:t>
            </a:r>
          </a:p>
        </p:txBody>
      </p:sp>
      <p:sp>
        <p:nvSpPr>
          <p:cNvPr id="15" name="BODY"/>
          <p:cNvSpPr txBox="1"/>
          <p:nvPr/>
        </p:nvSpPr>
        <p:spPr>
          <a:xfrm>
            <a:off x="9311335" y="3677049"/>
            <a:ext cx="2240280" cy="774916"/>
          </a:xfrm>
          <a:prstGeom prst="rect">
            <a:avLst/>
          </a:prstGeom>
          <a:noFill/>
        </p:spPr>
        <p:txBody>
          <a:bodyPr wrap="square" lIns="45720" rIns="45720" anchor="t"/>
          <a:lstStyle/>
          <a:p>
            <a:pPr algn="l">
              <a:lnSpc>
                <a:spcPct val="105000"/>
              </a:lnSpc>
            </a:pPr>
            <a:r>
              <a:rPr sz="1800" b="0" i="0">
                <a:solidFill>
                  <a:srgbClr val="222222"/>
                </a:solidFill>
                <a:latin typeface="Segoe UI"/>
                <a:ea typeface="Segoe UI"/>
                <a:cs typeface="Segoe UI"/>
              </a:rPr>
              <a:t>all state on-chip, ~280 bytes</a:t>
            </a:r>
          </a:p>
        </p:txBody>
      </p:sp>
      <p:sp>
        <p:nvSpPr>
          <p:cNvPr id="16" name="Rounded Rectangle 15"/>
          <p:cNvSpPr/>
          <p:nvPr/>
        </p:nvSpPr>
        <p:spPr>
          <a:xfrm>
            <a:off x="9128455" y="4662278"/>
            <a:ext cx="2514600" cy="1506436"/>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9128455" y="4772006"/>
            <a:ext cx="54864" cy="12869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TAT"/>
          <p:cNvSpPr txBox="1"/>
          <p:nvPr/>
        </p:nvSpPr>
        <p:spPr>
          <a:xfrm>
            <a:off x="9311335" y="4772006"/>
            <a:ext cx="2240280" cy="548640"/>
          </a:xfrm>
          <a:prstGeom prst="rect">
            <a:avLst/>
          </a:prstGeom>
          <a:noFill/>
        </p:spPr>
        <p:txBody>
          <a:bodyPr wrap="square" lIns="45720" rIns="45720"/>
          <a:lstStyle/>
          <a:p>
            <a:r>
              <a:rPr sz="2600" b="0" i="0">
                <a:solidFill>
                  <a:srgbClr val="1F3A5F"/>
                </a:solidFill>
                <a:latin typeface="Segoe UI Semibold"/>
                <a:ea typeface="Segoe UI Semibold"/>
                <a:cs typeface="Segoe UI Semibold"/>
              </a:rPr>
              <a:t>1 start</a:t>
            </a:r>
          </a:p>
        </p:txBody>
      </p:sp>
      <p:sp>
        <p:nvSpPr>
          <p:cNvPr id="19" name="BODY"/>
          <p:cNvSpPr txBox="1"/>
          <p:nvPr/>
        </p:nvSpPr>
        <p:spPr>
          <a:xfrm>
            <a:off x="9311335" y="5320646"/>
            <a:ext cx="2240280" cy="774916"/>
          </a:xfrm>
          <a:prstGeom prst="rect">
            <a:avLst/>
          </a:prstGeom>
          <a:noFill/>
        </p:spPr>
        <p:txBody>
          <a:bodyPr wrap="square" lIns="45720" rIns="45720" anchor="t"/>
          <a:lstStyle/>
          <a:p>
            <a:pPr algn="l">
              <a:lnSpc>
                <a:spcPct val="105000"/>
              </a:lnSpc>
            </a:pPr>
            <a:r>
              <a:rPr sz="1800" b="0" i="0">
                <a:solidFill>
                  <a:srgbClr val="222222"/>
                </a:solidFill>
                <a:latin typeface="Segoe UI"/>
                <a:ea typeface="Segoe UI"/>
                <a:cs typeface="Segoe UI"/>
              </a:rPr>
              <a:t>per advance() call; all n steps run on-chip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11094415" cy="658368"/>
          </a:xfrm>
          <a:prstGeom prst="rect">
            <a:avLst/>
          </a:prstGeom>
          <a:noFill/>
        </p:spPr>
        <p:txBody>
          <a:bodyPr wrap="none" lIns="45720" rIns="45720" anchor="b"/>
          <a:lstStyle/>
          <a:p>
            <a:r>
              <a:rPr sz="3000" b="0" i="0">
                <a:solidFill>
                  <a:srgbClr val="1F3A5F"/>
                </a:solidFill>
                <a:latin typeface="Segoe UI Semibold"/>
                <a:ea typeface="Segoe UI Semibold"/>
                <a:cs typeface="Segoe UI Semibold"/>
              </a:rPr>
              <a:t>Hardware proposal: benefit and trade-offs</a:t>
            </a:r>
          </a:p>
        </p:txBody>
      </p:sp>
      <p:sp>
        <p:nvSpPr>
          <p:cNvPr id="3" name="Rectangle 2"/>
          <p:cNvSpPr/>
          <p:nvPr/>
        </p:nvSpPr>
        <p:spPr>
          <a:xfrm>
            <a:off x="548640" y="1042415"/>
            <a:ext cx="11094415" cy="10972"/>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02412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Part B · nbody</a:t>
            </a:r>
          </a:p>
        </p:txBody>
      </p:sp>
      <p:sp>
        <p:nvSpPr>
          <p:cNvPr id="6"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27</a:t>
            </a:r>
          </a:p>
        </p:txBody>
      </p:sp>
      <p:sp>
        <p:nvSpPr>
          <p:cNvPr id="7" name="Rounded Rectangle 6"/>
          <p:cNvSpPr/>
          <p:nvPr/>
        </p:nvSpPr>
        <p:spPr>
          <a:xfrm>
            <a:off x="548640" y="1325880"/>
            <a:ext cx="5432907" cy="233172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435608"/>
            <a:ext cx="54864" cy="2112263"/>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ODY"/>
          <p:cNvSpPr txBox="1"/>
          <p:nvPr/>
        </p:nvSpPr>
        <p:spPr>
          <a:xfrm>
            <a:off x="777240" y="1453896"/>
            <a:ext cx="5067147" cy="411480"/>
          </a:xfrm>
          <a:prstGeom prst="rect">
            <a:avLst/>
          </a:prstGeom>
          <a:noFill/>
        </p:spPr>
        <p:txBody>
          <a:bodyPr wrap="square" lIns="45720" rIns="45720" anchor="t"/>
          <a:lstStyle/>
          <a:p>
            <a:pPr algn="l">
              <a:lnSpc>
                <a:spcPct val="105000"/>
              </a:lnSpc>
            </a:pPr>
            <a:r>
              <a:rPr sz="1800" b="1" i="0">
                <a:solidFill>
                  <a:srgbClr val="0F766E"/>
                </a:solidFill>
                <a:latin typeface="Segoe UI"/>
                <a:ea typeface="Segoe UI"/>
                <a:cs typeface="Segoe UI"/>
              </a:rPr>
              <a:t>Performance</a:t>
            </a:r>
          </a:p>
        </p:txBody>
      </p:sp>
      <p:sp>
        <p:nvSpPr>
          <p:cNvPr id="10" name="BODY"/>
          <p:cNvSpPr txBox="1"/>
          <p:nvPr/>
        </p:nvSpPr>
        <p:spPr>
          <a:xfrm>
            <a:off x="731520" y="1892808"/>
            <a:ext cx="5112867" cy="1673351"/>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No interpreter and no boxing: dx = x1 - x2 is a subtractor, not a heap object</a:t>
            </a:r>
          </a:p>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~12-cycle critical path per timestep (an estimate, not measured)</a:t>
            </a:r>
          </a:p>
        </p:txBody>
      </p:sp>
      <p:sp>
        <p:nvSpPr>
          <p:cNvPr id="11" name="Rounded Rectangle 10"/>
          <p:cNvSpPr/>
          <p:nvPr/>
        </p:nvSpPr>
        <p:spPr>
          <a:xfrm>
            <a:off x="6210147" y="1325880"/>
            <a:ext cx="5432907" cy="233172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0147" y="1435608"/>
            <a:ext cx="54864" cy="2112263"/>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ODY"/>
          <p:cNvSpPr txBox="1"/>
          <p:nvPr/>
        </p:nvSpPr>
        <p:spPr>
          <a:xfrm>
            <a:off x="6438747" y="1453896"/>
            <a:ext cx="5067147" cy="411480"/>
          </a:xfrm>
          <a:prstGeom prst="rect">
            <a:avLst/>
          </a:prstGeom>
          <a:noFill/>
        </p:spPr>
        <p:txBody>
          <a:bodyPr wrap="square" lIns="45720" rIns="45720" anchor="t"/>
          <a:lstStyle/>
          <a:p>
            <a:pPr algn="l">
              <a:lnSpc>
                <a:spcPct val="105000"/>
              </a:lnSpc>
            </a:pPr>
            <a:r>
              <a:rPr sz="1800" b="1" i="0">
                <a:solidFill>
                  <a:srgbClr val="1F3A5F"/>
                </a:solidFill>
                <a:latin typeface="Segoe UI"/>
                <a:ea typeface="Segoe UI"/>
                <a:cs typeface="Segoe UI"/>
              </a:rPr>
              <a:t>Area</a:t>
            </a:r>
          </a:p>
        </p:txBody>
      </p:sp>
      <p:sp>
        <p:nvSpPr>
          <p:cNvPr id="14" name="BODY"/>
          <p:cNvSpPr txBox="1"/>
          <p:nvPr/>
        </p:nvSpPr>
        <p:spPr>
          <a:xfrm>
            <a:off x="6393027" y="1892808"/>
            <a:ext cx="5112867" cy="1673351"/>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10 lanes = 10× one lane's FP units (rsqrt³ is the largest)</a:t>
            </a:r>
          </a:p>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Lanes grow as O(N²): large N needs shared, time-multiplexed lanes</a:t>
            </a:r>
          </a:p>
        </p:txBody>
      </p:sp>
      <p:sp>
        <p:nvSpPr>
          <p:cNvPr id="15" name="Rounded Rectangle 14"/>
          <p:cNvSpPr/>
          <p:nvPr/>
        </p:nvSpPr>
        <p:spPr>
          <a:xfrm>
            <a:off x="548640" y="3840480"/>
            <a:ext cx="5432907" cy="233172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48640" y="3950208"/>
            <a:ext cx="54864" cy="2112263"/>
          </a:xfrm>
          <a:prstGeom prst="rect">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ODY"/>
          <p:cNvSpPr txBox="1"/>
          <p:nvPr/>
        </p:nvSpPr>
        <p:spPr>
          <a:xfrm>
            <a:off x="777240" y="3968496"/>
            <a:ext cx="5067147" cy="411480"/>
          </a:xfrm>
          <a:prstGeom prst="rect">
            <a:avLst/>
          </a:prstGeom>
          <a:noFill/>
        </p:spPr>
        <p:txBody>
          <a:bodyPr wrap="square" lIns="45720" rIns="45720" anchor="t"/>
          <a:lstStyle/>
          <a:p>
            <a:pPr algn="l">
              <a:lnSpc>
                <a:spcPct val="105000"/>
              </a:lnSpc>
            </a:pPr>
            <a:r>
              <a:rPr sz="1800" b="1" i="0">
                <a:solidFill>
                  <a:srgbClr val="1A7F37"/>
                </a:solidFill>
                <a:latin typeface="Segoe UI"/>
                <a:ea typeface="Segoe UI"/>
                <a:cs typeface="Segoe UI"/>
              </a:rPr>
              <a:t>Power</a:t>
            </a:r>
          </a:p>
        </p:txBody>
      </p:sp>
      <p:sp>
        <p:nvSpPr>
          <p:cNvPr id="18" name="BODY"/>
          <p:cNvSpPr txBox="1"/>
          <p:nvPr/>
        </p:nvSpPr>
        <p:spPr>
          <a:xfrm>
            <a:off x="731520" y="4407408"/>
            <a:ext cx="5112867" cy="1673351"/>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Higher instantaneous power: 10 FP pipelines every cycle</a:t>
            </a:r>
          </a:p>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Much shorter active time, with no fetch or dispatch overhead</a:t>
            </a:r>
          </a:p>
        </p:txBody>
      </p:sp>
      <p:sp>
        <p:nvSpPr>
          <p:cNvPr id="19" name="Rounded Rectangle 18"/>
          <p:cNvSpPr/>
          <p:nvPr/>
        </p:nvSpPr>
        <p:spPr>
          <a:xfrm>
            <a:off x="6210147" y="3840480"/>
            <a:ext cx="5432907" cy="233172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10147" y="3950208"/>
            <a:ext cx="54864" cy="2112263"/>
          </a:xfrm>
          <a:prstGeom prst="rect">
            <a:avLst/>
          </a:prstGeom>
          <a:solidFill>
            <a:srgbClr val="B45A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ODY"/>
          <p:cNvSpPr txBox="1"/>
          <p:nvPr/>
        </p:nvSpPr>
        <p:spPr>
          <a:xfrm>
            <a:off x="6438747" y="3968496"/>
            <a:ext cx="5067147" cy="411480"/>
          </a:xfrm>
          <a:prstGeom prst="rect">
            <a:avLst/>
          </a:prstGeom>
          <a:noFill/>
        </p:spPr>
        <p:txBody>
          <a:bodyPr wrap="square" lIns="45720" rIns="45720" anchor="t"/>
          <a:lstStyle/>
          <a:p>
            <a:pPr algn="l">
              <a:lnSpc>
                <a:spcPct val="105000"/>
              </a:lnSpc>
            </a:pPr>
            <a:r>
              <a:rPr sz="1800" b="1" i="0">
                <a:solidFill>
                  <a:srgbClr val="B45A09"/>
                </a:solidFill>
                <a:latin typeface="Segoe UI"/>
                <a:ea typeface="Segoe UI"/>
                <a:cs typeface="Segoe UI"/>
              </a:rPr>
              <a:t>Scope and limits</a:t>
            </a:r>
          </a:p>
        </p:txBody>
      </p:sp>
      <p:sp>
        <p:nvSpPr>
          <p:cNvPr id="22" name="BODY"/>
          <p:cNvSpPr txBox="1"/>
          <p:nvPr/>
        </p:nvSpPr>
        <p:spPr>
          <a:xfrm>
            <a:off x="6393027" y="4407408"/>
            <a:ext cx="5112867" cy="1673351"/>
          </a:xfrm>
          <a:prstGeom prst="rect">
            <a:avLst/>
          </a:prstGeom>
          <a:noFill/>
        </p:spPr>
        <p:txBody>
          <a:bodyPr wrap="square" lIns="45720" rIns="45720"/>
          <a:lstStyle/>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report_energy() stays in software</a:t>
            </a:r>
          </a:p>
          <a:p>
            <a:pPr marL="256032" indent="-237744">
              <a:lnSpc>
                <a:spcPct val="108000"/>
              </a:lnSpc>
              <a:spcAft>
                <a:spcPts val="600"/>
              </a:spcAft>
              <a:buClr>
                <a:srgbClr val="0F766E"/>
              </a:buClr>
              <a:buFont typeface="Arial"/>
              <a:buChar char="•"/>
            </a:pPr>
            <a:r>
              <a:rPr sz="1800" b="0" i="0">
                <a:solidFill>
                  <a:srgbClr val="222222"/>
                </a:solidFill>
                <a:latin typeface="Segoe UI"/>
                <a:ea typeface="Segoe UI"/>
                <a:cs typeface="Segoe UI"/>
              </a:rPr>
              <a:t>Not tapeout-ready: no FP exception handling, reset sync or CDC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548640" y="6400800"/>
            <a:ext cx="5486400" cy="274320"/>
          </a:xfrm>
          <a:prstGeom prst="rect">
            <a:avLst/>
          </a:prstGeom>
          <a:noFill/>
        </p:spPr>
        <p:txBody>
          <a:bodyPr wrap="square" lIns="45720" rIns="45720"/>
          <a:lstStyle/>
          <a:p>
            <a:r>
              <a:rPr sz="1100" b="0" i="0">
                <a:solidFill>
                  <a:srgbClr val="6B7280"/>
                </a:solidFill>
                <a:latin typeface="Segoe UI"/>
                <a:ea typeface="Segoe UI"/>
                <a:cs typeface="Segoe UI"/>
              </a:rPr>
              <a:t>Thank you</a:t>
            </a:r>
          </a:p>
        </p:txBody>
      </p:sp>
      <p:sp>
        <p:nvSpPr>
          <p:cNvPr id="3" name="FOOTER"/>
          <p:cNvSpPr txBox="1"/>
          <p:nvPr/>
        </p:nvSpPr>
        <p:spPr>
          <a:xfrm>
            <a:off x="10728655" y="6400800"/>
            <a:ext cx="914400" cy="274320"/>
          </a:xfrm>
          <a:prstGeom prst="rect">
            <a:avLst/>
          </a:prstGeom>
          <a:noFill/>
        </p:spPr>
        <p:txBody>
          <a:bodyPr wrap="square" lIns="45720" rIns="45720"/>
          <a:lstStyle/>
          <a:p>
            <a:pPr algn="r"/>
            <a:r>
              <a:rPr sz="1100" b="0" i="0">
                <a:solidFill>
                  <a:srgbClr val="6B7280"/>
                </a:solidFill>
                <a:latin typeface="Segoe UI"/>
                <a:ea typeface="Segoe UI"/>
                <a:cs typeface="Segoe UI"/>
              </a:rPr>
              <a:t>28</a:t>
            </a:r>
          </a:p>
        </p:txBody>
      </p:sp>
      <p:sp>
        <p:nvSpPr>
          <p:cNvPr id="4" name="Rectangle 3"/>
          <p:cNvSpPr/>
          <p:nvPr/>
        </p:nvSpPr>
        <p:spPr>
          <a:xfrm>
            <a:off x="0" y="0"/>
            <a:ext cx="292608"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292608" y="0"/>
            <a:ext cx="5486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ITLE"/>
          <p:cNvSpPr txBox="1"/>
          <p:nvPr/>
        </p:nvSpPr>
        <p:spPr>
          <a:xfrm>
            <a:off x="1097280" y="822960"/>
            <a:ext cx="9875520" cy="731520"/>
          </a:xfrm>
          <a:prstGeom prst="rect">
            <a:avLst/>
          </a:prstGeom>
          <a:noFill/>
        </p:spPr>
        <p:txBody>
          <a:bodyPr wrap="square" lIns="45720" rIns="45720" anchor="b"/>
          <a:lstStyle/>
          <a:p>
            <a:r>
              <a:rPr sz="3000" b="0" i="0">
                <a:solidFill>
                  <a:srgbClr val="1F3A5F"/>
                </a:solidFill>
                <a:latin typeface="Segoe UI Semibold"/>
                <a:ea typeface="Segoe UI Semibold"/>
                <a:cs typeface="Segoe UI Semibold"/>
              </a:rPr>
              <a:t>Thank you</a:t>
            </a:r>
          </a:p>
        </p:txBody>
      </p:sp>
      <p:sp>
        <p:nvSpPr>
          <p:cNvPr id="7" name="Rectangle 6"/>
          <p:cNvSpPr/>
          <p:nvPr/>
        </p:nvSpPr>
        <p:spPr>
          <a:xfrm>
            <a:off x="1143000" y="1664208"/>
            <a:ext cx="10058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1097280" y="1828800"/>
            <a:ext cx="9601200" cy="457200"/>
          </a:xfrm>
          <a:prstGeom prst="rect">
            <a:avLst/>
          </a:prstGeom>
          <a:noFill/>
        </p:spPr>
        <p:txBody>
          <a:bodyPr wrap="square" lIns="45720" rIns="45720" anchor="t"/>
          <a:lstStyle/>
          <a:p>
            <a:pPr algn="l">
              <a:lnSpc>
                <a:spcPct val="105000"/>
              </a:lnSpc>
            </a:pPr>
            <a:r>
              <a:rPr sz="1800" b="0" i="0">
                <a:solidFill>
                  <a:srgbClr val="6B7280"/>
                </a:solidFill>
                <a:latin typeface="Segoe UI"/>
                <a:ea typeface="Segoe UI"/>
                <a:cs typeface="Segoe UI"/>
              </a:rPr>
              <a:t>Chris Shakkour · Razan Jiryis</a:t>
            </a:r>
          </a:p>
        </p:txBody>
      </p:sp>
      <p:sp>
        <p:nvSpPr>
          <p:cNvPr id="9" name="BODY"/>
          <p:cNvSpPr txBox="1"/>
          <p:nvPr/>
        </p:nvSpPr>
        <p:spPr>
          <a:xfrm>
            <a:off x="1097280" y="2606040"/>
            <a:ext cx="9601200" cy="411480"/>
          </a:xfrm>
          <a:prstGeom prst="rect">
            <a:avLst/>
          </a:prstGeom>
          <a:noFill/>
        </p:spPr>
        <p:txBody>
          <a:bodyPr wrap="square" lIns="45720" rIns="45720" anchor="t"/>
          <a:lstStyle/>
          <a:p>
            <a:pPr algn="l">
              <a:lnSpc>
                <a:spcPct val="105000"/>
              </a:lnSpc>
            </a:pPr>
            <a:r>
              <a:rPr sz="1800" b="1" i="0">
                <a:solidFill>
                  <a:srgbClr val="222222"/>
                </a:solidFill>
                <a:latin typeface="Segoe UI"/>
                <a:ea typeface="Segoe UI"/>
                <a:cs typeface="Segoe UI"/>
              </a:rPr>
              <a:t>Resources</a:t>
            </a:r>
          </a:p>
        </p:txBody>
      </p:sp>
      <p:sp>
        <p:nvSpPr>
          <p:cNvPr id="10" name="BODY"/>
          <p:cNvSpPr txBox="1"/>
          <p:nvPr/>
        </p:nvSpPr>
        <p:spPr>
          <a:xfrm>
            <a:off x="1097280" y="3063240"/>
            <a:ext cx="10241280" cy="3017520"/>
          </a:xfrm>
          <a:prstGeom prst="rect">
            <a:avLst/>
          </a:prstGeom>
          <a:noFill/>
        </p:spPr>
        <p:txBody>
          <a:bodyPr wrap="square" lIns="45720" rIns="45720"/>
          <a:lstStyle/>
          <a:p>
            <a:pPr marL="256032" indent="-237744">
              <a:lnSpc>
                <a:spcPct val="108000"/>
              </a:lnSpc>
              <a:spcAft>
                <a:spcPts val="1000"/>
              </a:spcAft>
              <a:buClr>
                <a:srgbClr val="0F766E"/>
              </a:buClr>
              <a:buFont typeface="Arial"/>
              <a:buChar char="•"/>
            </a:pPr>
            <a:r>
              <a:rPr sz="1800" b="0" i="0">
                <a:solidFill>
                  <a:srgbClr val="222222"/>
                </a:solidFill>
                <a:latin typeface="Segoe UI"/>
                <a:ea typeface="Segoe UI"/>
                <a:cs typeface="Segoe UI"/>
              </a:rPr>
              <a:t>Project repository: </a:t>
            </a:r>
            <a:r>
              <a:rPr sz="1800" b="0" i="0" u="sng">
                <a:solidFill>
                  <a:srgbClr val="0F766E"/>
                </a:solidFill>
                <a:latin typeface="Segoe UI"/>
                <a:ea typeface="Segoe UI"/>
                <a:cs typeface="Segoe UI"/>
                <a:hlinkClick r:id="rId2"/>
              </a:rPr>
              <a:t>github.com/ChrisShakkour/HW-SW-project-00460882</a:t>
            </a:r>
          </a:p>
          <a:p>
            <a:pPr marL="256032" indent="-237744">
              <a:lnSpc>
                <a:spcPct val="108000"/>
              </a:lnSpc>
              <a:spcAft>
                <a:spcPts val="1000"/>
              </a:spcAft>
              <a:buClr>
                <a:srgbClr val="0F766E"/>
              </a:buClr>
              <a:buFont typeface="Arial"/>
              <a:buChar char="•"/>
            </a:pPr>
            <a:r>
              <a:rPr sz="1800" b="0" i="0">
                <a:solidFill>
                  <a:srgbClr val="222222"/>
                </a:solidFill>
                <a:latin typeface="Segoe UI"/>
                <a:ea typeface="Segoe UI"/>
                <a:cs typeface="Segoe UI"/>
              </a:rPr>
              <a:t>Reports: pyflate/report_pyflate.docx · nbody/report_nbody.docx</a:t>
            </a:r>
          </a:p>
          <a:p>
            <a:pPr marL="256032" indent="-237744">
              <a:lnSpc>
                <a:spcPct val="108000"/>
              </a:lnSpc>
              <a:spcAft>
                <a:spcPts val="1000"/>
              </a:spcAft>
              <a:buClr>
                <a:srgbClr val="0F766E"/>
              </a:buClr>
              <a:buFont typeface="Arial"/>
              <a:buChar char="•"/>
            </a:pPr>
            <a:r>
              <a:rPr sz="1800" b="0" i="0">
                <a:solidFill>
                  <a:srgbClr val="222222"/>
                </a:solidFill>
                <a:latin typeface="Segoe UI"/>
                <a:ea typeface="Segoe UI"/>
                <a:cs typeface="Segoe UI"/>
              </a:rPr>
              <a:t>RTL: pyflate/hardware/hfdu.sv · nbody/hardware/gravity_force_pipeline.sv</a:t>
            </a:r>
          </a:p>
          <a:p>
            <a:pPr marL="256032" indent="-237744">
              <a:lnSpc>
                <a:spcPct val="108000"/>
              </a:lnSpc>
              <a:spcAft>
                <a:spcPts val="1000"/>
              </a:spcAft>
              <a:buClr>
                <a:srgbClr val="0F766E"/>
              </a:buClr>
              <a:buFont typeface="Arial"/>
              <a:buChar char="•"/>
            </a:pPr>
            <a:r>
              <a:rPr sz="1800" b="0" i="0">
                <a:solidFill>
                  <a:srgbClr val="222222"/>
                </a:solidFill>
                <a:latin typeface="Segoe UI"/>
                <a:ea typeface="Segoe UI"/>
                <a:cs typeface="Segoe UI"/>
              </a:rPr>
              <a:t>Benchmarks: </a:t>
            </a:r>
            <a:r>
              <a:rPr sz="1800" b="0" i="0" u="sng">
                <a:solidFill>
                  <a:srgbClr val="0F766E"/>
                </a:solidFill>
                <a:latin typeface="Segoe UI"/>
                <a:ea typeface="Segoe UI"/>
                <a:cs typeface="Segoe UI"/>
                <a:hlinkClick r:id="rId3"/>
              </a:rPr>
              <a:t>pyperformance</a:t>
            </a:r>
            <a:r>
              <a:rPr sz="1800" b="0" i="0">
                <a:solidFill>
                  <a:srgbClr val="222222"/>
                </a:solidFill>
                <a:latin typeface="Segoe UI"/>
                <a:ea typeface="Segoe UI"/>
                <a:cs typeface="Segoe UI"/>
              </a:rPr>
              <a:t> (bm_pyflate, bm_nbody)</a:t>
            </a:r>
          </a:p>
          <a:p>
            <a:pPr marL="256032" indent="-237744">
              <a:lnSpc>
                <a:spcPct val="108000"/>
              </a:lnSpc>
              <a:spcAft>
                <a:spcPts val="1000"/>
              </a:spcAft>
              <a:buClr>
                <a:srgbClr val="0F766E"/>
              </a:buClr>
              <a:buFont typeface="Arial"/>
              <a:buChar char="•"/>
            </a:pPr>
            <a:r>
              <a:rPr sz="1800" b="0" i="0">
                <a:solidFill>
                  <a:srgbClr val="222222"/>
                </a:solidFill>
                <a:latin typeface="Segoe UI"/>
                <a:ea typeface="Segoe UI"/>
                <a:cs typeface="Segoe UI"/>
              </a:rPr>
              <a:t>Flame graphs: </a:t>
            </a:r>
            <a:r>
              <a:rPr sz="1800" b="0" i="0" u="sng">
                <a:solidFill>
                  <a:srgbClr val="0F766E"/>
                </a:solidFill>
                <a:latin typeface="Segoe UI"/>
                <a:ea typeface="Segoe UI"/>
                <a:cs typeface="Segoe UI"/>
                <a:hlinkClick r:id="rId4"/>
              </a:rPr>
              <a:t>Brendan Gregg's FlameGraph</a:t>
            </a:r>
            <a:r>
              <a:rPr sz="1800" b="0" i="0">
                <a:solidFill>
                  <a:srgbClr val="222222"/>
                </a:solidFill>
                <a:latin typeface="Segoe UI"/>
                <a:ea typeface="Segoe UI"/>
                <a:cs typeface="Segoe UI"/>
              </a:rPr>
              <a:t> scripts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